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3"/>
  </p:notesMasterIdLst>
  <p:sldIdLst>
    <p:sldId id="264" r:id="rId5"/>
    <p:sldId id="265" r:id="rId6"/>
    <p:sldId id="284" r:id="rId7"/>
    <p:sldId id="278" r:id="rId8"/>
    <p:sldId id="291" r:id="rId9"/>
    <p:sldId id="289" r:id="rId10"/>
    <p:sldId id="288" r:id="rId11"/>
    <p:sldId id="287" r:id="rId12"/>
    <p:sldId id="295" r:id="rId13"/>
    <p:sldId id="290" r:id="rId14"/>
    <p:sldId id="292" r:id="rId15"/>
    <p:sldId id="285" r:id="rId16"/>
    <p:sldId id="286" r:id="rId17"/>
    <p:sldId id="293" r:id="rId18"/>
    <p:sldId id="294" r:id="rId19"/>
    <p:sldId id="296" r:id="rId20"/>
    <p:sldId id="276" r:id="rId21"/>
    <p:sldId id="275" r:id="rId22"/>
    <p:sldId id="280" r:id="rId23"/>
    <p:sldId id="281" r:id="rId24"/>
    <p:sldId id="282" r:id="rId25"/>
    <p:sldId id="283" r:id="rId26"/>
    <p:sldId id="256" r:id="rId27"/>
    <p:sldId id="257" r:id="rId28"/>
    <p:sldId id="258" r:id="rId29"/>
    <p:sldId id="269" r:id="rId30"/>
    <p:sldId id="263" r:id="rId31"/>
    <p:sldId id="262" r:id="rId32"/>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66CF2"/>
    <a:srgbClr val="4F33C7"/>
    <a:srgbClr val="BEAFFF"/>
    <a:srgbClr val="42308E"/>
    <a:srgbClr val="AFC2FF"/>
    <a:srgbClr val="6C8CF2"/>
    <a:srgbClr val="30468E"/>
    <a:srgbClr val="889BD6"/>
    <a:srgbClr val="3356C7"/>
    <a:srgbClr val="334A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F6E871-3042-43F5-B1B4-6A39FB6FA3D7}" v="177" dt="2024-07-08T09:07:36.972"/>
    <p1510:client id="{29191B74-46D7-A124-A931-72204F231127}" v="177" dt="2024-07-07T17:39:18.441"/>
    <p1510:client id="{41394ECB-DF1F-CCBA-B1B4-270E8FFB208E}" v="1116" dt="2024-07-07T17:05:39.224"/>
    <p1510:client id="{5B4A3533-40E6-CC74-EDDE-63F9F6A5F82C}" v="252" dt="2024-07-08T17:02:24.776"/>
    <p1510:client id="{88C96963-A339-99E5-8D40-5A353F3FBD36}" v="213" dt="2024-07-08T15:59:10.170"/>
    <p1510:client id="{9D7A3F20-F8F6-20EA-9392-1318A57AA826}" v="3" dt="2024-07-07T10:57:11.164"/>
    <p1510:client id="{CC7B9D4D-30BD-E448-A70B-1C2F91307C63}" v="1" dt="2024-07-08T17:29:25.902"/>
    <p1510:client id="{F51C6D2C-8BD7-4170-8AF7-0483B8502C34}" v="17" dt="2024-07-08T09:01:29.273"/>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50"/>
  </p:normalViewPr>
  <p:slideViewPr>
    <p:cSldViewPr snapToGrid="0">
      <p:cViewPr varScale="1">
        <p:scale>
          <a:sx n="120" d="100"/>
          <a:sy n="120" d="100"/>
        </p:scale>
        <p:origin x="2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EF9D38-D2B3-48F5-A4C5-8665C86BE569}" type="doc">
      <dgm:prSet loTypeId="urn:microsoft.com/office/officeart/2016/7/layout/BasicTimeline" loCatId="timeline" qsTypeId="urn:microsoft.com/office/officeart/2005/8/quickstyle/simple4" qsCatId="simple" csTypeId="urn:microsoft.com/office/officeart/2005/8/colors/accent0_2" csCatId="mainScheme" phldr="1"/>
      <dgm:spPr/>
      <dgm:t>
        <a:bodyPr/>
        <a:lstStyle/>
        <a:p>
          <a:endParaRPr lang="de-DE"/>
        </a:p>
      </dgm:t>
    </dgm:pt>
    <dgm:pt modelId="{CC379918-C53B-44AC-B9EC-7BA4A8A17EE1}">
      <dgm:prSet phldrT="[Text]" phldr="0"/>
      <dgm:spPr/>
      <dgm:t>
        <a:bodyPr/>
        <a:lstStyle/>
        <a:p>
          <a:pPr>
            <a:defRPr b="1"/>
          </a:pPr>
          <a:endParaRPr lang="de-DE" b="1"/>
        </a:p>
      </dgm:t>
    </dgm:pt>
    <dgm:pt modelId="{6F543E27-ED9F-4600-9661-072898922674}" type="parTrans" cxnId="{704261AA-F8B7-48B2-B7B3-6ADE4AC1AFEC}">
      <dgm:prSet/>
      <dgm:spPr/>
      <dgm:t>
        <a:bodyPr/>
        <a:lstStyle/>
        <a:p>
          <a:endParaRPr lang="de-DE"/>
        </a:p>
      </dgm:t>
    </dgm:pt>
    <dgm:pt modelId="{705E4789-220C-4412-9001-80667508AD14}" type="sibTrans" cxnId="{704261AA-F8B7-48B2-B7B3-6ADE4AC1AFEC}">
      <dgm:prSet/>
      <dgm:spPr/>
      <dgm:t>
        <a:bodyPr/>
        <a:lstStyle/>
        <a:p>
          <a:endParaRPr lang="de-DE"/>
        </a:p>
      </dgm:t>
    </dgm:pt>
    <dgm:pt modelId="{17BC14E7-988E-4100-9A34-0253217C8D85}">
      <dgm:prSet phldr="0"/>
      <dgm:spPr/>
      <dgm:t>
        <a:bodyPr/>
        <a:lstStyle/>
        <a:p>
          <a:pPr rtl="0">
            <a:defRPr b="1"/>
          </a:pPr>
          <a:r>
            <a:rPr lang="de-DE">
              <a:latin typeface="Eras Medium ITC"/>
            </a:rPr>
            <a:t>Project proposal</a:t>
          </a:r>
        </a:p>
      </dgm:t>
    </dgm:pt>
    <dgm:pt modelId="{48C90A66-D426-4959-BF75-41F2DE70AFB9}" type="parTrans" cxnId="{99D0C1F2-CAE2-47AA-9DE3-BEA90555B122}">
      <dgm:prSet/>
      <dgm:spPr/>
    </dgm:pt>
    <dgm:pt modelId="{CBFBE994-DFB1-4830-A179-6778372CA104}" type="sibTrans" cxnId="{99D0C1F2-CAE2-47AA-9DE3-BEA90555B122}">
      <dgm:prSet/>
      <dgm:spPr/>
    </dgm:pt>
    <dgm:pt modelId="{56CFDA65-C1AB-4B85-A9A8-BD6D9D658081}">
      <dgm:prSet phldr="0"/>
      <dgm:spPr/>
      <dgm:t>
        <a:bodyPr/>
        <a:lstStyle/>
        <a:p>
          <a:pPr rtl="0"/>
          <a:r>
            <a:rPr lang="de-DE">
              <a:latin typeface="Eras Medium ITC"/>
            </a:rPr>
            <a:t>             Dataexploration</a:t>
          </a:r>
        </a:p>
      </dgm:t>
    </dgm:pt>
    <dgm:pt modelId="{9D79EA25-0272-4EA0-A915-EB3857FA7AB4}" type="parTrans" cxnId="{BAC4CD44-0DBB-4FDD-9256-9A4F33A798C1}">
      <dgm:prSet/>
      <dgm:spPr/>
    </dgm:pt>
    <dgm:pt modelId="{56E467AB-8A48-4378-A167-79FDAC818019}" type="sibTrans" cxnId="{BAC4CD44-0DBB-4FDD-9256-9A4F33A798C1}">
      <dgm:prSet/>
      <dgm:spPr/>
    </dgm:pt>
    <dgm:pt modelId="{D668C3A5-87EC-4401-972D-1E46D3D0B247}">
      <dgm:prSet phldr="0"/>
      <dgm:spPr/>
      <dgm:t>
        <a:bodyPr/>
        <a:lstStyle/>
        <a:p>
          <a:pPr rtl="0"/>
          <a:r>
            <a:rPr lang="de-DE" b="0">
              <a:latin typeface="Eras Medium ITC"/>
            </a:rPr>
            <a:t>                      DMA</a:t>
          </a:r>
        </a:p>
      </dgm:t>
    </dgm:pt>
    <dgm:pt modelId="{0E473E51-E88E-424E-8428-F671400A82C0}" type="parTrans" cxnId="{4665ECC3-B8D2-4A0A-B435-9F563FA1D981}">
      <dgm:prSet/>
      <dgm:spPr/>
    </dgm:pt>
    <dgm:pt modelId="{2498379E-BD2B-409B-B5CC-F36EDE643C02}" type="sibTrans" cxnId="{4665ECC3-B8D2-4A0A-B435-9F563FA1D981}">
      <dgm:prSet/>
      <dgm:spPr/>
    </dgm:pt>
    <dgm:pt modelId="{0D0DF249-AE17-4C5E-815D-E81E33A95F73}">
      <dgm:prSet phldr="0"/>
      <dgm:spPr/>
      <dgm:t>
        <a:bodyPr/>
        <a:lstStyle/>
        <a:p>
          <a:pPr>
            <a:defRPr b="1"/>
          </a:pPr>
          <a:endParaRPr lang="de-DE" b="1">
            <a:latin typeface="Aptos Display" panose="02110004020202020204"/>
          </a:endParaRPr>
        </a:p>
      </dgm:t>
    </dgm:pt>
    <dgm:pt modelId="{DE6BEEEC-7AC0-478A-A60A-88138B0803AA}" type="parTrans" cxnId="{FE797997-35D9-4881-B5C9-D1AF65E7B278}">
      <dgm:prSet/>
      <dgm:spPr/>
    </dgm:pt>
    <dgm:pt modelId="{C3EA1312-560E-4038-B6BE-57419732A9A3}" type="sibTrans" cxnId="{FE797997-35D9-4881-B5C9-D1AF65E7B278}">
      <dgm:prSet/>
      <dgm:spPr/>
    </dgm:pt>
    <dgm:pt modelId="{446D4879-8403-4837-B426-B92CB09E022F}">
      <dgm:prSet phldr="0"/>
      <dgm:spPr/>
      <dgm:t>
        <a:bodyPr/>
        <a:lstStyle/>
        <a:p>
          <a:pPr rtl="0"/>
          <a:r>
            <a:rPr lang="de-DE" b="0">
              <a:latin typeface="Eras Medium ITC"/>
            </a:rPr>
            <a:t>                       DMR</a:t>
          </a:r>
        </a:p>
      </dgm:t>
    </dgm:pt>
    <dgm:pt modelId="{385B9721-B1B5-4B0F-80AA-7F0BD80B634C}" type="parTrans" cxnId="{717D9CD6-0741-4BE0-901F-A3F6ED728128}">
      <dgm:prSet/>
      <dgm:spPr/>
    </dgm:pt>
    <dgm:pt modelId="{3121DDD5-BA65-4627-A9BB-2962F35B7880}" type="sibTrans" cxnId="{717D9CD6-0741-4BE0-901F-A3F6ED728128}">
      <dgm:prSet/>
      <dgm:spPr/>
    </dgm:pt>
    <dgm:pt modelId="{28BF4413-BAAB-443A-8719-7E95B458DD3E}">
      <dgm:prSet phldr="0"/>
      <dgm:spPr/>
      <dgm:t>
        <a:bodyPr/>
        <a:lstStyle/>
        <a:p>
          <a:pPr>
            <a:defRPr b="1"/>
          </a:pPr>
          <a:endParaRPr lang="de-DE" b="1">
            <a:latin typeface="Aptos Display" panose="02110004020202020204"/>
          </a:endParaRPr>
        </a:p>
      </dgm:t>
    </dgm:pt>
    <dgm:pt modelId="{4E684FAD-9691-489E-A5A9-E2B980A6A680}" type="parTrans" cxnId="{ACC51544-9C18-49D0-AC83-F6BFFFA0425C}">
      <dgm:prSet/>
      <dgm:spPr/>
    </dgm:pt>
    <dgm:pt modelId="{A3D44E14-7BA9-46A3-BEA0-F1759989B78E}" type="sibTrans" cxnId="{ACC51544-9C18-49D0-AC83-F6BFFFA0425C}">
      <dgm:prSet/>
      <dgm:spPr/>
    </dgm:pt>
    <dgm:pt modelId="{C9DC709E-DF14-43C4-9254-15CFA465E527}">
      <dgm:prSet phldr="0"/>
      <dgm:spPr/>
      <dgm:t>
        <a:bodyPr/>
        <a:lstStyle/>
        <a:p>
          <a:pPr rtl="0"/>
          <a:r>
            <a:rPr lang="de-DE" b="0">
              <a:latin typeface="Eras Medium ITC"/>
            </a:rPr>
            <a:t>           Literatur comparison</a:t>
          </a:r>
        </a:p>
      </dgm:t>
    </dgm:pt>
    <dgm:pt modelId="{471A9F8B-2BA9-4960-A735-D2AA97BBB2E3}" type="parTrans" cxnId="{43EC855D-BA8D-4F3D-B1FD-CCDDFFB7BA92}">
      <dgm:prSet/>
      <dgm:spPr/>
    </dgm:pt>
    <dgm:pt modelId="{2CF2A6DA-796E-44A6-9E3C-CD88C9E99940}" type="sibTrans" cxnId="{43EC855D-BA8D-4F3D-B1FD-CCDDFFB7BA92}">
      <dgm:prSet/>
      <dgm:spPr/>
    </dgm:pt>
    <dgm:pt modelId="{18384CB4-9BD3-490A-A0DD-2E7219FCA100}">
      <dgm:prSet phldr="0"/>
      <dgm:spPr/>
      <dgm:t>
        <a:bodyPr/>
        <a:lstStyle/>
        <a:p>
          <a:pPr>
            <a:defRPr b="1"/>
          </a:pPr>
          <a:endParaRPr lang="de-DE" b="1">
            <a:latin typeface="Aptos Display" panose="02110004020202020204"/>
          </a:endParaRPr>
        </a:p>
      </dgm:t>
    </dgm:pt>
    <dgm:pt modelId="{0BEE6D3B-FE6F-4456-A08D-5608CA94A5DA}" type="parTrans" cxnId="{E9C2E448-CEAE-48B6-9245-ADFB7DD89FD7}">
      <dgm:prSet/>
      <dgm:spPr/>
    </dgm:pt>
    <dgm:pt modelId="{66764578-A91D-4D02-8DE0-7F8E562EEAC2}" type="sibTrans" cxnId="{E9C2E448-CEAE-48B6-9245-ADFB7DD89FD7}">
      <dgm:prSet/>
      <dgm:spPr/>
    </dgm:pt>
    <dgm:pt modelId="{4AC3FC8B-1E44-48DA-A99A-FD93EBEE8910}">
      <dgm:prSet phldr="0"/>
      <dgm:spPr/>
      <dgm:t>
        <a:bodyPr/>
        <a:lstStyle/>
        <a:p>
          <a:pPr rtl="0"/>
          <a:r>
            <a:rPr lang="de-DE" b="0">
              <a:latin typeface="Eras Medium ITC"/>
            </a:rPr>
            <a:t>            </a:t>
          </a:r>
          <a:r>
            <a:rPr lang="de-DE" b="0" err="1">
              <a:latin typeface="Eras Medium ITC"/>
            </a:rPr>
            <a:t>Hallmark</a:t>
          </a:r>
          <a:r>
            <a:rPr lang="de-DE" b="0">
              <a:latin typeface="Eras Medium ITC"/>
            </a:rPr>
            <a:t> </a:t>
          </a:r>
          <a:r>
            <a:rPr lang="de-DE" b="0" err="1">
              <a:latin typeface="Eras Medium ITC"/>
            </a:rPr>
            <a:t>gene</a:t>
          </a:r>
          <a:r>
            <a:rPr lang="de-DE" b="0">
              <a:latin typeface="Eras Medium ITC"/>
            </a:rPr>
            <a:t> </a:t>
          </a:r>
          <a:r>
            <a:rPr lang="de-DE" b="0" err="1">
              <a:latin typeface="Eras Medium ITC"/>
            </a:rPr>
            <a:t>set</a:t>
          </a:r>
          <a:r>
            <a:rPr lang="de-DE" b="0">
              <a:latin typeface="Eras Medium ITC"/>
            </a:rPr>
            <a:t> </a:t>
          </a:r>
          <a:r>
            <a:rPr lang="de-DE" b="0" err="1">
              <a:latin typeface="Eras Medium ITC"/>
            </a:rPr>
            <a:t>enrichment</a:t>
          </a:r>
          <a:r>
            <a:rPr lang="de-DE" b="0">
              <a:latin typeface="Eras Medium ITC"/>
            </a:rPr>
            <a:t> </a:t>
          </a:r>
          <a:r>
            <a:rPr lang="de-DE" b="0" err="1">
              <a:latin typeface="Eras Medium ITC"/>
            </a:rPr>
            <a:t>analysis</a:t>
          </a:r>
          <a:endParaRPr lang="de-DE" b="0">
            <a:latin typeface="Eras Medium ITC"/>
          </a:endParaRPr>
        </a:p>
      </dgm:t>
    </dgm:pt>
    <dgm:pt modelId="{B0F7A2DE-9CEC-42C0-B4F8-837BC9C8962C}" type="parTrans" cxnId="{D85223A0-8FE2-4FD3-8F2D-AC6F34549813}">
      <dgm:prSet/>
      <dgm:spPr/>
    </dgm:pt>
    <dgm:pt modelId="{E1404EB3-C589-46AF-8041-7009E4DC29F9}" type="sibTrans" cxnId="{D85223A0-8FE2-4FD3-8F2D-AC6F34549813}">
      <dgm:prSet/>
      <dgm:spPr/>
    </dgm:pt>
    <dgm:pt modelId="{0F8E9B80-EE4D-4074-886D-A8B1E6600320}" type="pres">
      <dgm:prSet presAssocID="{96EF9D38-D2B3-48F5-A4C5-8665C86BE569}" presName="root" presStyleCnt="0">
        <dgm:presLayoutVars>
          <dgm:chMax/>
          <dgm:chPref/>
          <dgm:animLvl val="lvl"/>
        </dgm:presLayoutVars>
      </dgm:prSet>
      <dgm:spPr/>
    </dgm:pt>
    <dgm:pt modelId="{9C5F28AA-7576-46BE-819D-AD179A64E887}" type="pres">
      <dgm:prSet presAssocID="{96EF9D38-D2B3-48F5-A4C5-8665C86BE569}" presName="divider" presStyleLbl="fgAccFollowNode1" presStyleIdx="0" presStyleCnt="1"/>
      <dgm:spPr>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tailEnd type="triangle" w="lg" len="lg"/>
        </a:ln>
        <a:effectLst/>
      </dgm:spPr>
    </dgm:pt>
    <dgm:pt modelId="{4EE74E0B-8C8D-428B-9A3F-5601C334CB09}" type="pres">
      <dgm:prSet presAssocID="{96EF9D38-D2B3-48F5-A4C5-8665C86BE569}" presName="nodes" presStyleCnt="0">
        <dgm:presLayoutVars>
          <dgm:chMax/>
          <dgm:chPref/>
          <dgm:animLvl val="lvl"/>
        </dgm:presLayoutVars>
      </dgm:prSet>
      <dgm:spPr/>
    </dgm:pt>
    <dgm:pt modelId="{77286353-9FC7-447A-B0CF-A09E7DA15C2C}" type="pres">
      <dgm:prSet presAssocID="{17BC14E7-988E-4100-9A34-0253217C8D85}" presName="composite" presStyleCnt="0"/>
      <dgm:spPr/>
    </dgm:pt>
    <dgm:pt modelId="{7B3CEE0E-59AA-4E44-A3D0-5745E9AF44C4}" type="pres">
      <dgm:prSet presAssocID="{17BC14E7-988E-4100-9A34-0253217C8D85}" presName="L1TextContainer" presStyleLbl="revTx" presStyleIdx="0" presStyleCnt="5">
        <dgm:presLayoutVars>
          <dgm:chMax val="1"/>
          <dgm:chPref val="1"/>
          <dgm:bulletEnabled val="1"/>
        </dgm:presLayoutVars>
      </dgm:prSet>
      <dgm:spPr/>
    </dgm:pt>
    <dgm:pt modelId="{9104E5CE-F0C9-4B2E-9876-C5F906E3C600}" type="pres">
      <dgm:prSet presAssocID="{17BC14E7-988E-4100-9A34-0253217C8D85}" presName="L2TextContainerWrapper" presStyleCnt="0">
        <dgm:presLayoutVars>
          <dgm:chMax val="0"/>
          <dgm:chPref val="0"/>
          <dgm:bulletEnabled val="1"/>
        </dgm:presLayoutVars>
      </dgm:prSet>
      <dgm:spPr/>
    </dgm:pt>
    <dgm:pt modelId="{C845C565-B562-4906-90C7-71C1A499A41A}" type="pres">
      <dgm:prSet presAssocID="{17BC14E7-988E-4100-9A34-0253217C8D85}" presName="L2TextContainer" presStyleLbl="bgAcc1" presStyleIdx="0" presStyleCnt="5"/>
      <dgm:spPr/>
    </dgm:pt>
    <dgm:pt modelId="{8635EB30-F5DC-4BBA-A11E-659BE3945F64}" type="pres">
      <dgm:prSet presAssocID="{17BC14E7-988E-4100-9A34-0253217C8D85}" presName="FlexibleEmptyPlaceHolder" presStyleCnt="0"/>
      <dgm:spPr/>
    </dgm:pt>
    <dgm:pt modelId="{B9B12C78-CB32-4B83-9CF6-8B64F5B3EF51}" type="pres">
      <dgm:prSet presAssocID="{17BC14E7-988E-4100-9A34-0253217C8D85}" presName="ConnectLine" presStyleLbl="sibTrans1D1" presStyleIdx="0" presStyleCnt="5"/>
      <dgm:spPr>
        <a:noFill/>
        <a:ln w="12700" cap="flat" cmpd="sng" algn="ctr">
          <a:solidFill>
            <a:schemeClr val="dk2">
              <a:hueOff val="0"/>
              <a:satOff val="0"/>
              <a:lumOff val="0"/>
              <a:alphaOff val="0"/>
            </a:schemeClr>
          </a:solidFill>
          <a:prstDash val="dash"/>
          <a:miter lim="800000"/>
        </a:ln>
        <a:effectLst/>
      </dgm:spPr>
    </dgm:pt>
    <dgm:pt modelId="{AD4634BE-CD4A-476A-B07B-E67F72E46D9A}" type="pres">
      <dgm:prSet presAssocID="{17BC14E7-988E-4100-9A34-0253217C8D85}" presName="ConnectorPoint" presStyleLbl="alignNode1" presStyleIdx="0" presStyleCnt="5"/>
      <dgm:spPr/>
    </dgm:pt>
    <dgm:pt modelId="{080252CB-1B81-4721-A746-1CB493095DB7}" type="pres">
      <dgm:prSet presAssocID="{17BC14E7-988E-4100-9A34-0253217C8D85}" presName="EmptyPlaceHolder" presStyleCnt="0"/>
      <dgm:spPr/>
    </dgm:pt>
    <dgm:pt modelId="{35EEDE11-A204-40A4-94E8-D0F3F0BFB882}" type="pres">
      <dgm:prSet presAssocID="{CBFBE994-DFB1-4830-A179-6778372CA104}" presName="spaceBetweenRectangles" presStyleCnt="0"/>
      <dgm:spPr/>
    </dgm:pt>
    <dgm:pt modelId="{2AB3F896-8B9E-4993-B400-75038331D06A}" type="pres">
      <dgm:prSet presAssocID="{CC379918-C53B-44AC-B9EC-7BA4A8A17EE1}" presName="composite" presStyleCnt="0"/>
      <dgm:spPr/>
    </dgm:pt>
    <dgm:pt modelId="{FF104973-23D1-4AF7-B3F3-F1603336EE38}" type="pres">
      <dgm:prSet presAssocID="{CC379918-C53B-44AC-B9EC-7BA4A8A17EE1}" presName="L1TextContainer" presStyleLbl="revTx" presStyleIdx="1" presStyleCnt="5">
        <dgm:presLayoutVars>
          <dgm:chMax val="1"/>
          <dgm:chPref val="1"/>
          <dgm:bulletEnabled val="1"/>
        </dgm:presLayoutVars>
      </dgm:prSet>
      <dgm:spPr/>
    </dgm:pt>
    <dgm:pt modelId="{AE5A4CD5-F2C8-442D-85B5-F0B98F6485A3}" type="pres">
      <dgm:prSet presAssocID="{CC379918-C53B-44AC-B9EC-7BA4A8A17EE1}" presName="L2TextContainerWrapper" presStyleCnt="0">
        <dgm:presLayoutVars>
          <dgm:chMax val="0"/>
          <dgm:chPref val="0"/>
          <dgm:bulletEnabled val="1"/>
        </dgm:presLayoutVars>
      </dgm:prSet>
      <dgm:spPr/>
    </dgm:pt>
    <dgm:pt modelId="{A131C4D8-D35E-4240-9DEE-5B51644242B8}" type="pres">
      <dgm:prSet presAssocID="{CC379918-C53B-44AC-B9EC-7BA4A8A17EE1}" presName="L2TextContainer" presStyleLbl="bgAcc1" presStyleIdx="1" presStyleCnt="5"/>
      <dgm:spPr/>
    </dgm:pt>
    <dgm:pt modelId="{1137A2EF-F5D6-4767-A2D9-E3774D3DB687}" type="pres">
      <dgm:prSet presAssocID="{CC379918-C53B-44AC-B9EC-7BA4A8A17EE1}" presName="FlexibleEmptyPlaceHolder" presStyleCnt="0"/>
      <dgm:spPr/>
    </dgm:pt>
    <dgm:pt modelId="{420BE1B8-1938-4D91-9819-A1F06B961DA8}" type="pres">
      <dgm:prSet presAssocID="{CC379918-C53B-44AC-B9EC-7BA4A8A17EE1}" presName="ConnectLine" presStyleLbl="sibTrans1D1" presStyleIdx="1" presStyleCnt="5"/>
      <dgm:spPr>
        <a:noFill/>
        <a:ln w="12700" cap="flat" cmpd="sng" algn="ctr">
          <a:solidFill>
            <a:schemeClr val="dk2">
              <a:hueOff val="0"/>
              <a:satOff val="0"/>
              <a:lumOff val="0"/>
              <a:alphaOff val="0"/>
            </a:schemeClr>
          </a:solidFill>
          <a:prstDash val="dash"/>
          <a:miter lim="800000"/>
        </a:ln>
        <a:effectLst/>
      </dgm:spPr>
    </dgm:pt>
    <dgm:pt modelId="{80F4E1E9-82AE-4D99-B5EB-D21CE503F6ED}" type="pres">
      <dgm:prSet presAssocID="{CC379918-C53B-44AC-B9EC-7BA4A8A17EE1}" presName="ConnectorPoint" presStyleLbl="alignNode1" presStyleIdx="1" presStyleCnt="5"/>
      <dgm:spPr/>
    </dgm:pt>
    <dgm:pt modelId="{C2A525FC-3BEB-4E61-BDF8-BA708F637634}" type="pres">
      <dgm:prSet presAssocID="{CC379918-C53B-44AC-B9EC-7BA4A8A17EE1}" presName="EmptyPlaceHolder" presStyleCnt="0"/>
      <dgm:spPr/>
    </dgm:pt>
    <dgm:pt modelId="{D2F174E7-0820-4976-BA09-DEADE2C49923}" type="pres">
      <dgm:prSet presAssocID="{705E4789-220C-4412-9001-80667508AD14}" presName="spaceBetweenRectangles" presStyleCnt="0"/>
      <dgm:spPr/>
    </dgm:pt>
    <dgm:pt modelId="{0AFE54CF-AE5A-4377-8EDA-7875907B3B46}" type="pres">
      <dgm:prSet presAssocID="{0D0DF249-AE17-4C5E-815D-E81E33A95F73}" presName="composite" presStyleCnt="0"/>
      <dgm:spPr/>
    </dgm:pt>
    <dgm:pt modelId="{66FB90CA-7682-4809-A2C2-B65080FFD993}" type="pres">
      <dgm:prSet presAssocID="{0D0DF249-AE17-4C5E-815D-E81E33A95F73}" presName="L1TextContainer" presStyleLbl="revTx" presStyleIdx="2" presStyleCnt="5">
        <dgm:presLayoutVars>
          <dgm:chMax val="1"/>
          <dgm:chPref val="1"/>
          <dgm:bulletEnabled val="1"/>
        </dgm:presLayoutVars>
      </dgm:prSet>
      <dgm:spPr/>
    </dgm:pt>
    <dgm:pt modelId="{D866A378-2E90-470E-B8C8-1E8F3BA805FE}" type="pres">
      <dgm:prSet presAssocID="{0D0DF249-AE17-4C5E-815D-E81E33A95F73}" presName="L2TextContainerWrapper" presStyleCnt="0">
        <dgm:presLayoutVars>
          <dgm:chMax val="0"/>
          <dgm:chPref val="0"/>
          <dgm:bulletEnabled val="1"/>
        </dgm:presLayoutVars>
      </dgm:prSet>
      <dgm:spPr/>
    </dgm:pt>
    <dgm:pt modelId="{01EE9370-19F4-4B2F-8216-3EBC95CDCBC7}" type="pres">
      <dgm:prSet presAssocID="{0D0DF249-AE17-4C5E-815D-E81E33A95F73}" presName="L2TextContainer" presStyleLbl="bgAcc1" presStyleIdx="2" presStyleCnt="5"/>
      <dgm:spPr/>
    </dgm:pt>
    <dgm:pt modelId="{3AFF4AA1-FAF9-4BD0-A0D4-04340998CD6F}" type="pres">
      <dgm:prSet presAssocID="{0D0DF249-AE17-4C5E-815D-E81E33A95F73}" presName="FlexibleEmptyPlaceHolder" presStyleCnt="0"/>
      <dgm:spPr/>
    </dgm:pt>
    <dgm:pt modelId="{29E58E00-740A-4998-89C0-041CB7F5E326}" type="pres">
      <dgm:prSet presAssocID="{0D0DF249-AE17-4C5E-815D-E81E33A95F73}" presName="ConnectLine" presStyleLbl="sibTrans1D1" presStyleIdx="2" presStyleCnt="5"/>
      <dgm:spPr>
        <a:noFill/>
        <a:ln w="12700" cap="flat" cmpd="sng" algn="ctr">
          <a:solidFill>
            <a:schemeClr val="dk2">
              <a:hueOff val="0"/>
              <a:satOff val="0"/>
              <a:lumOff val="0"/>
              <a:alphaOff val="0"/>
            </a:schemeClr>
          </a:solidFill>
          <a:prstDash val="dash"/>
          <a:miter lim="800000"/>
        </a:ln>
        <a:effectLst/>
      </dgm:spPr>
    </dgm:pt>
    <dgm:pt modelId="{5BFF8362-7FBC-418B-B5C4-1AC2B490B989}" type="pres">
      <dgm:prSet presAssocID="{0D0DF249-AE17-4C5E-815D-E81E33A95F73}" presName="ConnectorPoint" presStyleLbl="alignNode1" presStyleIdx="2" presStyleCnt="5"/>
      <dgm:spPr/>
    </dgm:pt>
    <dgm:pt modelId="{FB83E04B-5F2B-4D58-BB51-6AD34AAB55D2}" type="pres">
      <dgm:prSet presAssocID="{0D0DF249-AE17-4C5E-815D-E81E33A95F73}" presName="EmptyPlaceHolder" presStyleCnt="0"/>
      <dgm:spPr/>
    </dgm:pt>
    <dgm:pt modelId="{1C05596C-CEAE-461F-99F2-424751FD60A8}" type="pres">
      <dgm:prSet presAssocID="{C3EA1312-560E-4038-B6BE-57419732A9A3}" presName="spaceBetweenRectangles" presStyleCnt="0"/>
      <dgm:spPr/>
    </dgm:pt>
    <dgm:pt modelId="{F6E05996-BB57-47D7-9686-4255BD5D8419}" type="pres">
      <dgm:prSet presAssocID="{28BF4413-BAAB-443A-8719-7E95B458DD3E}" presName="composite" presStyleCnt="0"/>
      <dgm:spPr/>
    </dgm:pt>
    <dgm:pt modelId="{05D59CD7-E1F9-4694-9886-989BC0B58C55}" type="pres">
      <dgm:prSet presAssocID="{28BF4413-BAAB-443A-8719-7E95B458DD3E}" presName="L1TextContainer" presStyleLbl="revTx" presStyleIdx="3" presStyleCnt="5">
        <dgm:presLayoutVars>
          <dgm:chMax val="1"/>
          <dgm:chPref val="1"/>
          <dgm:bulletEnabled val="1"/>
        </dgm:presLayoutVars>
      </dgm:prSet>
      <dgm:spPr/>
    </dgm:pt>
    <dgm:pt modelId="{E0A5F35F-9AEB-4B21-849C-920A48C47A6B}" type="pres">
      <dgm:prSet presAssocID="{28BF4413-BAAB-443A-8719-7E95B458DD3E}" presName="L2TextContainerWrapper" presStyleCnt="0">
        <dgm:presLayoutVars>
          <dgm:chMax val="0"/>
          <dgm:chPref val="0"/>
          <dgm:bulletEnabled val="1"/>
        </dgm:presLayoutVars>
      </dgm:prSet>
      <dgm:spPr/>
    </dgm:pt>
    <dgm:pt modelId="{B44F1534-602D-48F0-872F-813ABFF790D2}" type="pres">
      <dgm:prSet presAssocID="{28BF4413-BAAB-443A-8719-7E95B458DD3E}" presName="L2TextContainer" presStyleLbl="bgAcc1" presStyleIdx="3" presStyleCnt="5"/>
      <dgm:spPr/>
    </dgm:pt>
    <dgm:pt modelId="{F40C1B47-BA56-441C-8778-28BAB1F8416A}" type="pres">
      <dgm:prSet presAssocID="{28BF4413-BAAB-443A-8719-7E95B458DD3E}" presName="FlexibleEmptyPlaceHolder" presStyleCnt="0"/>
      <dgm:spPr/>
    </dgm:pt>
    <dgm:pt modelId="{8C8576AA-D20F-483E-AE6B-EE3059016C03}" type="pres">
      <dgm:prSet presAssocID="{28BF4413-BAAB-443A-8719-7E95B458DD3E}" presName="ConnectLine" presStyleLbl="sibTrans1D1" presStyleIdx="3" presStyleCnt="5"/>
      <dgm:spPr>
        <a:noFill/>
        <a:ln w="12700" cap="flat" cmpd="sng" algn="ctr">
          <a:solidFill>
            <a:schemeClr val="dk2">
              <a:hueOff val="0"/>
              <a:satOff val="0"/>
              <a:lumOff val="0"/>
              <a:alphaOff val="0"/>
            </a:schemeClr>
          </a:solidFill>
          <a:prstDash val="dash"/>
          <a:miter lim="800000"/>
        </a:ln>
        <a:effectLst/>
      </dgm:spPr>
    </dgm:pt>
    <dgm:pt modelId="{0672BE05-F299-4C94-9CB3-058B8D71340F}" type="pres">
      <dgm:prSet presAssocID="{28BF4413-BAAB-443A-8719-7E95B458DD3E}" presName="ConnectorPoint" presStyleLbl="alignNode1" presStyleIdx="3" presStyleCnt="5"/>
      <dgm:spPr/>
    </dgm:pt>
    <dgm:pt modelId="{AEA78B3B-7A77-4EC6-BC8A-DCC6205B965E}" type="pres">
      <dgm:prSet presAssocID="{28BF4413-BAAB-443A-8719-7E95B458DD3E}" presName="EmptyPlaceHolder" presStyleCnt="0"/>
      <dgm:spPr/>
    </dgm:pt>
    <dgm:pt modelId="{1E716D49-D1A8-4926-9A91-354BA6AD20F8}" type="pres">
      <dgm:prSet presAssocID="{A3D44E14-7BA9-46A3-BEA0-F1759989B78E}" presName="spaceBetweenRectangles" presStyleCnt="0"/>
      <dgm:spPr/>
    </dgm:pt>
    <dgm:pt modelId="{5DDF748E-F9BD-49F6-B81A-DE408DFF4588}" type="pres">
      <dgm:prSet presAssocID="{18384CB4-9BD3-490A-A0DD-2E7219FCA100}" presName="composite" presStyleCnt="0"/>
      <dgm:spPr/>
    </dgm:pt>
    <dgm:pt modelId="{7247EDE5-05CD-456B-9041-1F5FE9C4EBE7}" type="pres">
      <dgm:prSet presAssocID="{18384CB4-9BD3-490A-A0DD-2E7219FCA100}" presName="L1TextContainer" presStyleLbl="revTx" presStyleIdx="4" presStyleCnt="5">
        <dgm:presLayoutVars>
          <dgm:chMax val="1"/>
          <dgm:chPref val="1"/>
          <dgm:bulletEnabled val="1"/>
        </dgm:presLayoutVars>
      </dgm:prSet>
      <dgm:spPr/>
    </dgm:pt>
    <dgm:pt modelId="{09CF0431-0E98-4BA7-BC7D-4A3E3058DC97}" type="pres">
      <dgm:prSet presAssocID="{18384CB4-9BD3-490A-A0DD-2E7219FCA100}" presName="L2TextContainerWrapper" presStyleCnt="0">
        <dgm:presLayoutVars>
          <dgm:chMax val="0"/>
          <dgm:chPref val="0"/>
          <dgm:bulletEnabled val="1"/>
        </dgm:presLayoutVars>
      </dgm:prSet>
      <dgm:spPr/>
    </dgm:pt>
    <dgm:pt modelId="{5B786603-74A6-47FB-819E-27807C8E7F9B}" type="pres">
      <dgm:prSet presAssocID="{18384CB4-9BD3-490A-A0DD-2E7219FCA100}" presName="L2TextContainer" presStyleLbl="bgAcc1" presStyleIdx="4" presStyleCnt="5"/>
      <dgm:spPr/>
    </dgm:pt>
    <dgm:pt modelId="{0FAFAEA1-621B-4D2F-AABC-0BEEADDA8A23}" type="pres">
      <dgm:prSet presAssocID="{18384CB4-9BD3-490A-A0DD-2E7219FCA100}" presName="FlexibleEmptyPlaceHolder" presStyleCnt="0"/>
      <dgm:spPr/>
    </dgm:pt>
    <dgm:pt modelId="{CBD338E0-16E3-4058-B612-A1FAF2CBA617}" type="pres">
      <dgm:prSet presAssocID="{18384CB4-9BD3-490A-A0DD-2E7219FCA100}" presName="ConnectLine" presStyleLbl="sibTrans1D1" presStyleIdx="4" presStyleCnt="5"/>
      <dgm:spPr>
        <a:noFill/>
        <a:ln w="12700" cap="flat" cmpd="sng" algn="ctr">
          <a:solidFill>
            <a:schemeClr val="dk2">
              <a:hueOff val="0"/>
              <a:satOff val="0"/>
              <a:lumOff val="0"/>
              <a:alphaOff val="0"/>
            </a:schemeClr>
          </a:solidFill>
          <a:prstDash val="dash"/>
          <a:miter lim="800000"/>
        </a:ln>
        <a:effectLst/>
      </dgm:spPr>
    </dgm:pt>
    <dgm:pt modelId="{FB385052-45F0-4089-85C8-4426A9A07893}" type="pres">
      <dgm:prSet presAssocID="{18384CB4-9BD3-490A-A0DD-2E7219FCA100}" presName="ConnectorPoint" presStyleLbl="alignNode1" presStyleIdx="4" presStyleCnt="5"/>
      <dgm:spPr/>
    </dgm:pt>
    <dgm:pt modelId="{5669C007-6947-45F3-BF0F-16BCA4D85CB6}" type="pres">
      <dgm:prSet presAssocID="{18384CB4-9BD3-490A-A0DD-2E7219FCA100}" presName="EmptyPlaceHolder" presStyleCnt="0"/>
      <dgm:spPr/>
    </dgm:pt>
  </dgm:ptLst>
  <dgm:cxnLst>
    <dgm:cxn modelId="{125B8B21-C7C7-49F8-9899-1056A0F45A63}" type="presOf" srcId="{C9DC709E-DF14-43C4-9254-15CFA465E527}" destId="{B44F1534-602D-48F0-872F-813ABFF790D2}" srcOrd="0" destOrd="0" presId="urn:microsoft.com/office/officeart/2016/7/layout/BasicTimeline"/>
    <dgm:cxn modelId="{2FEC4732-873C-4D57-BF0F-F847841B56E8}" type="presOf" srcId="{4AC3FC8B-1E44-48DA-A99A-FD93EBEE8910}" destId="{5B786603-74A6-47FB-819E-27807C8E7F9B}" srcOrd="0" destOrd="0" presId="urn:microsoft.com/office/officeart/2016/7/layout/BasicTimeline"/>
    <dgm:cxn modelId="{5E03313C-B613-4D13-B78B-8679388240C7}" type="presOf" srcId="{56CFDA65-C1AB-4B85-A9A8-BD6D9D658081}" destId="{C845C565-B562-4906-90C7-71C1A499A41A}" srcOrd="0" destOrd="0" presId="urn:microsoft.com/office/officeart/2016/7/layout/BasicTimeline"/>
    <dgm:cxn modelId="{ACC51544-9C18-49D0-AC83-F6BFFFA0425C}" srcId="{96EF9D38-D2B3-48F5-A4C5-8665C86BE569}" destId="{28BF4413-BAAB-443A-8719-7E95B458DD3E}" srcOrd="3" destOrd="0" parTransId="{4E684FAD-9691-489E-A5A9-E2B980A6A680}" sibTransId="{A3D44E14-7BA9-46A3-BEA0-F1759989B78E}"/>
    <dgm:cxn modelId="{BAC4CD44-0DBB-4FDD-9256-9A4F33A798C1}" srcId="{17BC14E7-988E-4100-9A34-0253217C8D85}" destId="{56CFDA65-C1AB-4B85-A9A8-BD6D9D658081}" srcOrd="0" destOrd="0" parTransId="{9D79EA25-0272-4EA0-A915-EB3857FA7AB4}" sibTransId="{56E467AB-8A48-4378-A167-79FDAC818019}"/>
    <dgm:cxn modelId="{E9C2E448-CEAE-48B6-9245-ADFB7DD89FD7}" srcId="{96EF9D38-D2B3-48F5-A4C5-8665C86BE569}" destId="{18384CB4-9BD3-490A-A0DD-2E7219FCA100}" srcOrd="4" destOrd="0" parTransId="{0BEE6D3B-FE6F-4456-A08D-5608CA94A5DA}" sibTransId="{66764578-A91D-4D02-8DE0-7F8E562EEAC2}"/>
    <dgm:cxn modelId="{3509C14D-1961-4C7B-B39A-1AF093A5C318}" type="presOf" srcId="{17BC14E7-988E-4100-9A34-0253217C8D85}" destId="{7B3CEE0E-59AA-4E44-A3D0-5745E9AF44C4}" srcOrd="0" destOrd="0" presId="urn:microsoft.com/office/officeart/2016/7/layout/BasicTimeline"/>
    <dgm:cxn modelId="{43EC855D-BA8D-4F3D-B1FD-CCDDFFB7BA92}" srcId="{28BF4413-BAAB-443A-8719-7E95B458DD3E}" destId="{C9DC709E-DF14-43C4-9254-15CFA465E527}" srcOrd="0" destOrd="0" parTransId="{471A9F8B-2BA9-4960-A735-D2AA97BBB2E3}" sibTransId="{2CF2A6DA-796E-44A6-9E3C-CD88C9E99940}"/>
    <dgm:cxn modelId="{21270A63-351F-4500-A01A-A9DA4FE1D677}" type="presOf" srcId="{CC379918-C53B-44AC-B9EC-7BA4A8A17EE1}" destId="{FF104973-23D1-4AF7-B3F3-F1603336EE38}" srcOrd="0" destOrd="0" presId="urn:microsoft.com/office/officeart/2016/7/layout/BasicTimeline"/>
    <dgm:cxn modelId="{F58D0277-4F34-48D1-98D1-0336CDA56347}" type="presOf" srcId="{96EF9D38-D2B3-48F5-A4C5-8665C86BE569}" destId="{0F8E9B80-EE4D-4074-886D-A8B1E6600320}" srcOrd="0" destOrd="0" presId="urn:microsoft.com/office/officeart/2016/7/layout/BasicTimeline"/>
    <dgm:cxn modelId="{FE797997-35D9-4881-B5C9-D1AF65E7B278}" srcId="{96EF9D38-D2B3-48F5-A4C5-8665C86BE569}" destId="{0D0DF249-AE17-4C5E-815D-E81E33A95F73}" srcOrd="2" destOrd="0" parTransId="{DE6BEEEC-7AC0-478A-A60A-88138B0803AA}" sibTransId="{C3EA1312-560E-4038-B6BE-57419732A9A3}"/>
    <dgm:cxn modelId="{D85223A0-8FE2-4FD3-8F2D-AC6F34549813}" srcId="{18384CB4-9BD3-490A-A0DD-2E7219FCA100}" destId="{4AC3FC8B-1E44-48DA-A99A-FD93EBEE8910}" srcOrd="0" destOrd="0" parTransId="{B0F7A2DE-9CEC-42C0-B4F8-837BC9C8962C}" sibTransId="{E1404EB3-C589-46AF-8041-7009E4DC29F9}"/>
    <dgm:cxn modelId="{7B8B71A6-793C-480B-98FE-AED64F680BA0}" type="presOf" srcId="{28BF4413-BAAB-443A-8719-7E95B458DD3E}" destId="{05D59CD7-E1F9-4694-9886-989BC0B58C55}" srcOrd="0" destOrd="0" presId="urn:microsoft.com/office/officeart/2016/7/layout/BasicTimeline"/>
    <dgm:cxn modelId="{666C4AAA-F5DF-4280-8EAC-2FB33739F70B}" type="presOf" srcId="{446D4879-8403-4837-B426-B92CB09E022F}" destId="{01EE9370-19F4-4B2F-8216-3EBC95CDCBC7}" srcOrd="0" destOrd="0" presId="urn:microsoft.com/office/officeart/2016/7/layout/BasicTimeline"/>
    <dgm:cxn modelId="{704261AA-F8B7-48B2-B7B3-6ADE4AC1AFEC}" srcId="{96EF9D38-D2B3-48F5-A4C5-8665C86BE569}" destId="{CC379918-C53B-44AC-B9EC-7BA4A8A17EE1}" srcOrd="1" destOrd="0" parTransId="{6F543E27-ED9F-4600-9661-072898922674}" sibTransId="{705E4789-220C-4412-9001-80667508AD14}"/>
    <dgm:cxn modelId="{4665ECC3-B8D2-4A0A-B435-9F563FA1D981}" srcId="{CC379918-C53B-44AC-B9EC-7BA4A8A17EE1}" destId="{D668C3A5-87EC-4401-972D-1E46D3D0B247}" srcOrd="0" destOrd="0" parTransId="{0E473E51-E88E-424E-8428-F671400A82C0}" sibTransId="{2498379E-BD2B-409B-B5CC-F36EDE643C02}"/>
    <dgm:cxn modelId="{02DF28CB-A238-4BB8-8A3F-A13FB9861397}" type="presOf" srcId="{D668C3A5-87EC-4401-972D-1E46D3D0B247}" destId="{A131C4D8-D35E-4240-9DEE-5B51644242B8}" srcOrd="0" destOrd="0" presId="urn:microsoft.com/office/officeart/2016/7/layout/BasicTimeline"/>
    <dgm:cxn modelId="{717D9CD6-0741-4BE0-901F-A3F6ED728128}" srcId="{0D0DF249-AE17-4C5E-815D-E81E33A95F73}" destId="{446D4879-8403-4837-B426-B92CB09E022F}" srcOrd="0" destOrd="0" parTransId="{385B9721-B1B5-4B0F-80AA-7F0BD80B634C}" sibTransId="{3121DDD5-BA65-4627-A9BB-2962F35B7880}"/>
    <dgm:cxn modelId="{B3469DDB-E55C-4E6D-A801-38E4B70E33D9}" type="presOf" srcId="{0D0DF249-AE17-4C5E-815D-E81E33A95F73}" destId="{66FB90CA-7682-4809-A2C2-B65080FFD993}" srcOrd="0" destOrd="0" presId="urn:microsoft.com/office/officeart/2016/7/layout/BasicTimeline"/>
    <dgm:cxn modelId="{99D0C1F2-CAE2-47AA-9DE3-BEA90555B122}" srcId="{96EF9D38-D2B3-48F5-A4C5-8665C86BE569}" destId="{17BC14E7-988E-4100-9A34-0253217C8D85}" srcOrd="0" destOrd="0" parTransId="{48C90A66-D426-4959-BF75-41F2DE70AFB9}" sibTransId="{CBFBE994-DFB1-4830-A179-6778372CA104}"/>
    <dgm:cxn modelId="{E40A0AFF-F550-4DE9-95A5-9DB82A8F20A8}" type="presOf" srcId="{18384CB4-9BD3-490A-A0DD-2E7219FCA100}" destId="{7247EDE5-05CD-456B-9041-1F5FE9C4EBE7}" srcOrd="0" destOrd="0" presId="urn:microsoft.com/office/officeart/2016/7/layout/BasicTimeline"/>
    <dgm:cxn modelId="{F8A19B15-B287-402A-AFB8-BEA0E9F7A2A0}" type="presParOf" srcId="{0F8E9B80-EE4D-4074-886D-A8B1E6600320}" destId="{9C5F28AA-7576-46BE-819D-AD179A64E887}" srcOrd="0" destOrd="0" presId="urn:microsoft.com/office/officeart/2016/7/layout/BasicTimeline"/>
    <dgm:cxn modelId="{58B5B6C8-9AEB-412A-BB51-93C9749E8047}" type="presParOf" srcId="{0F8E9B80-EE4D-4074-886D-A8B1E6600320}" destId="{4EE74E0B-8C8D-428B-9A3F-5601C334CB09}" srcOrd="1" destOrd="0" presId="urn:microsoft.com/office/officeart/2016/7/layout/BasicTimeline"/>
    <dgm:cxn modelId="{4A8FA177-74F1-443F-BDC5-53728585B59A}" type="presParOf" srcId="{4EE74E0B-8C8D-428B-9A3F-5601C334CB09}" destId="{77286353-9FC7-447A-B0CF-A09E7DA15C2C}" srcOrd="0" destOrd="0" presId="urn:microsoft.com/office/officeart/2016/7/layout/BasicTimeline"/>
    <dgm:cxn modelId="{13459701-5A65-4930-94D9-03ACF3F699A4}" type="presParOf" srcId="{77286353-9FC7-447A-B0CF-A09E7DA15C2C}" destId="{7B3CEE0E-59AA-4E44-A3D0-5745E9AF44C4}" srcOrd="0" destOrd="0" presId="urn:microsoft.com/office/officeart/2016/7/layout/BasicTimeline"/>
    <dgm:cxn modelId="{F14344EE-6033-4EE3-B16E-8821AEFADBDE}" type="presParOf" srcId="{77286353-9FC7-447A-B0CF-A09E7DA15C2C}" destId="{9104E5CE-F0C9-4B2E-9876-C5F906E3C600}" srcOrd="1" destOrd="0" presId="urn:microsoft.com/office/officeart/2016/7/layout/BasicTimeline"/>
    <dgm:cxn modelId="{7DCFF428-BF89-4105-A8B1-6061805819E7}" type="presParOf" srcId="{9104E5CE-F0C9-4B2E-9876-C5F906E3C600}" destId="{C845C565-B562-4906-90C7-71C1A499A41A}" srcOrd="0" destOrd="0" presId="urn:microsoft.com/office/officeart/2016/7/layout/BasicTimeline"/>
    <dgm:cxn modelId="{AA8CCE3F-4F98-4EB1-BBA3-7F8B6E507BB5}" type="presParOf" srcId="{9104E5CE-F0C9-4B2E-9876-C5F906E3C600}" destId="{8635EB30-F5DC-4BBA-A11E-659BE3945F64}" srcOrd="1" destOrd="0" presId="urn:microsoft.com/office/officeart/2016/7/layout/BasicTimeline"/>
    <dgm:cxn modelId="{C2D368D8-85D1-445C-9D83-E435EFDB2EA2}" type="presParOf" srcId="{77286353-9FC7-447A-B0CF-A09E7DA15C2C}" destId="{B9B12C78-CB32-4B83-9CF6-8B64F5B3EF51}" srcOrd="2" destOrd="0" presId="urn:microsoft.com/office/officeart/2016/7/layout/BasicTimeline"/>
    <dgm:cxn modelId="{6D4A399C-E0A0-4BD2-80FB-02751EB7E8D8}" type="presParOf" srcId="{77286353-9FC7-447A-B0CF-A09E7DA15C2C}" destId="{AD4634BE-CD4A-476A-B07B-E67F72E46D9A}" srcOrd="3" destOrd="0" presId="urn:microsoft.com/office/officeart/2016/7/layout/BasicTimeline"/>
    <dgm:cxn modelId="{46F1AB8A-C778-4211-B86B-7F4006138BC0}" type="presParOf" srcId="{77286353-9FC7-447A-B0CF-A09E7DA15C2C}" destId="{080252CB-1B81-4721-A746-1CB493095DB7}" srcOrd="4" destOrd="0" presId="urn:microsoft.com/office/officeart/2016/7/layout/BasicTimeline"/>
    <dgm:cxn modelId="{30A72A58-592B-42E8-B75D-4F4C43092814}" type="presParOf" srcId="{4EE74E0B-8C8D-428B-9A3F-5601C334CB09}" destId="{35EEDE11-A204-40A4-94E8-D0F3F0BFB882}" srcOrd="1" destOrd="0" presId="urn:microsoft.com/office/officeart/2016/7/layout/BasicTimeline"/>
    <dgm:cxn modelId="{FDD5F5DA-047C-4FA6-9D48-A94270FE3607}" type="presParOf" srcId="{4EE74E0B-8C8D-428B-9A3F-5601C334CB09}" destId="{2AB3F896-8B9E-4993-B400-75038331D06A}" srcOrd="2" destOrd="0" presId="urn:microsoft.com/office/officeart/2016/7/layout/BasicTimeline"/>
    <dgm:cxn modelId="{0A3921AA-A2F3-4BD5-84D8-66CCCADF8D9A}" type="presParOf" srcId="{2AB3F896-8B9E-4993-B400-75038331D06A}" destId="{FF104973-23D1-4AF7-B3F3-F1603336EE38}" srcOrd="0" destOrd="0" presId="urn:microsoft.com/office/officeart/2016/7/layout/BasicTimeline"/>
    <dgm:cxn modelId="{358962EB-0A3A-4A81-8001-C53255516FA9}" type="presParOf" srcId="{2AB3F896-8B9E-4993-B400-75038331D06A}" destId="{AE5A4CD5-F2C8-442D-85B5-F0B98F6485A3}" srcOrd="1" destOrd="0" presId="urn:microsoft.com/office/officeart/2016/7/layout/BasicTimeline"/>
    <dgm:cxn modelId="{D28148F1-B571-4B29-95DB-53076ABE8387}" type="presParOf" srcId="{AE5A4CD5-F2C8-442D-85B5-F0B98F6485A3}" destId="{A131C4D8-D35E-4240-9DEE-5B51644242B8}" srcOrd="0" destOrd="0" presId="urn:microsoft.com/office/officeart/2016/7/layout/BasicTimeline"/>
    <dgm:cxn modelId="{F7F49381-A9E8-40F5-A897-7486A97BA812}" type="presParOf" srcId="{AE5A4CD5-F2C8-442D-85B5-F0B98F6485A3}" destId="{1137A2EF-F5D6-4767-A2D9-E3774D3DB687}" srcOrd="1" destOrd="0" presId="urn:microsoft.com/office/officeart/2016/7/layout/BasicTimeline"/>
    <dgm:cxn modelId="{5BF37231-7AE7-4D5F-AFF4-A9DBB32D1D6E}" type="presParOf" srcId="{2AB3F896-8B9E-4993-B400-75038331D06A}" destId="{420BE1B8-1938-4D91-9819-A1F06B961DA8}" srcOrd="2" destOrd="0" presId="urn:microsoft.com/office/officeart/2016/7/layout/BasicTimeline"/>
    <dgm:cxn modelId="{D52F4DC9-B623-4F40-B1CC-265C9E2DC5E8}" type="presParOf" srcId="{2AB3F896-8B9E-4993-B400-75038331D06A}" destId="{80F4E1E9-82AE-4D99-B5EB-D21CE503F6ED}" srcOrd="3" destOrd="0" presId="urn:microsoft.com/office/officeart/2016/7/layout/BasicTimeline"/>
    <dgm:cxn modelId="{327ECF8F-FC53-4EA8-A814-6A02927801CE}" type="presParOf" srcId="{2AB3F896-8B9E-4993-B400-75038331D06A}" destId="{C2A525FC-3BEB-4E61-BDF8-BA708F637634}" srcOrd="4" destOrd="0" presId="urn:microsoft.com/office/officeart/2016/7/layout/BasicTimeline"/>
    <dgm:cxn modelId="{AF91813B-4825-406E-A5C3-14D79BD9007B}" type="presParOf" srcId="{4EE74E0B-8C8D-428B-9A3F-5601C334CB09}" destId="{D2F174E7-0820-4976-BA09-DEADE2C49923}" srcOrd="3" destOrd="0" presId="urn:microsoft.com/office/officeart/2016/7/layout/BasicTimeline"/>
    <dgm:cxn modelId="{3A091D7D-347D-448A-B418-DFA81FD077B0}" type="presParOf" srcId="{4EE74E0B-8C8D-428B-9A3F-5601C334CB09}" destId="{0AFE54CF-AE5A-4377-8EDA-7875907B3B46}" srcOrd="4" destOrd="0" presId="urn:microsoft.com/office/officeart/2016/7/layout/BasicTimeline"/>
    <dgm:cxn modelId="{841F0C63-3E72-4BD9-B0EF-2D7B8E21D055}" type="presParOf" srcId="{0AFE54CF-AE5A-4377-8EDA-7875907B3B46}" destId="{66FB90CA-7682-4809-A2C2-B65080FFD993}" srcOrd="0" destOrd="0" presId="urn:microsoft.com/office/officeart/2016/7/layout/BasicTimeline"/>
    <dgm:cxn modelId="{42F5B066-A603-4793-9D99-1260E192410A}" type="presParOf" srcId="{0AFE54CF-AE5A-4377-8EDA-7875907B3B46}" destId="{D866A378-2E90-470E-B8C8-1E8F3BA805FE}" srcOrd="1" destOrd="0" presId="urn:microsoft.com/office/officeart/2016/7/layout/BasicTimeline"/>
    <dgm:cxn modelId="{D7EE25B7-A856-4843-B718-EC976B15AA97}" type="presParOf" srcId="{D866A378-2E90-470E-B8C8-1E8F3BA805FE}" destId="{01EE9370-19F4-4B2F-8216-3EBC95CDCBC7}" srcOrd="0" destOrd="0" presId="urn:microsoft.com/office/officeart/2016/7/layout/BasicTimeline"/>
    <dgm:cxn modelId="{4D19F4D6-9F7A-4771-BCAF-903799BF8CA3}" type="presParOf" srcId="{D866A378-2E90-470E-B8C8-1E8F3BA805FE}" destId="{3AFF4AA1-FAF9-4BD0-A0D4-04340998CD6F}" srcOrd="1" destOrd="0" presId="urn:microsoft.com/office/officeart/2016/7/layout/BasicTimeline"/>
    <dgm:cxn modelId="{FE073B24-CBE0-4C98-89EB-F7A24CE37A0F}" type="presParOf" srcId="{0AFE54CF-AE5A-4377-8EDA-7875907B3B46}" destId="{29E58E00-740A-4998-89C0-041CB7F5E326}" srcOrd="2" destOrd="0" presId="urn:microsoft.com/office/officeart/2016/7/layout/BasicTimeline"/>
    <dgm:cxn modelId="{397FE68A-CBC0-49AD-B433-C7677EFEE4AB}" type="presParOf" srcId="{0AFE54CF-AE5A-4377-8EDA-7875907B3B46}" destId="{5BFF8362-7FBC-418B-B5C4-1AC2B490B989}" srcOrd="3" destOrd="0" presId="urn:microsoft.com/office/officeart/2016/7/layout/BasicTimeline"/>
    <dgm:cxn modelId="{AE1B51E0-8C56-439D-945B-F1BF0883654B}" type="presParOf" srcId="{0AFE54CF-AE5A-4377-8EDA-7875907B3B46}" destId="{FB83E04B-5F2B-4D58-BB51-6AD34AAB55D2}" srcOrd="4" destOrd="0" presId="urn:microsoft.com/office/officeart/2016/7/layout/BasicTimeline"/>
    <dgm:cxn modelId="{1D700D26-99AD-4B2D-9BB0-931A33CB0B66}" type="presParOf" srcId="{4EE74E0B-8C8D-428B-9A3F-5601C334CB09}" destId="{1C05596C-CEAE-461F-99F2-424751FD60A8}" srcOrd="5" destOrd="0" presId="urn:microsoft.com/office/officeart/2016/7/layout/BasicTimeline"/>
    <dgm:cxn modelId="{E83E874F-9E6F-4946-B935-381E173B90C9}" type="presParOf" srcId="{4EE74E0B-8C8D-428B-9A3F-5601C334CB09}" destId="{F6E05996-BB57-47D7-9686-4255BD5D8419}" srcOrd="6" destOrd="0" presId="urn:microsoft.com/office/officeart/2016/7/layout/BasicTimeline"/>
    <dgm:cxn modelId="{2B7E8374-D5E6-4400-BABD-F5C471970F51}" type="presParOf" srcId="{F6E05996-BB57-47D7-9686-4255BD5D8419}" destId="{05D59CD7-E1F9-4694-9886-989BC0B58C55}" srcOrd="0" destOrd="0" presId="urn:microsoft.com/office/officeart/2016/7/layout/BasicTimeline"/>
    <dgm:cxn modelId="{D2F88DBF-2F1F-4FE1-9A71-0329FA5B7840}" type="presParOf" srcId="{F6E05996-BB57-47D7-9686-4255BD5D8419}" destId="{E0A5F35F-9AEB-4B21-849C-920A48C47A6B}" srcOrd="1" destOrd="0" presId="urn:microsoft.com/office/officeart/2016/7/layout/BasicTimeline"/>
    <dgm:cxn modelId="{7A59BBA8-CFF4-48B5-A49E-610E350B411B}" type="presParOf" srcId="{E0A5F35F-9AEB-4B21-849C-920A48C47A6B}" destId="{B44F1534-602D-48F0-872F-813ABFF790D2}" srcOrd="0" destOrd="0" presId="urn:microsoft.com/office/officeart/2016/7/layout/BasicTimeline"/>
    <dgm:cxn modelId="{91FB589B-7422-46DB-B918-5494D1BF2092}" type="presParOf" srcId="{E0A5F35F-9AEB-4B21-849C-920A48C47A6B}" destId="{F40C1B47-BA56-441C-8778-28BAB1F8416A}" srcOrd="1" destOrd="0" presId="urn:microsoft.com/office/officeart/2016/7/layout/BasicTimeline"/>
    <dgm:cxn modelId="{4449EB5E-D77A-48E1-A1A8-B76E89D9294B}" type="presParOf" srcId="{F6E05996-BB57-47D7-9686-4255BD5D8419}" destId="{8C8576AA-D20F-483E-AE6B-EE3059016C03}" srcOrd="2" destOrd="0" presId="urn:microsoft.com/office/officeart/2016/7/layout/BasicTimeline"/>
    <dgm:cxn modelId="{3E07FFD4-A7B3-4019-BDF8-79F0A852D827}" type="presParOf" srcId="{F6E05996-BB57-47D7-9686-4255BD5D8419}" destId="{0672BE05-F299-4C94-9CB3-058B8D71340F}" srcOrd="3" destOrd="0" presId="urn:microsoft.com/office/officeart/2016/7/layout/BasicTimeline"/>
    <dgm:cxn modelId="{F604BB2C-BB1D-4AF6-A0B3-1A4D6940B036}" type="presParOf" srcId="{F6E05996-BB57-47D7-9686-4255BD5D8419}" destId="{AEA78B3B-7A77-4EC6-BC8A-DCC6205B965E}" srcOrd="4" destOrd="0" presId="urn:microsoft.com/office/officeart/2016/7/layout/BasicTimeline"/>
    <dgm:cxn modelId="{F0497CFC-D0A8-48C0-9128-AABF9AE446AE}" type="presParOf" srcId="{4EE74E0B-8C8D-428B-9A3F-5601C334CB09}" destId="{1E716D49-D1A8-4926-9A91-354BA6AD20F8}" srcOrd="7" destOrd="0" presId="urn:microsoft.com/office/officeart/2016/7/layout/BasicTimeline"/>
    <dgm:cxn modelId="{5066ACB9-74FD-4E45-9BE9-44BF8E67415C}" type="presParOf" srcId="{4EE74E0B-8C8D-428B-9A3F-5601C334CB09}" destId="{5DDF748E-F9BD-49F6-B81A-DE408DFF4588}" srcOrd="8" destOrd="0" presId="urn:microsoft.com/office/officeart/2016/7/layout/BasicTimeline"/>
    <dgm:cxn modelId="{0EAB75E8-B142-4389-9994-9F105781985E}" type="presParOf" srcId="{5DDF748E-F9BD-49F6-B81A-DE408DFF4588}" destId="{7247EDE5-05CD-456B-9041-1F5FE9C4EBE7}" srcOrd="0" destOrd="0" presId="urn:microsoft.com/office/officeart/2016/7/layout/BasicTimeline"/>
    <dgm:cxn modelId="{6FA05F91-42ED-4BB4-9920-A63C91B0AD5B}" type="presParOf" srcId="{5DDF748E-F9BD-49F6-B81A-DE408DFF4588}" destId="{09CF0431-0E98-4BA7-BC7D-4A3E3058DC97}" srcOrd="1" destOrd="0" presId="urn:microsoft.com/office/officeart/2016/7/layout/BasicTimeline"/>
    <dgm:cxn modelId="{125673F2-42AC-433D-9637-3ED51B06D4B7}" type="presParOf" srcId="{09CF0431-0E98-4BA7-BC7D-4A3E3058DC97}" destId="{5B786603-74A6-47FB-819E-27807C8E7F9B}" srcOrd="0" destOrd="0" presId="urn:microsoft.com/office/officeart/2016/7/layout/BasicTimeline"/>
    <dgm:cxn modelId="{15D255B6-B76E-4CCE-A230-7EA8D7322EFF}" type="presParOf" srcId="{09CF0431-0E98-4BA7-BC7D-4A3E3058DC97}" destId="{0FAFAEA1-621B-4D2F-AABC-0BEEADDA8A23}" srcOrd="1" destOrd="0" presId="urn:microsoft.com/office/officeart/2016/7/layout/BasicTimeline"/>
    <dgm:cxn modelId="{818C4CC1-CAA2-4CE5-A1E2-A09BAC7F85E5}" type="presParOf" srcId="{5DDF748E-F9BD-49F6-B81A-DE408DFF4588}" destId="{CBD338E0-16E3-4058-B612-A1FAF2CBA617}" srcOrd="2" destOrd="0" presId="urn:microsoft.com/office/officeart/2016/7/layout/BasicTimeline"/>
    <dgm:cxn modelId="{2D492CFE-E3FC-494A-BA6D-6773B853D9F6}" type="presParOf" srcId="{5DDF748E-F9BD-49F6-B81A-DE408DFF4588}" destId="{FB385052-45F0-4089-85C8-4426A9A07893}" srcOrd="3" destOrd="0" presId="urn:microsoft.com/office/officeart/2016/7/layout/BasicTimeline"/>
    <dgm:cxn modelId="{C4BB3B36-65FF-459E-A6FC-171040102F77}" type="presParOf" srcId="{5DDF748E-F9BD-49F6-B81A-DE408DFF4588}" destId="{5669C007-6947-45F3-BF0F-16BCA4D85CB6}"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5F28AA-7576-46BE-819D-AD179A64E887}">
      <dsp:nvSpPr>
        <dsp:cNvPr id="0" name=""/>
        <dsp:cNvSpPr/>
      </dsp:nvSpPr>
      <dsp:spPr>
        <a:xfrm>
          <a:off x="0" y="2309446"/>
          <a:ext cx="10486943" cy="0"/>
        </a:xfrm>
        <a:prstGeom prst="line">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tailEnd type="triangle" w="lg" len="lg"/>
        </a:ln>
        <a:effectLst/>
      </dsp:spPr>
      <dsp:style>
        <a:lnRef idx="1">
          <a:scrgbClr r="0" g="0" b="0"/>
        </a:lnRef>
        <a:fillRef idx="1">
          <a:scrgbClr r="0" g="0" b="0"/>
        </a:fillRef>
        <a:effectRef idx="0">
          <a:scrgbClr r="0" g="0" b="0"/>
        </a:effectRef>
        <a:fontRef idx="minor"/>
      </dsp:style>
    </dsp:sp>
    <dsp:sp modelId="{7B3CEE0E-59AA-4E44-A3D0-5745E9AF44C4}">
      <dsp:nvSpPr>
        <dsp:cNvPr id="0" name=""/>
        <dsp:cNvSpPr/>
      </dsp:nvSpPr>
      <dsp:spPr>
        <a:xfrm>
          <a:off x="196630" y="2480345"/>
          <a:ext cx="2775762" cy="5219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44550" rtl="0">
            <a:lnSpc>
              <a:spcPct val="90000"/>
            </a:lnSpc>
            <a:spcBef>
              <a:spcPct val="0"/>
            </a:spcBef>
            <a:spcAft>
              <a:spcPct val="35000"/>
            </a:spcAft>
            <a:buNone/>
            <a:defRPr b="1"/>
          </a:pPr>
          <a:r>
            <a:rPr lang="de-DE" sz="1900" kern="1200">
              <a:latin typeface="Eras Medium ITC"/>
            </a:rPr>
            <a:t>Project proposal</a:t>
          </a:r>
        </a:p>
      </dsp:txBody>
      <dsp:txXfrm>
        <a:off x="196630" y="2480345"/>
        <a:ext cx="2775762" cy="521934"/>
      </dsp:txXfrm>
    </dsp:sp>
    <dsp:sp modelId="{C845C565-B562-4906-90C7-71C1A499A41A}">
      <dsp:nvSpPr>
        <dsp:cNvPr id="0" name=""/>
        <dsp:cNvSpPr/>
      </dsp:nvSpPr>
      <dsp:spPr>
        <a:xfrm>
          <a:off x="7373" y="644335"/>
          <a:ext cx="3154275" cy="787521"/>
        </a:xfrm>
        <a:prstGeom prst="roundRect">
          <a:avLst/>
        </a:prstGeom>
        <a:solidFill>
          <a:schemeClr val="dk2">
            <a:alpha val="90000"/>
            <a:tint val="4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l" defTabSz="711200" rtl="0">
            <a:lnSpc>
              <a:spcPct val="90000"/>
            </a:lnSpc>
            <a:spcBef>
              <a:spcPct val="0"/>
            </a:spcBef>
            <a:spcAft>
              <a:spcPct val="35000"/>
            </a:spcAft>
            <a:buNone/>
          </a:pPr>
          <a:r>
            <a:rPr lang="de-DE" sz="1600" kern="1200">
              <a:latin typeface="Eras Medium ITC"/>
            </a:rPr>
            <a:t>             Dataexploration</a:t>
          </a:r>
        </a:p>
      </dsp:txBody>
      <dsp:txXfrm>
        <a:off x="45817" y="682779"/>
        <a:ext cx="3077387" cy="710633"/>
      </dsp:txXfrm>
    </dsp:sp>
    <dsp:sp modelId="{B9B12C78-CB32-4B83-9CF6-8B64F5B3EF51}">
      <dsp:nvSpPr>
        <dsp:cNvPr id="0" name=""/>
        <dsp:cNvSpPr/>
      </dsp:nvSpPr>
      <dsp:spPr>
        <a:xfrm>
          <a:off x="1584511" y="1431856"/>
          <a:ext cx="0" cy="877589"/>
        </a:xfrm>
        <a:prstGeom prst="line">
          <a:avLst/>
        </a:prstGeom>
        <a:noFill/>
        <a:ln w="12700" cap="flat" cmpd="sng" algn="ctr">
          <a:solidFill>
            <a:schemeClr val="dk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F104973-23D1-4AF7-B3F3-F1603336EE38}">
      <dsp:nvSpPr>
        <dsp:cNvPr id="0" name=""/>
        <dsp:cNvSpPr/>
      </dsp:nvSpPr>
      <dsp:spPr>
        <a:xfrm>
          <a:off x="2026110" y="1616612"/>
          <a:ext cx="2775762" cy="5219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44550">
            <a:lnSpc>
              <a:spcPct val="90000"/>
            </a:lnSpc>
            <a:spcBef>
              <a:spcPct val="0"/>
            </a:spcBef>
            <a:spcAft>
              <a:spcPct val="35000"/>
            </a:spcAft>
            <a:buNone/>
            <a:defRPr b="1"/>
          </a:pPr>
          <a:endParaRPr lang="de-DE" sz="1900" b="1" kern="1200"/>
        </a:p>
      </dsp:txBody>
      <dsp:txXfrm>
        <a:off x="2026110" y="1616612"/>
        <a:ext cx="2775762" cy="521934"/>
      </dsp:txXfrm>
    </dsp:sp>
    <dsp:sp modelId="{AD4634BE-CD4A-476A-B07B-E67F72E46D9A}">
      <dsp:nvSpPr>
        <dsp:cNvPr id="0" name=""/>
        <dsp:cNvSpPr/>
      </dsp:nvSpPr>
      <dsp:spPr>
        <a:xfrm>
          <a:off x="1549869" y="2274804"/>
          <a:ext cx="69283" cy="69283"/>
        </a:xfrm>
        <a:prstGeom prst="ellips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12700" cap="flat" cmpd="sng" algn="ctr">
          <a:solidFill>
            <a:schemeClr val="dk2">
              <a:shade val="80000"/>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A131C4D8-D35E-4240-9DEE-5B51644242B8}">
      <dsp:nvSpPr>
        <dsp:cNvPr id="0" name=""/>
        <dsp:cNvSpPr/>
      </dsp:nvSpPr>
      <dsp:spPr>
        <a:xfrm>
          <a:off x="1836853" y="3187036"/>
          <a:ext cx="3154275" cy="787521"/>
        </a:xfrm>
        <a:prstGeom prst="roundRect">
          <a:avLst/>
        </a:prstGeom>
        <a:solidFill>
          <a:schemeClr val="dk2">
            <a:alpha val="90000"/>
            <a:tint val="4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l" defTabSz="711200" rtl="0">
            <a:lnSpc>
              <a:spcPct val="90000"/>
            </a:lnSpc>
            <a:spcBef>
              <a:spcPct val="0"/>
            </a:spcBef>
            <a:spcAft>
              <a:spcPct val="35000"/>
            </a:spcAft>
            <a:buNone/>
          </a:pPr>
          <a:r>
            <a:rPr lang="de-DE" sz="1600" b="0" kern="1200">
              <a:latin typeface="Eras Medium ITC"/>
            </a:rPr>
            <a:t>                      DMA</a:t>
          </a:r>
        </a:p>
      </dsp:txBody>
      <dsp:txXfrm>
        <a:off x="1875297" y="3225480"/>
        <a:ext cx="3077387" cy="710633"/>
      </dsp:txXfrm>
    </dsp:sp>
    <dsp:sp modelId="{420BE1B8-1938-4D91-9819-A1F06B961DA8}">
      <dsp:nvSpPr>
        <dsp:cNvPr id="0" name=""/>
        <dsp:cNvSpPr/>
      </dsp:nvSpPr>
      <dsp:spPr>
        <a:xfrm>
          <a:off x="3413991" y="2309446"/>
          <a:ext cx="0" cy="877589"/>
        </a:xfrm>
        <a:prstGeom prst="line">
          <a:avLst/>
        </a:prstGeom>
        <a:noFill/>
        <a:ln w="12700" cap="flat" cmpd="sng" algn="ctr">
          <a:solidFill>
            <a:schemeClr val="dk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6FB90CA-7682-4809-A2C2-B65080FFD993}">
      <dsp:nvSpPr>
        <dsp:cNvPr id="0" name=""/>
        <dsp:cNvSpPr/>
      </dsp:nvSpPr>
      <dsp:spPr>
        <a:xfrm>
          <a:off x="3855590" y="2480345"/>
          <a:ext cx="2775762" cy="5219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44550">
            <a:lnSpc>
              <a:spcPct val="90000"/>
            </a:lnSpc>
            <a:spcBef>
              <a:spcPct val="0"/>
            </a:spcBef>
            <a:spcAft>
              <a:spcPct val="35000"/>
            </a:spcAft>
            <a:buNone/>
            <a:defRPr b="1"/>
          </a:pPr>
          <a:endParaRPr lang="de-DE" sz="1900" b="1" kern="1200">
            <a:latin typeface="Aptos Display" panose="02110004020202020204"/>
          </a:endParaRPr>
        </a:p>
      </dsp:txBody>
      <dsp:txXfrm>
        <a:off x="3855590" y="2480345"/>
        <a:ext cx="2775762" cy="521934"/>
      </dsp:txXfrm>
    </dsp:sp>
    <dsp:sp modelId="{80F4E1E9-82AE-4D99-B5EB-D21CE503F6ED}">
      <dsp:nvSpPr>
        <dsp:cNvPr id="0" name=""/>
        <dsp:cNvSpPr/>
      </dsp:nvSpPr>
      <dsp:spPr>
        <a:xfrm>
          <a:off x="3379349" y="2274804"/>
          <a:ext cx="69283" cy="69283"/>
        </a:xfrm>
        <a:prstGeom prst="ellips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12700" cap="flat" cmpd="sng" algn="ctr">
          <a:solidFill>
            <a:schemeClr val="dk2">
              <a:shade val="80000"/>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01EE9370-19F4-4B2F-8216-3EBC95CDCBC7}">
      <dsp:nvSpPr>
        <dsp:cNvPr id="0" name=""/>
        <dsp:cNvSpPr/>
      </dsp:nvSpPr>
      <dsp:spPr>
        <a:xfrm>
          <a:off x="3666333" y="644335"/>
          <a:ext cx="3154275" cy="787521"/>
        </a:xfrm>
        <a:prstGeom prst="roundRect">
          <a:avLst/>
        </a:prstGeom>
        <a:solidFill>
          <a:schemeClr val="dk2">
            <a:alpha val="90000"/>
            <a:tint val="4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l" defTabSz="711200" rtl="0">
            <a:lnSpc>
              <a:spcPct val="90000"/>
            </a:lnSpc>
            <a:spcBef>
              <a:spcPct val="0"/>
            </a:spcBef>
            <a:spcAft>
              <a:spcPct val="35000"/>
            </a:spcAft>
            <a:buNone/>
          </a:pPr>
          <a:r>
            <a:rPr lang="de-DE" sz="1600" b="0" kern="1200">
              <a:latin typeface="Eras Medium ITC"/>
            </a:rPr>
            <a:t>                       DMR</a:t>
          </a:r>
        </a:p>
      </dsp:txBody>
      <dsp:txXfrm>
        <a:off x="3704777" y="682779"/>
        <a:ext cx="3077387" cy="710633"/>
      </dsp:txXfrm>
    </dsp:sp>
    <dsp:sp modelId="{29E58E00-740A-4998-89C0-041CB7F5E326}">
      <dsp:nvSpPr>
        <dsp:cNvPr id="0" name=""/>
        <dsp:cNvSpPr/>
      </dsp:nvSpPr>
      <dsp:spPr>
        <a:xfrm>
          <a:off x="5243471" y="1431856"/>
          <a:ext cx="0" cy="877589"/>
        </a:xfrm>
        <a:prstGeom prst="line">
          <a:avLst/>
        </a:prstGeom>
        <a:noFill/>
        <a:ln w="12700" cap="flat" cmpd="sng" algn="ctr">
          <a:solidFill>
            <a:schemeClr val="dk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5D59CD7-E1F9-4694-9886-989BC0B58C55}">
      <dsp:nvSpPr>
        <dsp:cNvPr id="0" name=""/>
        <dsp:cNvSpPr/>
      </dsp:nvSpPr>
      <dsp:spPr>
        <a:xfrm>
          <a:off x="5685070" y="1616612"/>
          <a:ext cx="2775762" cy="5219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44550">
            <a:lnSpc>
              <a:spcPct val="90000"/>
            </a:lnSpc>
            <a:spcBef>
              <a:spcPct val="0"/>
            </a:spcBef>
            <a:spcAft>
              <a:spcPct val="35000"/>
            </a:spcAft>
            <a:buNone/>
            <a:defRPr b="1"/>
          </a:pPr>
          <a:endParaRPr lang="de-DE" sz="1900" b="1" kern="1200">
            <a:latin typeface="Aptos Display" panose="02110004020202020204"/>
          </a:endParaRPr>
        </a:p>
      </dsp:txBody>
      <dsp:txXfrm>
        <a:off x="5685070" y="1616612"/>
        <a:ext cx="2775762" cy="521934"/>
      </dsp:txXfrm>
    </dsp:sp>
    <dsp:sp modelId="{5BFF8362-7FBC-418B-B5C4-1AC2B490B989}">
      <dsp:nvSpPr>
        <dsp:cNvPr id="0" name=""/>
        <dsp:cNvSpPr/>
      </dsp:nvSpPr>
      <dsp:spPr>
        <a:xfrm>
          <a:off x="5208829" y="2274804"/>
          <a:ext cx="69283" cy="69283"/>
        </a:xfrm>
        <a:prstGeom prst="ellips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12700" cap="flat" cmpd="sng" algn="ctr">
          <a:solidFill>
            <a:schemeClr val="dk2">
              <a:shade val="80000"/>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B44F1534-602D-48F0-872F-813ABFF790D2}">
      <dsp:nvSpPr>
        <dsp:cNvPr id="0" name=""/>
        <dsp:cNvSpPr/>
      </dsp:nvSpPr>
      <dsp:spPr>
        <a:xfrm>
          <a:off x="5495813" y="3187036"/>
          <a:ext cx="3154275" cy="787521"/>
        </a:xfrm>
        <a:prstGeom prst="roundRect">
          <a:avLst/>
        </a:prstGeom>
        <a:solidFill>
          <a:schemeClr val="dk2">
            <a:alpha val="90000"/>
            <a:tint val="4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l" defTabSz="711200" rtl="0">
            <a:lnSpc>
              <a:spcPct val="90000"/>
            </a:lnSpc>
            <a:spcBef>
              <a:spcPct val="0"/>
            </a:spcBef>
            <a:spcAft>
              <a:spcPct val="35000"/>
            </a:spcAft>
            <a:buNone/>
          </a:pPr>
          <a:r>
            <a:rPr lang="de-DE" sz="1600" b="0" kern="1200">
              <a:latin typeface="Eras Medium ITC"/>
            </a:rPr>
            <a:t>           Literatur comparison</a:t>
          </a:r>
        </a:p>
      </dsp:txBody>
      <dsp:txXfrm>
        <a:off x="5534257" y="3225480"/>
        <a:ext cx="3077387" cy="710633"/>
      </dsp:txXfrm>
    </dsp:sp>
    <dsp:sp modelId="{8C8576AA-D20F-483E-AE6B-EE3059016C03}">
      <dsp:nvSpPr>
        <dsp:cNvPr id="0" name=""/>
        <dsp:cNvSpPr/>
      </dsp:nvSpPr>
      <dsp:spPr>
        <a:xfrm>
          <a:off x="7072951" y="2309446"/>
          <a:ext cx="0" cy="877589"/>
        </a:xfrm>
        <a:prstGeom prst="line">
          <a:avLst/>
        </a:prstGeom>
        <a:noFill/>
        <a:ln w="12700" cap="flat" cmpd="sng" algn="ctr">
          <a:solidFill>
            <a:schemeClr val="dk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7247EDE5-05CD-456B-9041-1F5FE9C4EBE7}">
      <dsp:nvSpPr>
        <dsp:cNvPr id="0" name=""/>
        <dsp:cNvSpPr/>
      </dsp:nvSpPr>
      <dsp:spPr>
        <a:xfrm>
          <a:off x="7514550" y="2480345"/>
          <a:ext cx="2775762" cy="5219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44550">
            <a:lnSpc>
              <a:spcPct val="90000"/>
            </a:lnSpc>
            <a:spcBef>
              <a:spcPct val="0"/>
            </a:spcBef>
            <a:spcAft>
              <a:spcPct val="35000"/>
            </a:spcAft>
            <a:buNone/>
            <a:defRPr b="1"/>
          </a:pPr>
          <a:endParaRPr lang="de-DE" sz="1900" b="1" kern="1200">
            <a:latin typeface="Aptos Display" panose="02110004020202020204"/>
          </a:endParaRPr>
        </a:p>
      </dsp:txBody>
      <dsp:txXfrm>
        <a:off x="7514550" y="2480345"/>
        <a:ext cx="2775762" cy="521934"/>
      </dsp:txXfrm>
    </dsp:sp>
    <dsp:sp modelId="{0672BE05-F299-4C94-9CB3-058B8D71340F}">
      <dsp:nvSpPr>
        <dsp:cNvPr id="0" name=""/>
        <dsp:cNvSpPr/>
      </dsp:nvSpPr>
      <dsp:spPr>
        <a:xfrm>
          <a:off x="7038309" y="2274804"/>
          <a:ext cx="69283" cy="69283"/>
        </a:xfrm>
        <a:prstGeom prst="ellips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12700" cap="flat" cmpd="sng" algn="ctr">
          <a:solidFill>
            <a:schemeClr val="dk2">
              <a:shade val="80000"/>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5B786603-74A6-47FB-819E-27807C8E7F9B}">
      <dsp:nvSpPr>
        <dsp:cNvPr id="0" name=""/>
        <dsp:cNvSpPr/>
      </dsp:nvSpPr>
      <dsp:spPr>
        <a:xfrm>
          <a:off x="7325293" y="644335"/>
          <a:ext cx="3154275" cy="787521"/>
        </a:xfrm>
        <a:prstGeom prst="roundRect">
          <a:avLst/>
        </a:prstGeom>
        <a:solidFill>
          <a:schemeClr val="dk2">
            <a:alpha val="90000"/>
            <a:tint val="4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l" defTabSz="711200" rtl="0">
            <a:lnSpc>
              <a:spcPct val="90000"/>
            </a:lnSpc>
            <a:spcBef>
              <a:spcPct val="0"/>
            </a:spcBef>
            <a:spcAft>
              <a:spcPct val="35000"/>
            </a:spcAft>
            <a:buNone/>
          </a:pPr>
          <a:r>
            <a:rPr lang="de-DE" sz="1600" b="0" kern="1200">
              <a:latin typeface="Eras Medium ITC"/>
            </a:rPr>
            <a:t>            </a:t>
          </a:r>
          <a:r>
            <a:rPr lang="de-DE" sz="1600" b="0" kern="1200" err="1">
              <a:latin typeface="Eras Medium ITC"/>
            </a:rPr>
            <a:t>Hallmark</a:t>
          </a:r>
          <a:r>
            <a:rPr lang="de-DE" sz="1600" b="0" kern="1200">
              <a:latin typeface="Eras Medium ITC"/>
            </a:rPr>
            <a:t> </a:t>
          </a:r>
          <a:r>
            <a:rPr lang="de-DE" sz="1600" b="0" kern="1200" err="1">
              <a:latin typeface="Eras Medium ITC"/>
            </a:rPr>
            <a:t>gene</a:t>
          </a:r>
          <a:r>
            <a:rPr lang="de-DE" sz="1600" b="0" kern="1200">
              <a:latin typeface="Eras Medium ITC"/>
            </a:rPr>
            <a:t> </a:t>
          </a:r>
          <a:r>
            <a:rPr lang="de-DE" sz="1600" b="0" kern="1200" err="1">
              <a:latin typeface="Eras Medium ITC"/>
            </a:rPr>
            <a:t>set</a:t>
          </a:r>
          <a:r>
            <a:rPr lang="de-DE" sz="1600" b="0" kern="1200">
              <a:latin typeface="Eras Medium ITC"/>
            </a:rPr>
            <a:t> </a:t>
          </a:r>
          <a:r>
            <a:rPr lang="de-DE" sz="1600" b="0" kern="1200" err="1">
              <a:latin typeface="Eras Medium ITC"/>
            </a:rPr>
            <a:t>enrichment</a:t>
          </a:r>
          <a:r>
            <a:rPr lang="de-DE" sz="1600" b="0" kern="1200">
              <a:latin typeface="Eras Medium ITC"/>
            </a:rPr>
            <a:t> </a:t>
          </a:r>
          <a:r>
            <a:rPr lang="de-DE" sz="1600" b="0" kern="1200" err="1">
              <a:latin typeface="Eras Medium ITC"/>
            </a:rPr>
            <a:t>analysis</a:t>
          </a:r>
          <a:endParaRPr lang="de-DE" sz="1600" b="0" kern="1200">
            <a:latin typeface="Eras Medium ITC"/>
          </a:endParaRPr>
        </a:p>
      </dsp:txBody>
      <dsp:txXfrm>
        <a:off x="7363737" y="682779"/>
        <a:ext cx="3077387" cy="710633"/>
      </dsp:txXfrm>
    </dsp:sp>
    <dsp:sp modelId="{CBD338E0-16E3-4058-B612-A1FAF2CBA617}">
      <dsp:nvSpPr>
        <dsp:cNvPr id="0" name=""/>
        <dsp:cNvSpPr/>
      </dsp:nvSpPr>
      <dsp:spPr>
        <a:xfrm>
          <a:off x="8902431" y="1431856"/>
          <a:ext cx="0" cy="877589"/>
        </a:xfrm>
        <a:prstGeom prst="line">
          <a:avLst/>
        </a:prstGeom>
        <a:noFill/>
        <a:ln w="12700" cap="flat" cmpd="sng" algn="ctr">
          <a:solidFill>
            <a:schemeClr val="dk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B385052-45F0-4089-85C8-4426A9A07893}">
      <dsp:nvSpPr>
        <dsp:cNvPr id="0" name=""/>
        <dsp:cNvSpPr/>
      </dsp:nvSpPr>
      <dsp:spPr>
        <a:xfrm>
          <a:off x="8867789" y="2274804"/>
          <a:ext cx="69283" cy="69283"/>
        </a:xfrm>
        <a:prstGeom prst="ellips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12700" cap="flat" cmpd="sng" algn="ctr">
          <a:solidFill>
            <a:schemeClr val="dk2">
              <a:shade val="80000"/>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ABD7FD-8682-7F40-AE5D-172E0E8A6474}" type="datetimeFigureOut">
              <a:rPr lang="en-DE" smtClean="0"/>
              <a:t>08.07.24</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1042D6-1119-7B40-96F1-05C6B84075A2}" type="slidenum">
              <a:rPr lang="en-DE" smtClean="0"/>
              <a:t>‹#›</a:t>
            </a:fld>
            <a:endParaRPr lang="en-DE"/>
          </a:p>
        </p:txBody>
      </p:sp>
    </p:spTree>
    <p:extLst>
      <p:ext uri="{BB962C8B-B14F-4D97-AF65-F5344CB8AC3E}">
        <p14:creationId xmlns:p14="http://schemas.microsoft.com/office/powerpoint/2010/main" val="4121864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pPr>
            <a:r>
              <a:rPr lang="de-DE" b="1"/>
              <a:t>In 2022 2.3million </a:t>
            </a:r>
            <a:r>
              <a:rPr lang="de-DE" b="1" err="1"/>
              <a:t>woman</a:t>
            </a:r>
            <a:r>
              <a:rPr lang="de-DE" b="1"/>
              <a:t> </a:t>
            </a:r>
            <a:r>
              <a:rPr lang="de-DE" b="1" err="1"/>
              <a:t>were</a:t>
            </a:r>
            <a:r>
              <a:rPr lang="de-DE" b="1"/>
              <a:t> </a:t>
            </a:r>
            <a:r>
              <a:rPr lang="de-DE" b="1" err="1"/>
              <a:t>diagnosed</a:t>
            </a:r>
            <a:r>
              <a:rPr lang="de-DE" b="1"/>
              <a:t> </a:t>
            </a:r>
            <a:r>
              <a:rPr lang="de-DE" b="1" err="1"/>
              <a:t>with</a:t>
            </a:r>
            <a:r>
              <a:rPr lang="de-DE" b="1"/>
              <a:t> </a:t>
            </a:r>
            <a:r>
              <a:rPr lang="de-DE" b="1" err="1"/>
              <a:t>breastcancer</a:t>
            </a:r>
            <a:endParaRPr lang="de-DE" b="1"/>
          </a:p>
          <a:p>
            <a:pPr marL="171450" indent="-171450">
              <a:buFont typeface="Arial" panose="020B0604020202020204" pitchFamily="34" charset="0"/>
              <a:buChar char="•"/>
            </a:pPr>
            <a:r>
              <a:rPr lang="de-DE" b="1" err="1"/>
              <a:t>Breast</a:t>
            </a:r>
            <a:r>
              <a:rPr lang="de-DE" b="1"/>
              <a:t> </a:t>
            </a:r>
            <a:r>
              <a:rPr lang="de-DE" b="1" err="1"/>
              <a:t>cancer</a:t>
            </a:r>
            <a:r>
              <a:rPr lang="de-DE" b="1"/>
              <a:t> </a:t>
            </a:r>
            <a:r>
              <a:rPr lang="de-DE" b="1" err="1"/>
              <a:t>is</a:t>
            </a:r>
            <a:r>
              <a:rPr lang="de-DE" b="1"/>
              <a:t> </a:t>
            </a:r>
            <a:r>
              <a:rPr lang="de-DE" b="1" err="1"/>
              <a:t>the</a:t>
            </a:r>
            <a:r>
              <a:rPr lang="de-DE" b="1"/>
              <a:t> </a:t>
            </a:r>
            <a:r>
              <a:rPr lang="de-DE" b="1" err="1"/>
              <a:t>most</a:t>
            </a:r>
            <a:r>
              <a:rPr lang="de-DE" b="1"/>
              <a:t> </a:t>
            </a:r>
            <a:r>
              <a:rPr lang="de-DE" b="1" err="1"/>
              <a:t>common</a:t>
            </a:r>
            <a:r>
              <a:rPr lang="de-DE" b="1"/>
              <a:t> </a:t>
            </a:r>
            <a:r>
              <a:rPr lang="de-DE" b="1" err="1"/>
              <a:t>malignant</a:t>
            </a:r>
            <a:r>
              <a:rPr lang="de-DE" b="1"/>
              <a:t> </a:t>
            </a:r>
            <a:r>
              <a:rPr lang="de-DE" b="1" err="1"/>
              <a:t>tumor</a:t>
            </a:r>
            <a:r>
              <a:rPr lang="de-DE" b="1"/>
              <a:t> in </a:t>
            </a:r>
            <a:r>
              <a:rPr lang="de-DE" b="1" err="1"/>
              <a:t>woman</a:t>
            </a:r>
            <a:r>
              <a:rPr lang="de-DE" b="1"/>
              <a:t> and </a:t>
            </a:r>
            <a:r>
              <a:rPr lang="de-DE" b="1" err="1"/>
              <a:t>one</a:t>
            </a:r>
            <a:r>
              <a:rPr lang="de-DE" b="1"/>
              <a:t> </a:t>
            </a:r>
            <a:r>
              <a:rPr lang="de-DE" b="1" err="1"/>
              <a:t>of</a:t>
            </a:r>
            <a:r>
              <a:rPr lang="de-DE" b="1"/>
              <a:t> </a:t>
            </a:r>
            <a:r>
              <a:rPr lang="de-DE" b="1" err="1"/>
              <a:t>the</a:t>
            </a:r>
            <a:r>
              <a:rPr lang="de-DE" b="1"/>
              <a:t> </a:t>
            </a:r>
            <a:r>
              <a:rPr lang="de-DE" b="1" err="1"/>
              <a:t>main</a:t>
            </a:r>
            <a:r>
              <a:rPr lang="de-DE" b="1"/>
              <a:t> </a:t>
            </a:r>
            <a:r>
              <a:rPr lang="de-DE" b="1" err="1"/>
              <a:t>causes</a:t>
            </a:r>
            <a:r>
              <a:rPr lang="de-DE" b="1"/>
              <a:t> </a:t>
            </a:r>
            <a:r>
              <a:rPr lang="de-DE" b="1" err="1"/>
              <a:t>of</a:t>
            </a:r>
            <a:r>
              <a:rPr lang="de-DE" b="1"/>
              <a:t> </a:t>
            </a:r>
            <a:r>
              <a:rPr lang="de-DE" b="1" err="1"/>
              <a:t>deaths</a:t>
            </a:r>
            <a:r>
              <a:rPr lang="de-DE" b="1"/>
              <a:t> in </a:t>
            </a:r>
            <a:r>
              <a:rPr lang="de-DE" b="1" err="1"/>
              <a:t>woman</a:t>
            </a:r>
            <a:r>
              <a:rPr lang="de-DE" b="1"/>
              <a:t> </a:t>
            </a:r>
            <a:r>
              <a:rPr lang="de-DE" b="1" err="1"/>
              <a:t>worldwide</a:t>
            </a:r>
            <a:r>
              <a:rPr lang="de-DE" b="1"/>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kern="100">
                <a:solidFill>
                  <a:srgbClr val="BEAFFF"/>
                </a:solidFill>
                <a:effectLst/>
                <a:latin typeface="Calibri" panose="020F0502020204030204" pitchFamily="34" charset="0"/>
                <a:ea typeface="Calibri" panose="020F0502020204030204" pitchFamily="34" charset="0"/>
                <a:cs typeface="Times New Roman" panose="02020603050405020304" pitchFamily="18" charset="0"/>
              </a:rPr>
              <a:t>https://www.who.int/news-room/fact-sheets/detail/breast-cancer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kern="100">
                <a:solidFill>
                  <a:srgbClr val="BEAFFF"/>
                </a:solidFill>
                <a:effectLst/>
                <a:latin typeface="Calibri" panose="020F0502020204030204" pitchFamily="34" charset="0"/>
                <a:ea typeface="Calibri" panose="020F0502020204030204" pitchFamily="34" charset="0"/>
                <a:cs typeface="Times New Roman" panose="02020603050405020304" pitchFamily="18" charset="0"/>
              </a:rPr>
              <a:t>https://pubmed.ncbi.nlm.nih.gov/27165206/</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kern="100">
                <a:solidFill>
                  <a:srgbClr val="BEAFFF"/>
                </a:solidFill>
                <a:effectLst/>
                <a:latin typeface="Calibri" panose="020F0502020204030204" pitchFamily="34" charset="0"/>
                <a:ea typeface="Calibri" panose="020F0502020204030204" pitchFamily="34" charset="0"/>
                <a:cs typeface="Times New Roman" panose="02020603050405020304" pitchFamily="18" charset="0"/>
              </a:rPr>
              <a:t>https://www.researchgate.net/figure/Estimated-number-of-cancer-related-deaths-in-2018-among-women-around-the-world_fig2_335057938</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1800" b="1" kern="100">
                <a:effectLst/>
                <a:latin typeface="Calibri" panose="020F0502020204030204" pitchFamily="34" charset="0"/>
                <a:ea typeface="Calibri" panose="020F0502020204030204" pitchFamily="34" charset="0"/>
                <a:cs typeface="Times New Roman" panose="02020603050405020304" pitchFamily="18" charset="0"/>
              </a:rPr>
              <a:t>In </a:t>
            </a:r>
            <a:r>
              <a:rPr lang="de-DE" sz="1800" b="1" kern="100" err="1">
                <a:effectLst/>
                <a:latin typeface="Calibri" panose="020F0502020204030204" pitchFamily="34" charset="0"/>
                <a:ea typeface="Calibri" panose="020F0502020204030204" pitchFamily="34" charset="0"/>
                <a:cs typeface="Times New Roman" panose="02020603050405020304" pitchFamily="18" charset="0"/>
              </a:rPr>
              <a:t>this</a:t>
            </a:r>
            <a:r>
              <a:rPr lang="de-DE" sz="1800" b="1" kern="100">
                <a:effectLst/>
                <a:latin typeface="Calibri" panose="020F0502020204030204" pitchFamily="34" charset="0"/>
                <a:ea typeface="Calibri" panose="020F0502020204030204" pitchFamily="34" charset="0"/>
                <a:cs typeface="Times New Roman" panose="02020603050405020304" pitchFamily="18" charset="0"/>
              </a:rPr>
              <a:t> </a:t>
            </a:r>
            <a:r>
              <a:rPr lang="de-DE" sz="1800" b="1" kern="100" err="1">
                <a:effectLst/>
                <a:latin typeface="Calibri" panose="020F0502020204030204" pitchFamily="34" charset="0"/>
                <a:ea typeface="Calibri" panose="020F0502020204030204" pitchFamily="34" charset="0"/>
                <a:cs typeface="Times New Roman" panose="02020603050405020304" pitchFamily="18" charset="0"/>
              </a:rPr>
              <a:t>project</a:t>
            </a:r>
            <a:r>
              <a:rPr lang="de-DE" sz="1800" b="1" kern="100">
                <a:effectLst/>
                <a:latin typeface="Calibri" panose="020F0502020204030204" pitchFamily="34" charset="0"/>
                <a:ea typeface="Calibri" panose="020F0502020204030204" pitchFamily="34" charset="0"/>
                <a:cs typeface="Times New Roman" panose="02020603050405020304" pitchFamily="18" charset="0"/>
              </a:rPr>
              <a:t> </a:t>
            </a:r>
            <a:r>
              <a:rPr lang="de-DE" sz="1800" b="1" kern="100" err="1">
                <a:effectLst/>
                <a:latin typeface="Calibri" panose="020F0502020204030204" pitchFamily="34" charset="0"/>
                <a:ea typeface="Calibri" panose="020F0502020204030204" pitchFamily="34" charset="0"/>
                <a:cs typeface="Times New Roman" panose="02020603050405020304" pitchFamily="18" charset="0"/>
              </a:rPr>
              <a:t>our</a:t>
            </a:r>
            <a:r>
              <a:rPr lang="de-DE" sz="1800" b="1" kern="100">
                <a:effectLst/>
                <a:latin typeface="Calibri" panose="020F0502020204030204" pitchFamily="34" charset="0"/>
                <a:ea typeface="Calibri" panose="020F0502020204030204" pitchFamily="34" charset="0"/>
                <a:cs typeface="Times New Roman" panose="02020603050405020304" pitchFamily="18" charset="0"/>
              </a:rPr>
              <a:t> </a:t>
            </a:r>
            <a:r>
              <a:rPr lang="de-DE" sz="1800" b="1" kern="100" err="1">
                <a:effectLst/>
                <a:latin typeface="Calibri" panose="020F0502020204030204" pitchFamily="34" charset="0"/>
                <a:ea typeface="Calibri" panose="020F0502020204030204" pitchFamily="34" charset="0"/>
                <a:cs typeface="Times New Roman" panose="02020603050405020304" pitchFamily="18" charset="0"/>
              </a:rPr>
              <a:t>goal</a:t>
            </a:r>
            <a:r>
              <a:rPr lang="de-DE" sz="1800" b="1" kern="100">
                <a:effectLst/>
                <a:latin typeface="Calibri" panose="020F0502020204030204" pitchFamily="34" charset="0"/>
                <a:ea typeface="Calibri" panose="020F0502020204030204" pitchFamily="34" charset="0"/>
                <a:cs typeface="Times New Roman" panose="02020603050405020304" pitchFamily="18" charset="0"/>
              </a:rPr>
              <a:t> </a:t>
            </a:r>
            <a:r>
              <a:rPr lang="de-DE" sz="1800" b="1" kern="100" err="1">
                <a:effectLst/>
                <a:latin typeface="Calibri" panose="020F0502020204030204" pitchFamily="34" charset="0"/>
                <a:ea typeface="Calibri" panose="020F0502020204030204" pitchFamily="34" charset="0"/>
                <a:cs typeface="Times New Roman" panose="02020603050405020304" pitchFamily="18" charset="0"/>
              </a:rPr>
              <a:t>is</a:t>
            </a:r>
            <a:r>
              <a:rPr lang="de-DE" sz="1800" b="1" kern="100">
                <a:effectLst/>
                <a:latin typeface="Calibri" panose="020F0502020204030204" pitchFamily="34" charset="0"/>
                <a:ea typeface="Calibri" panose="020F0502020204030204" pitchFamily="34" charset="0"/>
                <a:cs typeface="Times New Roman" panose="02020603050405020304" pitchFamily="18" charset="0"/>
              </a:rPr>
              <a:t> </a:t>
            </a:r>
            <a:r>
              <a:rPr lang="de-DE" sz="1800" b="1" kern="100" err="1">
                <a:effectLst/>
                <a:latin typeface="Calibri" panose="020F0502020204030204" pitchFamily="34" charset="0"/>
                <a:ea typeface="Calibri" panose="020F0502020204030204" pitchFamily="34" charset="0"/>
                <a:cs typeface="Times New Roman" panose="02020603050405020304" pitchFamily="18" charset="0"/>
              </a:rPr>
              <a:t>to</a:t>
            </a:r>
            <a:r>
              <a:rPr lang="de-DE" sz="1800" b="1" kern="100">
                <a:effectLst/>
                <a:latin typeface="Calibri" panose="020F0502020204030204" pitchFamily="34" charset="0"/>
                <a:ea typeface="Calibri" panose="020F0502020204030204" pitchFamily="34" charset="0"/>
                <a:cs typeface="Times New Roman" panose="02020603050405020304" pitchFamily="18" charset="0"/>
              </a:rPr>
              <a:t> </a:t>
            </a:r>
            <a:r>
              <a:rPr lang="de-DE" sz="1800" b="1" kern="100" err="1">
                <a:effectLst/>
                <a:latin typeface="Calibri" panose="020F0502020204030204" pitchFamily="34" charset="0"/>
                <a:ea typeface="Calibri" panose="020F0502020204030204" pitchFamily="34" charset="0"/>
                <a:cs typeface="Times New Roman" panose="02020603050405020304" pitchFamily="18" charset="0"/>
              </a:rPr>
              <a:t>investigate</a:t>
            </a:r>
            <a:r>
              <a:rPr lang="de-DE" sz="1800" b="1" kern="100">
                <a:effectLst/>
                <a:latin typeface="Calibri" panose="020F0502020204030204" pitchFamily="34" charset="0"/>
                <a:ea typeface="Calibri" panose="020F0502020204030204" pitchFamily="34" charset="0"/>
                <a:cs typeface="Times New Roman" panose="02020603050405020304" pitchFamily="18" charset="0"/>
              </a:rPr>
              <a:t> </a:t>
            </a:r>
            <a:r>
              <a:rPr lang="de-DE" sz="1800" b="1" kern="100" err="1">
                <a:effectLst/>
                <a:latin typeface="Calibri" panose="020F0502020204030204" pitchFamily="34" charset="0"/>
                <a:ea typeface="Calibri" panose="020F0502020204030204" pitchFamily="34" charset="0"/>
                <a:cs typeface="Times New Roman" panose="02020603050405020304" pitchFamily="18" charset="0"/>
              </a:rPr>
              <a:t>breast</a:t>
            </a:r>
            <a:r>
              <a:rPr lang="de-DE" sz="1800" b="1" kern="100">
                <a:effectLst/>
                <a:latin typeface="Calibri" panose="020F0502020204030204" pitchFamily="34" charset="0"/>
                <a:ea typeface="Calibri" panose="020F0502020204030204" pitchFamily="34" charset="0"/>
                <a:cs typeface="Times New Roman" panose="02020603050405020304" pitchFamily="18" charset="0"/>
              </a:rPr>
              <a:t> </a:t>
            </a:r>
            <a:r>
              <a:rPr lang="de-DE" sz="1800" b="1" kern="100" err="1">
                <a:effectLst/>
                <a:latin typeface="Calibri" panose="020F0502020204030204" pitchFamily="34" charset="0"/>
                <a:ea typeface="Calibri" panose="020F0502020204030204" pitchFamily="34" charset="0"/>
                <a:cs typeface="Times New Roman" panose="02020603050405020304" pitchFamily="18" charset="0"/>
              </a:rPr>
              <a:t>cancer</a:t>
            </a:r>
            <a:r>
              <a:rPr lang="de-DE" sz="1800" b="1" kern="100">
                <a:effectLst/>
                <a:latin typeface="Calibri" panose="020F0502020204030204" pitchFamily="34" charset="0"/>
                <a:ea typeface="Calibri" panose="020F0502020204030204" pitchFamily="34" charset="0"/>
                <a:cs typeface="Times New Roman" panose="02020603050405020304" pitchFamily="18" charset="0"/>
              </a:rPr>
              <a:t> </a:t>
            </a:r>
            <a:r>
              <a:rPr lang="de-DE" sz="1800" b="1" kern="100" err="1">
                <a:effectLst/>
                <a:latin typeface="Calibri" panose="020F0502020204030204" pitchFamily="34" charset="0"/>
                <a:ea typeface="Calibri" panose="020F0502020204030204" pitchFamily="34" charset="0"/>
                <a:cs typeface="Times New Roman" panose="02020603050405020304" pitchFamily="18" charset="0"/>
              </a:rPr>
              <a:t>epigenetis</a:t>
            </a:r>
            <a:r>
              <a:rPr lang="de-DE" sz="1800" b="1" kern="100">
                <a:effectLst/>
                <a:latin typeface="Calibri" panose="020F0502020204030204" pitchFamily="34" charset="0"/>
                <a:ea typeface="Calibri" panose="020F0502020204030204" pitchFamily="34" charset="0"/>
                <a:cs typeface="Times New Roman" panose="02020603050405020304" pitchFamily="18" charset="0"/>
              </a:rPr>
              <a:t> and </a:t>
            </a:r>
            <a:r>
              <a:rPr lang="de-DE" sz="1800" b="1" kern="100" err="1">
                <a:effectLst/>
                <a:latin typeface="Calibri" panose="020F0502020204030204" pitchFamily="34" charset="0"/>
                <a:ea typeface="Calibri" panose="020F0502020204030204" pitchFamily="34" charset="0"/>
                <a:cs typeface="Times New Roman" panose="02020603050405020304" pitchFamily="18" charset="0"/>
              </a:rPr>
              <a:t>trying</a:t>
            </a:r>
            <a:r>
              <a:rPr lang="de-DE" sz="1800" b="1" kern="100">
                <a:effectLst/>
                <a:latin typeface="Calibri" panose="020F0502020204030204" pitchFamily="34" charset="0"/>
                <a:ea typeface="Calibri" panose="020F0502020204030204" pitchFamily="34" charset="0"/>
                <a:cs typeface="Times New Roman" panose="02020603050405020304" pitchFamily="18" charset="0"/>
              </a:rPr>
              <a:t> </a:t>
            </a:r>
            <a:r>
              <a:rPr lang="de-DE" sz="1800" b="1" kern="100" err="1">
                <a:effectLst/>
                <a:latin typeface="Calibri" panose="020F0502020204030204" pitchFamily="34" charset="0"/>
                <a:ea typeface="Calibri" panose="020F0502020204030204" pitchFamily="34" charset="0"/>
                <a:cs typeface="Times New Roman" panose="02020603050405020304" pitchFamily="18" charset="0"/>
              </a:rPr>
              <a:t>to</a:t>
            </a:r>
            <a:r>
              <a:rPr lang="de-DE" sz="1800" b="1" kern="100">
                <a:effectLst/>
                <a:latin typeface="Calibri" panose="020F0502020204030204" pitchFamily="34" charset="0"/>
                <a:ea typeface="Calibri" panose="020F0502020204030204" pitchFamily="34" charset="0"/>
                <a:cs typeface="Times New Roman" panose="02020603050405020304" pitchFamily="18" charset="0"/>
              </a:rPr>
              <a:t> </a:t>
            </a:r>
            <a:r>
              <a:rPr lang="de-DE" sz="1800" b="1" kern="100" err="1">
                <a:effectLst/>
                <a:latin typeface="Calibri" panose="020F0502020204030204" pitchFamily="34" charset="0"/>
                <a:ea typeface="Calibri" panose="020F0502020204030204" pitchFamily="34" charset="0"/>
                <a:cs typeface="Times New Roman" panose="02020603050405020304" pitchFamily="18" charset="0"/>
              </a:rPr>
              <a:t>see</a:t>
            </a:r>
            <a:r>
              <a:rPr lang="de-DE" sz="1800" b="1" kern="100">
                <a:effectLst/>
                <a:latin typeface="Calibri" panose="020F0502020204030204" pitchFamily="34" charset="0"/>
                <a:ea typeface="Calibri" panose="020F0502020204030204" pitchFamily="34" charset="0"/>
                <a:cs typeface="Times New Roman" panose="02020603050405020304" pitchFamily="18" charset="0"/>
              </a:rPr>
              <a:t> </a:t>
            </a:r>
            <a:r>
              <a:rPr lang="de-DE" sz="1800" b="1" kern="100" err="1">
                <a:effectLst/>
                <a:latin typeface="Calibri" panose="020F0502020204030204" pitchFamily="34" charset="0"/>
                <a:ea typeface="Calibri" panose="020F0502020204030204" pitchFamily="34" charset="0"/>
                <a:cs typeface="Times New Roman" panose="02020603050405020304" pitchFamily="18" charset="0"/>
              </a:rPr>
              <a:t>if</a:t>
            </a:r>
            <a:r>
              <a:rPr lang="de-DE" sz="1800" b="1" kern="100">
                <a:effectLst/>
                <a:latin typeface="Calibri" panose="020F0502020204030204" pitchFamily="34" charset="0"/>
                <a:ea typeface="Calibri" panose="020F0502020204030204" pitchFamily="34" charset="0"/>
                <a:cs typeface="Times New Roman" panose="02020603050405020304" pitchFamily="18" charset="0"/>
              </a:rPr>
              <a:t> </a:t>
            </a:r>
            <a:r>
              <a:rPr lang="de-DE" sz="1800" b="1" kern="100" err="1">
                <a:effectLst/>
                <a:latin typeface="Calibri" panose="020F0502020204030204" pitchFamily="34" charset="0"/>
                <a:ea typeface="Calibri" panose="020F0502020204030204" pitchFamily="34" charset="0"/>
                <a:cs typeface="Times New Roman" panose="02020603050405020304" pitchFamily="18" charset="0"/>
              </a:rPr>
              <a:t>there</a:t>
            </a:r>
            <a:r>
              <a:rPr lang="de-DE" sz="1800" b="1" kern="100">
                <a:effectLst/>
                <a:latin typeface="Calibri" panose="020F0502020204030204" pitchFamily="34" charset="0"/>
                <a:ea typeface="Calibri" panose="020F0502020204030204" pitchFamily="34" charset="0"/>
                <a:cs typeface="Times New Roman" panose="02020603050405020304" pitchFamily="18" charset="0"/>
              </a:rPr>
              <a:t> </a:t>
            </a:r>
            <a:r>
              <a:rPr lang="de-DE" sz="1800" b="1" kern="100" err="1">
                <a:effectLst/>
                <a:latin typeface="Calibri" panose="020F0502020204030204" pitchFamily="34" charset="0"/>
                <a:ea typeface="Calibri" panose="020F0502020204030204" pitchFamily="34" charset="0"/>
                <a:cs typeface="Times New Roman" panose="02020603050405020304" pitchFamily="18" charset="0"/>
              </a:rPr>
              <a:t>are</a:t>
            </a:r>
            <a:r>
              <a:rPr lang="de-DE" sz="1800" b="1" kern="100">
                <a:effectLst/>
                <a:latin typeface="Calibri" panose="020F0502020204030204" pitchFamily="34" charset="0"/>
                <a:ea typeface="Calibri" panose="020F0502020204030204" pitchFamily="34" charset="0"/>
                <a:cs typeface="Times New Roman" panose="02020603050405020304" pitchFamily="18" charset="0"/>
              </a:rPr>
              <a:t> </a:t>
            </a:r>
            <a:r>
              <a:rPr lang="de-DE" sz="1800" b="1" kern="100" err="1">
                <a:effectLst/>
                <a:latin typeface="Calibri" panose="020F0502020204030204" pitchFamily="34" charset="0"/>
                <a:ea typeface="Calibri" panose="020F0502020204030204" pitchFamily="34" charset="0"/>
                <a:cs typeface="Times New Roman" panose="02020603050405020304" pitchFamily="18" charset="0"/>
              </a:rPr>
              <a:t>unique</a:t>
            </a:r>
            <a:r>
              <a:rPr lang="de-DE" sz="1800" b="1" kern="100">
                <a:effectLst/>
                <a:latin typeface="Calibri" panose="020F0502020204030204" pitchFamily="34" charset="0"/>
                <a:ea typeface="Calibri" panose="020F0502020204030204" pitchFamily="34" charset="0"/>
                <a:cs typeface="Times New Roman" panose="02020603050405020304" pitchFamily="18" charset="0"/>
              </a:rPr>
              <a:t> </a:t>
            </a:r>
            <a:r>
              <a:rPr lang="de-DE" sz="1800" b="1" kern="100" err="1">
                <a:effectLst/>
                <a:latin typeface="Calibri" panose="020F0502020204030204" pitchFamily="34" charset="0"/>
                <a:ea typeface="Calibri" panose="020F0502020204030204" pitchFamily="34" charset="0"/>
                <a:cs typeface="Times New Roman" panose="02020603050405020304" pitchFamily="18" charset="0"/>
              </a:rPr>
              <a:t>cpg</a:t>
            </a:r>
            <a:r>
              <a:rPr lang="de-DE" sz="1800" b="1" kern="100">
                <a:effectLst/>
                <a:latin typeface="Calibri" panose="020F0502020204030204" pitchFamily="34" charset="0"/>
                <a:ea typeface="Calibri" panose="020F0502020204030204" pitchFamily="34" charset="0"/>
                <a:cs typeface="Times New Roman" panose="02020603050405020304" pitchFamily="18" charset="0"/>
              </a:rPr>
              <a:t> methylation </a:t>
            </a:r>
            <a:r>
              <a:rPr lang="de-DE" sz="1800" b="1" kern="100" err="1">
                <a:effectLst/>
                <a:latin typeface="Calibri" panose="020F0502020204030204" pitchFamily="34" charset="0"/>
                <a:ea typeface="Calibri" panose="020F0502020204030204" pitchFamily="34" charset="0"/>
                <a:cs typeface="Times New Roman" panose="02020603050405020304" pitchFamily="18" charset="0"/>
              </a:rPr>
              <a:t>patterns</a:t>
            </a:r>
            <a:r>
              <a:rPr lang="de-DE" sz="1800" b="1" kern="100">
                <a:effectLst/>
                <a:latin typeface="Calibri" panose="020F0502020204030204" pitchFamily="34" charset="0"/>
                <a:ea typeface="Calibri" panose="020F0502020204030204" pitchFamily="34" charset="0"/>
                <a:cs typeface="Times New Roman" panose="02020603050405020304" pitchFamily="18" charset="0"/>
              </a:rPr>
              <a:t> in BRCA </a:t>
            </a:r>
            <a:r>
              <a:rPr lang="de-DE" sz="1800" b="1" kern="100" err="1">
                <a:effectLst/>
                <a:latin typeface="Calibri" panose="020F0502020204030204" pitchFamily="34" charset="0"/>
                <a:ea typeface="Calibri" panose="020F0502020204030204" pitchFamily="34" charset="0"/>
                <a:cs typeface="Times New Roman" panose="02020603050405020304" pitchFamily="18" charset="0"/>
              </a:rPr>
              <a:t>pathogenesis</a:t>
            </a:r>
            <a:endParaRPr lang="de-DE" sz="1800" b="1" kern="100">
              <a:effectLst/>
              <a:latin typeface="Calibri" panose="020F0502020204030204" pitchFamily="34" charset="0"/>
              <a:ea typeface="Calibri" panose="020F0502020204030204" pitchFamily="34" charset="0"/>
              <a:cs typeface="Times New Roman" panose="02020603050405020304" pitchFamily="18" charset="0"/>
            </a:endParaRPr>
          </a:p>
          <a:p>
            <a:pPr marL="171450" indent="-171450">
              <a:buFont typeface="Arial" panose="020B0604020202020204" pitchFamily="34" charset="0"/>
              <a:buChar char="•"/>
            </a:pPr>
            <a:endParaRPr lang="de-DE"/>
          </a:p>
        </p:txBody>
      </p:sp>
      <p:sp>
        <p:nvSpPr>
          <p:cNvPr id="4" name="Foliennummernplatzhalter 3"/>
          <p:cNvSpPr>
            <a:spLocks noGrp="1"/>
          </p:cNvSpPr>
          <p:nvPr>
            <p:ph type="sldNum" sz="quarter" idx="5"/>
          </p:nvPr>
        </p:nvSpPr>
        <p:spPr/>
        <p:txBody>
          <a:bodyPr/>
          <a:lstStyle/>
          <a:p>
            <a:fld id="{CCFEEF56-19F4-43EA-BED7-94DDD331E95E}" type="slidenum">
              <a:rPr lang="de-DE" smtClean="0"/>
              <a:t>1</a:t>
            </a:fld>
            <a:endParaRPr lang="de-DE"/>
          </a:p>
        </p:txBody>
      </p:sp>
    </p:spTree>
    <p:extLst>
      <p:ext uri="{BB962C8B-B14F-4D97-AF65-F5344CB8AC3E}">
        <p14:creationId xmlns:p14="http://schemas.microsoft.com/office/powerpoint/2010/main" val="109152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pPr>
            <a:r>
              <a:rPr lang="de-DE" err="1"/>
              <a:t>Lets</a:t>
            </a:r>
            <a:r>
              <a:rPr lang="de-DE"/>
              <a:t> </a:t>
            </a:r>
            <a:r>
              <a:rPr lang="de-DE" err="1"/>
              <a:t>quickly</a:t>
            </a:r>
            <a:r>
              <a:rPr lang="de-DE"/>
              <a:t> </a:t>
            </a:r>
            <a:r>
              <a:rPr lang="de-DE" err="1"/>
              <a:t>take</a:t>
            </a:r>
            <a:r>
              <a:rPr lang="de-DE"/>
              <a:t> a </a:t>
            </a:r>
            <a:r>
              <a:rPr lang="de-DE" err="1"/>
              <a:t>closer</a:t>
            </a:r>
            <a:r>
              <a:rPr lang="de-DE"/>
              <a:t> </a:t>
            </a:r>
            <a:r>
              <a:rPr lang="de-DE" err="1"/>
              <a:t>look</a:t>
            </a:r>
            <a:r>
              <a:rPr lang="de-DE"/>
              <a:t> at DNA methylation</a:t>
            </a:r>
          </a:p>
          <a:p>
            <a:pPr marL="171450" indent="-171450">
              <a:buFont typeface="Arial" panose="020B0604020202020204" pitchFamily="34" charset="0"/>
              <a:buChar char="•"/>
            </a:pPr>
            <a:r>
              <a:rPr lang="de-DE"/>
              <a:t>DNA methylation </a:t>
            </a:r>
            <a:r>
              <a:rPr lang="de-DE" err="1"/>
              <a:t>is</a:t>
            </a:r>
            <a:r>
              <a:rPr lang="de-DE"/>
              <a:t> an </a:t>
            </a:r>
            <a:r>
              <a:rPr lang="de-DE" err="1"/>
              <a:t>epigenetic</a:t>
            </a:r>
            <a:r>
              <a:rPr lang="de-DE"/>
              <a:t> </a:t>
            </a:r>
            <a:r>
              <a:rPr lang="de-DE" err="1"/>
              <a:t>mechanism</a:t>
            </a:r>
            <a:r>
              <a:rPr lang="de-DE"/>
              <a:t> in </a:t>
            </a:r>
            <a:r>
              <a:rPr lang="de-DE" err="1"/>
              <a:t>which</a:t>
            </a:r>
            <a:r>
              <a:rPr lang="de-DE"/>
              <a:t> a </a:t>
            </a:r>
            <a:r>
              <a:rPr lang="de-DE" err="1"/>
              <a:t>methyl</a:t>
            </a:r>
            <a:r>
              <a:rPr lang="de-DE"/>
              <a:t> </a:t>
            </a:r>
            <a:r>
              <a:rPr lang="de-DE" err="1"/>
              <a:t>group</a:t>
            </a:r>
            <a:r>
              <a:rPr lang="de-DE"/>
              <a:t> </a:t>
            </a:r>
            <a:r>
              <a:rPr lang="de-DE" err="1"/>
              <a:t>is</a:t>
            </a:r>
            <a:r>
              <a:rPr lang="de-DE"/>
              <a:t> </a:t>
            </a:r>
            <a:r>
              <a:rPr lang="de-DE" err="1"/>
              <a:t>added</a:t>
            </a:r>
            <a:r>
              <a:rPr lang="de-DE"/>
              <a:t> </a:t>
            </a:r>
            <a:r>
              <a:rPr lang="de-DE" err="1"/>
              <a:t>to</a:t>
            </a:r>
            <a:r>
              <a:rPr lang="de-DE"/>
              <a:t> </a:t>
            </a:r>
            <a:r>
              <a:rPr lang="de-DE" err="1"/>
              <a:t>the</a:t>
            </a:r>
            <a:r>
              <a:rPr lang="de-DE"/>
              <a:t> 5th </a:t>
            </a:r>
            <a:r>
              <a:rPr lang="de-DE" err="1"/>
              <a:t>carbon</a:t>
            </a:r>
            <a:r>
              <a:rPr lang="de-DE"/>
              <a:t> </a:t>
            </a:r>
            <a:r>
              <a:rPr lang="de-DE" err="1"/>
              <a:t>of</a:t>
            </a:r>
            <a:r>
              <a:rPr lang="de-DE"/>
              <a:t> </a:t>
            </a:r>
            <a:r>
              <a:rPr lang="de-DE" err="1"/>
              <a:t>cytosin</a:t>
            </a:r>
            <a:r>
              <a:rPr lang="de-DE"/>
              <a:t> (</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a:t>
            </a:r>
          </a:p>
          <a:p>
            <a:pPr marL="171450" indent="-171450">
              <a:buFont typeface="Arial" panose="020B0604020202020204" pitchFamily="34" charset="0"/>
              <a:buChar char="•"/>
            </a:pPr>
            <a:r>
              <a:rPr lang="de-DE"/>
              <a:t>This </a:t>
            </a:r>
            <a:r>
              <a:rPr lang="de-DE" err="1"/>
              <a:t>reaction</a:t>
            </a:r>
            <a:r>
              <a:rPr lang="de-DE"/>
              <a:t> </a:t>
            </a:r>
            <a:r>
              <a:rPr lang="de-DE" err="1"/>
              <a:t>is</a:t>
            </a:r>
            <a:r>
              <a:rPr lang="de-DE"/>
              <a:t> </a:t>
            </a:r>
            <a:r>
              <a:rPr lang="de-DE" err="1"/>
              <a:t>catalyzed</a:t>
            </a:r>
            <a:r>
              <a:rPr lang="de-DE"/>
              <a:t> </a:t>
            </a:r>
            <a:r>
              <a:rPr lang="de-DE" err="1"/>
              <a:t>by</a:t>
            </a:r>
            <a:r>
              <a:rPr lang="de-DE"/>
              <a:t> DNA </a:t>
            </a:r>
            <a:r>
              <a:rPr lang="de-DE" err="1"/>
              <a:t>methyltransferase</a:t>
            </a:r>
            <a:r>
              <a:rPr lang="de-DE"/>
              <a:t> and </a:t>
            </a:r>
            <a:r>
              <a:rPr lang="de-DE" err="1"/>
              <a:t>mainly</a:t>
            </a:r>
            <a:r>
              <a:rPr lang="de-DE"/>
              <a:t> </a:t>
            </a:r>
            <a:r>
              <a:rPr lang="de-DE" err="1"/>
              <a:t>occures</a:t>
            </a:r>
            <a:r>
              <a:rPr lang="de-DE"/>
              <a:t> in CG </a:t>
            </a:r>
            <a:r>
              <a:rPr lang="de-DE" err="1"/>
              <a:t>sequences</a:t>
            </a:r>
            <a:r>
              <a:rPr lang="de-DE"/>
              <a:t> also </a:t>
            </a:r>
            <a:r>
              <a:rPr lang="de-DE" err="1"/>
              <a:t>reffered</a:t>
            </a:r>
            <a:r>
              <a:rPr lang="de-DE"/>
              <a:t> </a:t>
            </a:r>
            <a:r>
              <a:rPr lang="de-DE" err="1"/>
              <a:t>to</a:t>
            </a:r>
            <a:r>
              <a:rPr lang="de-DE"/>
              <a:t> </a:t>
            </a:r>
            <a:r>
              <a:rPr lang="de-DE" err="1"/>
              <a:t>as</a:t>
            </a:r>
            <a:r>
              <a:rPr lang="de-DE"/>
              <a:t> </a:t>
            </a:r>
            <a:r>
              <a:rPr lang="de-DE" err="1"/>
              <a:t>CpG</a:t>
            </a:r>
            <a:r>
              <a:rPr lang="de-DE"/>
              <a:t> </a:t>
            </a:r>
            <a:r>
              <a:rPr lang="de-DE" err="1"/>
              <a:t>dinucleotides</a:t>
            </a:r>
            <a:r>
              <a:rPr lang="de-DE"/>
              <a:t>(</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 </a:t>
            </a:r>
          </a:p>
          <a:p>
            <a:pPr marL="171450" indent="-171450">
              <a:buFont typeface="Arial" panose="020B0604020202020204" pitchFamily="34" charset="0"/>
              <a:buChar char="•"/>
            </a:pPr>
            <a:r>
              <a:rPr lang="de-DE"/>
              <a:t>This </a:t>
            </a:r>
            <a:r>
              <a:rPr lang="de-DE" err="1"/>
              <a:t>constellation</a:t>
            </a:r>
            <a:r>
              <a:rPr lang="de-DE"/>
              <a:t> </a:t>
            </a:r>
            <a:r>
              <a:rPr lang="de-DE" err="1"/>
              <a:t>allows</a:t>
            </a:r>
            <a:r>
              <a:rPr lang="de-DE"/>
              <a:t> </a:t>
            </a:r>
            <a:r>
              <a:rPr lang="de-DE" err="1"/>
              <a:t>the</a:t>
            </a:r>
            <a:r>
              <a:rPr lang="de-DE"/>
              <a:t> </a:t>
            </a:r>
            <a:r>
              <a:rPr lang="de-DE" err="1"/>
              <a:t>myelination</a:t>
            </a:r>
            <a:r>
              <a:rPr lang="de-DE"/>
              <a:t> </a:t>
            </a:r>
            <a:r>
              <a:rPr lang="de-DE" err="1"/>
              <a:t>pattern</a:t>
            </a:r>
            <a:r>
              <a:rPr lang="de-DE"/>
              <a:t> </a:t>
            </a:r>
            <a:r>
              <a:rPr lang="de-DE" err="1"/>
              <a:t>of</a:t>
            </a:r>
            <a:r>
              <a:rPr lang="de-DE"/>
              <a:t> </a:t>
            </a:r>
            <a:r>
              <a:rPr lang="de-DE" err="1"/>
              <a:t>the</a:t>
            </a:r>
            <a:r>
              <a:rPr lang="de-DE"/>
              <a:t> </a:t>
            </a:r>
            <a:r>
              <a:rPr lang="de-DE" err="1"/>
              <a:t>mother</a:t>
            </a:r>
            <a:r>
              <a:rPr lang="de-DE"/>
              <a:t> </a:t>
            </a:r>
            <a:r>
              <a:rPr lang="de-DE" err="1"/>
              <a:t>strand</a:t>
            </a:r>
            <a:r>
              <a:rPr lang="de-DE"/>
              <a:t> </a:t>
            </a:r>
            <a:r>
              <a:rPr lang="de-DE" err="1"/>
              <a:t>to</a:t>
            </a:r>
            <a:r>
              <a:rPr lang="de-DE"/>
              <a:t> </a:t>
            </a:r>
            <a:r>
              <a:rPr lang="de-DE" err="1"/>
              <a:t>be</a:t>
            </a:r>
            <a:r>
              <a:rPr lang="de-DE"/>
              <a:t> </a:t>
            </a:r>
            <a:r>
              <a:rPr lang="de-DE" err="1"/>
              <a:t>copied</a:t>
            </a:r>
            <a:r>
              <a:rPr lang="de-DE"/>
              <a:t> </a:t>
            </a:r>
            <a:r>
              <a:rPr lang="de-DE" err="1"/>
              <a:t>to</a:t>
            </a:r>
            <a:r>
              <a:rPr lang="de-DE"/>
              <a:t> </a:t>
            </a:r>
            <a:r>
              <a:rPr lang="de-DE" err="1"/>
              <a:t>the</a:t>
            </a:r>
            <a:r>
              <a:rPr lang="de-DE"/>
              <a:t> </a:t>
            </a:r>
            <a:r>
              <a:rPr lang="de-DE" err="1"/>
              <a:t>daugther</a:t>
            </a:r>
            <a:r>
              <a:rPr lang="de-DE"/>
              <a:t> </a:t>
            </a:r>
            <a:r>
              <a:rPr lang="de-DE" err="1"/>
              <a:t>strands</a:t>
            </a:r>
            <a:r>
              <a:rPr lang="de-DE"/>
              <a:t> in DNA </a:t>
            </a:r>
            <a:r>
              <a:rPr lang="de-DE" err="1"/>
              <a:t>replication</a:t>
            </a:r>
            <a:endParaRPr lang="de-DE"/>
          </a:p>
          <a:p>
            <a:pPr marL="171450" indent="-171450">
              <a:buFont typeface="Arial" panose="020B0604020202020204" pitchFamily="34" charset="0"/>
              <a:buChar char="•"/>
            </a:pPr>
            <a:r>
              <a:rPr lang="en-US"/>
              <a:t>CpG islands are DNA regions typically around 1000 base pairs in length and characterized by a higher density of CpG</a:t>
            </a:r>
          </a:p>
          <a:p>
            <a:pPr marL="171450" indent="-171450">
              <a:buFont typeface="Arial" panose="020B0604020202020204" pitchFamily="34" charset="0"/>
              <a:buChar char="•"/>
            </a:pPr>
            <a:r>
              <a:rPr lang="en-US"/>
              <a:t>Ca 60% of gene promotors are located in CpG island including important house keeping genes </a:t>
            </a:r>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de-DE"/>
          </a:p>
          <a:p>
            <a:pPr marL="171450" indent="-171450">
              <a:buFont typeface="Arial" panose="020B0604020202020204" pitchFamily="34" charset="0"/>
              <a:buChar char="•"/>
            </a:pPr>
            <a:endParaRPr lang="de-DE"/>
          </a:p>
        </p:txBody>
      </p:sp>
      <p:sp>
        <p:nvSpPr>
          <p:cNvPr id="4" name="Foliennummernplatzhalter 3"/>
          <p:cNvSpPr>
            <a:spLocks noGrp="1"/>
          </p:cNvSpPr>
          <p:nvPr>
            <p:ph type="sldNum" sz="quarter" idx="5"/>
          </p:nvPr>
        </p:nvSpPr>
        <p:spPr/>
        <p:txBody>
          <a:bodyPr/>
          <a:lstStyle/>
          <a:p>
            <a:fld id="{CCFEEF56-19F4-43EA-BED7-94DDD331E95E}" type="slidenum">
              <a:rPr lang="de-DE" smtClean="0"/>
              <a:t>2</a:t>
            </a:fld>
            <a:endParaRPr lang="de-DE"/>
          </a:p>
        </p:txBody>
      </p:sp>
    </p:spTree>
    <p:extLst>
      <p:ext uri="{BB962C8B-B14F-4D97-AF65-F5344CB8AC3E}">
        <p14:creationId xmlns:p14="http://schemas.microsoft.com/office/powerpoint/2010/main" val="3453559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pPr>
            <a:r>
              <a:rPr lang="en-US"/>
              <a:t>DNA methylation is necessary for proper gene regulation</a:t>
            </a:r>
            <a:endParaRPr lang="de-DE"/>
          </a:p>
          <a:p>
            <a:pPr marL="171450" indent="-171450">
              <a:buFont typeface="Arial" panose="020B0604020202020204" pitchFamily="34" charset="0"/>
              <a:buChar char="•"/>
            </a:pPr>
            <a:r>
              <a:rPr lang="de-DE" err="1"/>
              <a:t>Methylation</a:t>
            </a:r>
            <a:r>
              <a:rPr lang="de-DE"/>
              <a:t> </a:t>
            </a:r>
            <a:r>
              <a:rPr lang="de-DE" err="1"/>
              <a:t>of</a:t>
            </a:r>
            <a:r>
              <a:rPr lang="de-DE"/>
              <a:t> </a:t>
            </a:r>
            <a:r>
              <a:rPr lang="de-DE" err="1"/>
              <a:t>promotor</a:t>
            </a:r>
            <a:r>
              <a:rPr lang="de-DE"/>
              <a:t> and </a:t>
            </a:r>
            <a:r>
              <a:rPr lang="de-DE" err="1"/>
              <a:t>first</a:t>
            </a:r>
            <a:r>
              <a:rPr lang="de-DE"/>
              <a:t> </a:t>
            </a:r>
            <a:r>
              <a:rPr lang="de-DE" err="1"/>
              <a:t>exon</a:t>
            </a:r>
            <a:r>
              <a:rPr lang="de-DE"/>
              <a:t> </a:t>
            </a:r>
            <a:r>
              <a:rPr lang="de-DE" err="1"/>
              <a:t>cause</a:t>
            </a:r>
            <a:r>
              <a:rPr lang="de-DE"/>
              <a:t> </a:t>
            </a:r>
            <a:r>
              <a:rPr lang="de-DE" err="1"/>
              <a:t>gene</a:t>
            </a:r>
            <a:r>
              <a:rPr lang="de-DE"/>
              <a:t> </a:t>
            </a:r>
            <a:r>
              <a:rPr lang="de-DE" err="1"/>
              <a:t>silence</a:t>
            </a:r>
            <a:r>
              <a:rPr lang="de-DE"/>
              <a:t> </a:t>
            </a:r>
          </a:p>
          <a:p>
            <a:pPr marL="171450" indent="-171450">
              <a:buFont typeface="Arial" panose="020B0604020202020204" pitchFamily="34" charset="0"/>
              <a:buChar char="•"/>
            </a:pPr>
            <a:r>
              <a:rPr lang="de-DE"/>
              <a:t>As I </a:t>
            </a:r>
            <a:r>
              <a:rPr lang="de-DE" err="1"/>
              <a:t>said</a:t>
            </a:r>
            <a:r>
              <a:rPr lang="de-DE"/>
              <a:t> </a:t>
            </a:r>
            <a:r>
              <a:rPr lang="de-DE" err="1"/>
              <a:t>before</a:t>
            </a:r>
            <a:r>
              <a:rPr lang="de-DE"/>
              <a:t> </a:t>
            </a:r>
            <a:r>
              <a:rPr lang="de-DE" err="1"/>
              <a:t>many</a:t>
            </a:r>
            <a:r>
              <a:rPr lang="de-DE"/>
              <a:t> </a:t>
            </a:r>
            <a:r>
              <a:rPr lang="de-DE" err="1"/>
              <a:t>promotors</a:t>
            </a:r>
            <a:r>
              <a:rPr lang="de-DE"/>
              <a:t> </a:t>
            </a:r>
            <a:r>
              <a:rPr lang="de-DE" err="1"/>
              <a:t>are</a:t>
            </a:r>
            <a:r>
              <a:rPr lang="de-DE"/>
              <a:t> </a:t>
            </a:r>
            <a:r>
              <a:rPr lang="de-DE" err="1"/>
              <a:t>located</a:t>
            </a:r>
            <a:r>
              <a:rPr lang="de-DE"/>
              <a:t> in </a:t>
            </a:r>
            <a:r>
              <a:rPr lang="de-DE" err="1"/>
              <a:t>CpG</a:t>
            </a:r>
            <a:r>
              <a:rPr lang="de-DE"/>
              <a:t> </a:t>
            </a:r>
            <a:r>
              <a:rPr lang="de-DE" err="1"/>
              <a:t>island</a:t>
            </a:r>
            <a:r>
              <a:rPr lang="de-DE"/>
              <a:t> </a:t>
            </a:r>
            <a:r>
              <a:rPr lang="de-DE" err="1"/>
              <a:t>which</a:t>
            </a:r>
            <a:r>
              <a:rPr lang="de-DE"/>
              <a:t> </a:t>
            </a:r>
            <a:r>
              <a:rPr lang="de-DE" err="1"/>
              <a:t>are</a:t>
            </a:r>
            <a:r>
              <a:rPr lang="de-DE"/>
              <a:t> </a:t>
            </a:r>
            <a:r>
              <a:rPr lang="de-DE" err="1"/>
              <a:t>mainly</a:t>
            </a:r>
            <a:r>
              <a:rPr lang="de-DE"/>
              <a:t> </a:t>
            </a:r>
            <a:r>
              <a:rPr lang="de-DE" err="1"/>
              <a:t>unmethylated</a:t>
            </a:r>
            <a:r>
              <a:rPr lang="de-DE"/>
              <a:t>, but </a:t>
            </a:r>
            <a:r>
              <a:rPr lang="de-DE" err="1"/>
              <a:t>if</a:t>
            </a:r>
            <a:r>
              <a:rPr lang="de-DE"/>
              <a:t> </a:t>
            </a:r>
            <a:r>
              <a:rPr lang="de-DE" err="1"/>
              <a:t>they</a:t>
            </a:r>
            <a:r>
              <a:rPr lang="de-DE"/>
              <a:t> </a:t>
            </a:r>
            <a:r>
              <a:rPr lang="de-DE" err="1"/>
              <a:t>are</a:t>
            </a:r>
            <a:r>
              <a:rPr lang="de-DE"/>
              <a:t> (in a rare </a:t>
            </a:r>
            <a:r>
              <a:rPr lang="de-DE" err="1"/>
              <a:t>case</a:t>
            </a:r>
            <a:r>
              <a:rPr lang="de-DE"/>
              <a:t>)</a:t>
            </a:r>
            <a:r>
              <a:rPr lang="de-DE" err="1"/>
              <a:t>methylated</a:t>
            </a:r>
            <a:r>
              <a:rPr lang="de-DE"/>
              <a:t> </a:t>
            </a:r>
            <a:r>
              <a:rPr lang="de-DE" err="1"/>
              <a:t>the</a:t>
            </a:r>
            <a:r>
              <a:rPr lang="de-DE"/>
              <a:t> </a:t>
            </a:r>
            <a:r>
              <a:rPr lang="de-DE" err="1"/>
              <a:t>gens</a:t>
            </a:r>
            <a:r>
              <a:rPr lang="de-DE"/>
              <a:t> </a:t>
            </a:r>
            <a:r>
              <a:rPr lang="de-DE" err="1"/>
              <a:t>are</a:t>
            </a:r>
            <a:endParaRPr lang="de-DE"/>
          </a:p>
          <a:p>
            <a:r>
              <a:rPr lang="de-DE"/>
              <a:t> </a:t>
            </a:r>
            <a:r>
              <a:rPr lang="de-DE" err="1"/>
              <a:t>scilenced</a:t>
            </a:r>
            <a:r>
              <a:rPr lang="de-DE"/>
              <a:t>(</a:t>
            </a:r>
            <a:r>
              <a:rPr lang="de-DE" err="1"/>
              <a:t>repressen</a:t>
            </a:r>
            <a:r>
              <a:rPr lang="de-DE"/>
              <a:t> </a:t>
            </a:r>
            <a:r>
              <a:rPr lang="de-DE" err="1"/>
              <a:t>of</a:t>
            </a:r>
            <a:r>
              <a:rPr lang="de-DE"/>
              <a:t> </a:t>
            </a:r>
            <a:r>
              <a:rPr lang="de-DE" err="1"/>
              <a:t>transcription</a:t>
            </a:r>
            <a:r>
              <a:rPr lang="de-DE"/>
              <a:t>)</a:t>
            </a:r>
          </a:p>
          <a:p>
            <a:pPr marL="0" indent="0">
              <a:buFont typeface="Arial" panose="020B0604020202020204" pitchFamily="34" charset="0"/>
              <a:buNone/>
            </a:pPr>
            <a:r>
              <a:rPr lang="en-US"/>
              <a:t>The driving force in DNA methylation research, </a:t>
            </a:r>
            <a:r>
              <a:rPr lang="en-US" err="1"/>
              <a:t>particu</a:t>
            </a:r>
            <a:r>
              <a:rPr lang="en-US"/>
              <a:t>-</a:t>
            </a:r>
          </a:p>
          <a:p>
            <a:pPr marL="0" indent="0">
              <a:buFont typeface="Arial" panose="020B0604020202020204" pitchFamily="34" charset="0"/>
              <a:buNone/>
            </a:pPr>
            <a:r>
              <a:rPr lang="en-US" err="1"/>
              <a:t>larly</a:t>
            </a:r>
            <a:r>
              <a:rPr lang="en-US"/>
              <a:t> as it relates to cancer, has, until now, been particularly</a:t>
            </a:r>
          </a:p>
          <a:p>
            <a:pPr marL="0" indent="0">
              <a:buFont typeface="Arial" panose="020B0604020202020204" pitchFamily="34" charset="0"/>
              <a:buNone/>
            </a:pPr>
            <a:r>
              <a:rPr lang="en-US"/>
              <a:t>focused on CpG island promoter methylation</a:t>
            </a:r>
            <a:endParaRPr lang="de-DE"/>
          </a:p>
          <a:p>
            <a:pPr marL="628650" lvl="1" indent="-171450">
              <a:buFont typeface="Arial" panose="020B0604020202020204" pitchFamily="34" charset="0"/>
              <a:buChar char="•"/>
            </a:pPr>
            <a:r>
              <a:rPr lang="de-DE"/>
              <a:t>First </a:t>
            </a:r>
            <a:r>
              <a:rPr lang="de-DE" err="1"/>
              <a:t>mechanism</a:t>
            </a:r>
            <a:r>
              <a:rPr lang="de-DE"/>
              <a:t> </a:t>
            </a:r>
            <a:r>
              <a:rPr lang="de-DE" err="1"/>
              <a:t>is</a:t>
            </a:r>
            <a:r>
              <a:rPr lang="de-DE"/>
              <a:t> </a:t>
            </a:r>
            <a:r>
              <a:rPr lang="de-DE" err="1"/>
              <a:t>direct</a:t>
            </a:r>
            <a:r>
              <a:rPr lang="de-DE"/>
              <a:t> </a:t>
            </a:r>
            <a:r>
              <a:rPr lang="de-DE" err="1"/>
              <a:t>interference</a:t>
            </a:r>
            <a:r>
              <a:rPr lang="de-DE"/>
              <a:t> </a:t>
            </a:r>
            <a:r>
              <a:rPr lang="de-DE" err="1"/>
              <a:t>with</a:t>
            </a:r>
            <a:r>
              <a:rPr lang="de-DE"/>
              <a:t> </a:t>
            </a:r>
            <a:r>
              <a:rPr lang="de-DE" err="1"/>
              <a:t>binding</a:t>
            </a:r>
            <a:r>
              <a:rPr lang="de-DE"/>
              <a:t> </a:t>
            </a:r>
            <a:r>
              <a:rPr lang="de-DE" err="1"/>
              <a:t>of</a:t>
            </a:r>
            <a:r>
              <a:rPr lang="de-DE"/>
              <a:t> TF</a:t>
            </a:r>
          </a:p>
          <a:p>
            <a:pPr marL="628650" lvl="1" indent="-171450">
              <a:buFont typeface="Arial" panose="020B0604020202020204" pitchFamily="34" charset="0"/>
              <a:buChar char="•"/>
            </a:pPr>
            <a:r>
              <a:rPr lang="de-DE"/>
              <a:t>2nd </a:t>
            </a:r>
            <a:r>
              <a:rPr lang="de-DE" err="1"/>
              <a:t>mechanism</a:t>
            </a:r>
            <a:r>
              <a:rPr lang="de-DE"/>
              <a:t> </a:t>
            </a:r>
            <a:r>
              <a:rPr lang="de-DE" err="1"/>
              <a:t>direct</a:t>
            </a:r>
            <a:r>
              <a:rPr lang="de-DE"/>
              <a:t> </a:t>
            </a:r>
            <a:r>
              <a:rPr lang="de-DE" err="1"/>
              <a:t>binding</a:t>
            </a:r>
            <a:r>
              <a:rPr lang="de-DE"/>
              <a:t> </a:t>
            </a:r>
            <a:r>
              <a:rPr lang="de-DE" err="1"/>
              <a:t>of</a:t>
            </a:r>
            <a:r>
              <a:rPr lang="de-DE"/>
              <a:t> </a:t>
            </a:r>
            <a:r>
              <a:rPr lang="de-DE" err="1"/>
              <a:t>spesific</a:t>
            </a:r>
            <a:r>
              <a:rPr lang="de-DE"/>
              <a:t> </a:t>
            </a:r>
            <a:r>
              <a:rPr lang="de-DE" err="1"/>
              <a:t>transcriptional</a:t>
            </a:r>
            <a:r>
              <a:rPr lang="de-DE"/>
              <a:t> </a:t>
            </a:r>
            <a:r>
              <a:rPr lang="de-DE" err="1"/>
              <a:t>repressors</a:t>
            </a:r>
            <a:r>
              <a:rPr lang="de-DE"/>
              <a:t> </a:t>
            </a:r>
          </a:p>
          <a:p>
            <a:pPr marL="628650" lvl="1" indent="-171450">
              <a:buFont typeface="Arial" panose="020B0604020202020204" pitchFamily="34" charset="0"/>
              <a:buChar char="•"/>
            </a:pPr>
            <a:r>
              <a:rPr lang="de-DE" err="1"/>
              <a:t>Altering</a:t>
            </a:r>
            <a:r>
              <a:rPr lang="de-DE"/>
              <a:t> </a:t>
            </a:r>
            <a:r>
              <a:rPr lang="de-DE" err="1"/>
              <a:t>chromatin</a:t>
            </a:r>
            <a:r>
              <a:rPr lang="de-DE"/>
              <a:t> </a:t>
            </a:r>
            <a:r>
              <a:rPr lang="de-DE" err="1"/>
              <a:t>structure</a:t>
            </a:r>
            <a:r>
              <a:rPr lang="de-DE"/>
              <a:t> </a:t>
            </a:r>
          </a:p>
          <a:p>
            <a:pPr marL="171450" indent="-171450">
              <a:buFont typeface="Arial" panose="020B0604020202020204" pitchFamily="34" charset="0"/>
              <a:buChar char="•"/>
            </a:pPr>
            <a:r>
              <a:rPr lang="de-DE"/>
              <a:t>Gene </a:t>
            </a:r>
            <a:r>
              <a:rPr lang="de-DE" err="1"/>
              <a:t>body</a:t>
            </a:r>
            <a:r>
              <a:rPr lang="de-DE"/>
              <a:t> </a:t>
            </a:r>
            <a:r>
              <a:rPr lang="de-DE" err="1"/>
              <a:t>methylation</a:t>
            </a:r>
            <a:r>
              <a:rPr lang="de-DE"/>
              <a:t> </a:t>
            </a:r>
            <a:r>
              <a:rPr lang="de-DE" err="1"/>
              <a:t>leads</a:t>
            </a:r>
            <a:r>
              <a:rPr lang="de-DE"/>
              <a:t> </a:t>
            </a:r>
            <a:r>
              <a:rPr lang="de-DE" err="1"/>
              <a:t>to</a:t>
            </a:r>
            <a:r>
              <a:rPr lang="de-DE"/>
              <a:t> </a:t>
            </a:r>
            <a:r>
              <a:rPr lang="de-DE" err="1"/>
              <a:t>higher</a:t>
            </a:r>
            <a:r>
              <a:rPr lang="de-DE"/>
              <a:t> </a:t>
            </a:r>
            <a:r>
              <a:rPr lang="de-DE" err="1"/>
              <a:t>gene</a:t>
            </a:r>
            <a:r>
              <a:rPr lang="de-DE"/>
              <a:t> </a:t>
            </a:r>
            <a:r>
              <a:rPr lang="de-DE" err="1"/>
              <a:t>expression</a:t>
            </a:r>
            <a:r>
              <a:rPr lang="de-DE"/>
              <a:t> in </a:t>
            </a:r>
            <a:r>
              <a:rPr lang="de-DE" err="1"/>
              <a:t>dividing</a:t>
            </a:r>
            <a:r>
              <a:rPr lang="de-DE"/>
              <a:t> </a:t>
            </a:r>
            <a:r>
              <a:rPr lang="de-DE" err="1"/>
              <a:t>cells</a:t>
            </a:r>
            <a:r>
              <a:rPr lang="de-DE"/>
              <a:t>(</a:t>
            </a:r>
            <a:r>
              <a:rPr lang="de-DE" err="1"/>
              <a:t>exact</a:t>
            </a:r>
            <a:r>
              <a:rPr lang="de-DE"/>
              <a:t> </a:t>
            </a:r>
            <a:r>
              <a:rPr lang="de-DE" err="1"/>
              <a:t>mechanism</a:t>
            </a:r>
            <a:r>
              <a:rPr lang="de-DE"/>
              <a:t> </a:t>
            </a:r>
            <a:r>
              <a:rPr lang="de-DE" err="1"/>
              <a:t>unknown</a:t>
            </a:r>
            <a:r>
              <a:rPr lang="de-DE"/>
              <a:t>)</a:t>
            </a:r>
          </a:p>
          <a:p>
            <a:pPr marL="171450" indent="-171450">
              <a:buFont typeface="Arial" panose="020B0604020202020204" pitchFamily="34" charset="0"/>
              <a:buChar char="•"/>
            </a:pPr>
            <a:endParaRPr lang="de-DE"/>
          </a:p>
          <a:p>
            <a:pPr marL="171450" indent="-171450">
              <a:buFont typeface="Arial" panose="020B0604020202020204" pitchFamily="34" charset="0"/>
              <a:buChar char="•"/>
            </a:pPr>
            <a:r>
              <a:rPr lang="en-US"/>
              <a:t>Widespread aberrations in DNA methylation are a well-established hallmark of many cancers </a:t>
            </a:r>
          </a:p>
          <a:p>
            <a:pPr marL="342900" indent="-342900">
              <a:buFont typeface="Arial,Sans-Serif" panose="020B0604020202020204" pitchFamily="34" charset="0"/>
              <a:buChar char="•"/>
            </a:pPr>
            <a:r>
              <a:rPr lang="en-US"/>
              <a:t>Methylation of gene body</a:t>
            </a:r>
          </a:p>
          <a:p>
            <a:pPr marL="171450" indent="-171450">
              <a:buFont typeface="Arial" panose="020B0604020202020204" pitchFamily="34" charset="0"/>
              <a:buChar char="•"/>
            </a:pPr>
            <a:r>
              <a:rPr lang="en-US"/>
              <a:t>     </a:t>
            </a:r>
            <a:r>
              <a:rPr lang="en-US" b="1"/>
              <a:t>transcription activation</a:t>
            </a:r>
            <a:endParaRPr lang="en-US"/>
          </a:p>
        </p:txBody>
      </p:sp>
      <p:sp>
        <p:nvSpPr>
          <p:cNvPr id="4" name="Foliennummernplatzhalter 3"/>
          <p:cNvSpPr>
            <a:spLocks noGrp="1"/>
          </p:cNvSpPr>
          <p:nvPr>
            <p:ph type="sldNum" sz="quarter" idx="5"/>
          </p:nvPr>
        </p:nvSpPr>
        <p:spPr/>
        <p:txBody>
          <a:bodyPr/>
          <a:lstStyle/>
          <a:p>
            <a:fld id="{CCFEEF56-19F4-43EA-BED7-94DDD331E95E}" type="slidenum">
              <a:rPr lang="de-DE" smtClean="0"/>
              <a:t>3</a:t>
            </a:fld>
            <a:endParaRPr lang="de-DE"/>
          </a:p>
        </p:txBody>
      </p:sp>
    </p:spTree>
    <p:extLst>
      <p:ext uri="{BB962C8B-B14F-4D97-AF65-F5344CB8AC3E}">
        <p14:creationId xmlns:p14="http://schemas.microsoft.com/office/powerpoint/2010/main" val="1208603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indent="0">
              <a:buFont typeface="Arial" panose="020B0604020202020204" pitchFamily="34" charset="0"/>
              <a:buNone/>
            </a:pPr>
            <a:r>
              <a:rPr lang="de-DE" err="1"/>
              <a:t>We</a:t>
            </a:r>
            <a:r>
              <a:rPr lang="de-DE"/>
              <a:t> </a:t>
            </a:r>
            <a:r>
              <a:rPr lang="de-DE" err="1"/>
              <a:t>were</a:t>
            </a:r>
            <a:r>
              <a:rPr lang="de-DE"/>
              <a:t> </a:t>
            </a:r>
            <a:r>
              <a:rPr lang="de-DE" err="1"/>
              <a:t>provided</a:t>
            </a:r>
            <a:r>
              <a:rPr lang="de-DE"/>
              <a:t> </a:t>
            </a:r>
            <a:r>
              <a:rPr lang="de-DE" err="1"/>
              <a:t>with</a:t>
            </a:r>
            <a:r>
              <a:rPr lang="de-DE"/>
              <a:t> </a:t>
            </a:r>
            <a:r>
              <a:rPr lang="de-DE" err="1"/>
              <a:t>this</a:t>
            </a:r>
            <a:r>
              <a:rPr lang="de-DE"/>
              <a:t> Data </a:t>
            </a:r>
            <a:r>
              <a:rPr lang="de-DE" err="1"/>
              <a:t>from</a:t>
            </a:r>
            <a:r>
              <a:rPr lang="de-DE"/>
              <a:t> </a:t>
            </a:r>
            <a:r>
              <a:rPr lang="de-DE" err="1"/>
              <a:t>the</a:t>
            </a:r>
            <a:r>
              <a:rPr lang="de-DE"/>
              <a:t> Cancer Genome Atlas, a </a:t>
            </a:r>
            <a:r>
              <a:rPr lang="de-DE" err="1"/>
              <a:t>programme</a:t>
            </a:r>
            <a:r>
              <a:rPr lang="de-DE"/>
              <a:t> </a:t>
            </a:r>
            <a:r>
              <a:rPr lang="de-DE" err="1"/>
              <a:t>designed</a:t>
            </a:r>
            <a:r>
              <a:rPr lang="de-DE"/>
              <a:t> </a:t>
            </a:r>
            <a:r>
              <a:rPr lang="de-DE" err="1"/>
              <a:t>to</a:t>
            </a:r>
            <a:r>
              <a:rPr lang="de-DE"/>
              <a:t> </a:t>
            </a:r>
            <a:r>
              <a:rPr lang="de-DE" err="1"/>
              <a:t>catalogue</a:t>
            </a:r>
            <a:r>
              <a:rPr lang="de-DE"/>
              <a:t> </a:t>
            </a:r>
            <a:r>
              <a:rPr lang="de-DE" err="1"/>
              <a:t>the</a:t>
            </a:r>
            <a:r>
              <a:rPr lang="de-DE"/>
              <a:t> </a:t>
            </a:r>
            <a:r>
              <a:rPr lang="de-DE" err="1"/>
              <a:t>genetic</a:t>
            </a:r>
            <a:r>
              <a:rPr lang="de-DE"/>
              <a:t> and </a:t>
            </a:r>
            <a:r>
              <a:rPr lang="de-DE" err="1"/>
              <a:t>epigenetic</a:t>
            </a:r>
            <a:r>
              <a:rPr lang="de-DE"/>
              <a:t> </a:t>
            </a:r>
            <a:r>
              <a:rPr lang="de-DE" err="1"/>
              <a:t>characteriscits</a:t>
            </a:r>
            <a:r>
              <a:rPr lang="de-DE"/>
              <a:t> </a:t>
            </a:r>
            <a:r>
              <a:rPr lang="de-DE" err="1"/>
              <a:t>of</a:t>
            </a:r>
            <a:r>
              <a:rPr lang="de-DE"/>
              <a:t> 33 different </a:t>
            </a:r>
            <a:r>
              <a:rPr lang="de-DE" err="1"/>
              <a:t>cancers</a:t>
            </a:r>
            <a:r>
              <a:rPr lang="de-DE"/>
              <a:t> </a:t>
            </a:r>
            <a:r>
              <a:rPr lang="de-DE" err="1"/>
              <a:t>to</a:t>
            </a:r>
            <a:r>
              <a:rPr lang="de-DE"/>
              <a:t> </a:t>
            </a:r>
            <a:r>
              <a:rPr lang="de-DE" err="1"/>
              <a:t>help</a:t>
            </a:r>
            <a:r>
              <a:rPr lang="de-DE"/>
              <a:t> in </a:t>
            </a:r>
            <a:r>
              <a:rPr lang="de-DE" err="1"/>
              <a:t>develping</a:t>
            </a:r>
            <a:r>
              <a:rPr lang="de-DE"/>
              <a:t> </a:t>
            </a:r>
            <a:r>
              <a:rPr lang="de-DE" err="1"/>
              <a:t>better</a:t>
            </a:r>
            <a:r>
              <a:rPr lang="de-DE"/>
              <a:t> </a:t>
            </a:r>
            <a:r>
              <a:rPr lang="de-DE" err="1"/>
              <a:t>tools</a:t>
            </a:r>
            <a:r>
              <a:rPr lang="de-DE"/>
              <a:t> </a:t>
            </a:r>
            <a:r>
              <a:rPr lang="de-DE" err="1"/>
              <a:t>for</a:t>
            </a:r>
            <a:r>
              <a:rPr lang="de-DE"/>
              <a:t> </a:t>
            </a:r>
            <a:r>
              <a:rPr lang="de-DE" err="1"/>
              <a:t>diagnostics</a:t>
            </a:r>
            <a:r>
              <a:rPr lang="de-DE"/>
              <a:t>, </a:t>
            </a:r>
            <a:r>
              <a:rPr lang="de-DE" err="1"/>
              <a:t>treatment</a:t>
            </a:r>
            <a:r>
              <a:rPr lang="de-DE"/>
              <a:t> and </a:t>
            </a:r>
            <a:r>
              <a:rPr lang="de-DE" err="1"/>
              <a:t>causes</a:t>
            </a:r>
            <a:r>
              <a:rPr lang="de-DE"/>
              <a:t> </a:t>
            </a:r>
            <a:r>
              <a:rPr lang="de-DE" err="1"/>
              <a:t>of</a:t>
            </a:r>
            <a:r>
              <a:rPr lang="de-DE"/>
              <a:t> </a:t>
            </a:r>
            <a:r>
              <a:rPr lang="de-DE" err="1"/>
              <a:t>cancer</a:t>
            </a:r>
            <a:r>
              <a:rPr lang="de-DE"/>
              <a:t>. Quality </a:t>
            </a:r>
            <a:r>
              <a:rPr lang="de-DE" err="1"/>
              <a:t>standards</a:t>
            </a:r>
            <a:r>
              <a:rPr lang="de-DE"/>
              <a:t> </a:t>
            </a:r>
            <a:r>
              <a:rPr lang="de-DE" err="1"/>
              <a:t>for</a:t>
            </a:r>
            <a:r>
              <a:rPr lang="de-DE"/>
              <a:t> sample </a:t>
            </a:r>
            <a:r>
              <a:rPr lang="de-DE" err="1"/>
              <a:t>are</a:t>
            </a:r>
            <a:r>
              <a:rPr lang="de-DE"/>
              <a:t>: p</a:t>
            </a:r>
            <a:r>
              <a:rPr lang="en-US" b="0" i="0" err="1">
                <a:solidFill>
                  <a:srgbClr val="202124"/>
                </a:solidFill>
                <a:effectLst/>
                <a:highlight>
                  <a:srgbClr val="FFFFFF"/>
                </a:highlight>
                <a:latin typeface="Roboto" panose="02000000000000000000" pitchFamily="2" charset="0"/>
              </a:rPr>
              <a:t>rimary</a:t>
            </a:r>
            <a:r>
              <a:rPr lang="en-US" b="0" i="0">
                <a:solidFill>
                  <a:srgbClr val="202124"/>
                </a:solidFill>
                <a:effectLst/>
                <a:highlight>
                  <a:srgbClr val="FFFFFF"/>
                </a:highlight>
                <a:latin typeface="Roboto" panose="02000000000000000000" pitchFamily="2" charset="0"/>
              </a:rPr>
              <a:t>, untreated tumor with a source of matched normal tissue or blood sample.</a:t>
            </a:r>
            <a:br>
              <a:rPr lang="en-US"/>
            </a:br>
            <a:r>
              <a:rPr lang="en-US" b="0" i="0">
                <a:solidFill>
                  <a:srgbClr val="202124"/>
                </a:solidFill>
                <a:effectLst/>
                <a:highlight>
                  <a:srgbClr val="FFFFFF"/>
                </a:highlight>
                <a:latin typeface="Roboto" panose="02000000000000000000" pitchFamily="2" charset="0"/>
              </a:rPr>
              <a:t>Frozen, sufficiently sized samples</a:t>
            </a:r>
            <a:br>
              <a:rPr lang="en-US"/>
            </a:br>
            <a:r>
              <a:rPr lang="en-US" b="0" i="0" err="1">
                <a:solidFill>
                  <a:srgbClr val="202124"/>
                </a:solidFill>
                <a:effectLst/>
                <a:highlight>
                  <a:srgbClr val="FFFFFF"/>
                </a:highlight>
                <a:latin typeface="Roboto" panose="02000000000000000000" pitchFamily="2" charset="0"/>
              </a:rPr>
              <a:t>Samples</a:t>
            </a:r>
            <a:r>
              <a:rPr lang="en-US" b="0" i="0">
                <a:solidFill>
                  <a:srgbClr val="202124"/>
                </a:solidFill>
                <a:effectLst/>
                <a:highlight>
                  <a:srgbClr val="FFFFFF"/>
                </a:highlight>
                <a:latin typeface="Roboto" panose="02000000000000000000" pitchFamily="2" charset="0"/>
              </a:rPr>
              <a:t> composed of at least 60% tumor nuclei. Our cancer type was ductal invasive carcinoma, the most common type of breast cancer. </a:t>
            </a:r>
          </a:p>
          <a:p>
            <a:pPr marL="0" indent="0">
              <a:buFont typeface="Arial" panose="020B0604020202020204" pitchFamily="34" charset="0"/>
              <a:buNone/>
            </a:pPr>
            <a:r>
              <a:rPr lang="en-US" b="0" i="0">
                <a:solidFill>
                  <a:srgbClr val="202124"/>
                </a:solidFill>
                <a:effectLst/>
                <a:highlight>
                  <a:srgbClr val="FFFFFF"/>
                </a:highlight>
                <a:latin typeface="Roboto" panose="02000000000000000000" pitchFamily="2" charset="0"/>
              </a:rPr>
              <a:t>Sequencing took place via Illumina Infinium Human Methylation 450 Bead Chips. they focus on around 450k. </a:t>
            </a:r>
            <a:r>
              <a:rPr lang="en-US" b="0" i="0" err="1">
                <a:solidFill>
                  <a:srgbClr val="202124"/>
                </a:solidFill>
                <a:effectLst/>
                <a:highlight>
                  <a:srgbClr val="FFFFFF"/>
                </a:highlight>
                <a:latin typeface="Roboto" panose="02000000000000000000" pitchFamily="2" charset="0"/>
              </a:rPr>
              <a:t>Bisulphite</a:t>
            </a:r>
            <a:r>
              <a:rPr lang="en-US" b="0" i="0">
                <a:solidFill>
                  <a:srgbClr val="202124"/>
                </a:solidFill>
                <a:effectLst/>
                <a:highlight>
                  <a:srgbClr val="FFFFFF"/>
                </a:highlight>
                <a:latin typeface="Roboto" panose="02000000000000000000" pitchFamily="2" charset="0"/>
              </a:rPr>
              <a:t> treatment is performed, which leaves 5mC unaffected, but</a:t>
            </a:r>
            <a:r>
              <a:rPr lang="de-DE"/>
              <a:t> </a:t>
            </a:r>
            <a:r>
              <a:rPr lang="de-DE" err="1"/>
              <a:t>unmethylated</a:t>
            </a:r>
            <a:r>
              <a:rPr lang="de-DE"/>
              <a:t> </a:t>
            </a:r>
            <a:r>
              <a:rPr lang="de-DE" err="1"/>
              <a:t>cytosine</a:t>
            </a:r>
            <a:r>
              <a:rPr lang="de-DE"/>
              <a:t> </a:t>
            </a:r>
            <a:r>
              <a:rPr lang="de-DE" err="1"/>
              <a:t>is</a:t>
            </a:r>
            <a:r>
              <a:rPr lang="de-DE"/>
              <a:t> </a:t>
            </a:r>
            <a:r>
              <a:rPr lang="de-DE" err="1"/>
              <a:t>turned</a:t>
            </a:r>
            <a:r>
              <a:rPr lang="de-DE"/>
              <a:t> </a:t>
            </a:r>
            <a:r>
              <a:rPr lang="de-DE" err="1"/>
              <a:t>into</a:t>
            </a:r>
            <a:r>
              <a:rPr lang="de-DE"/>
              <a:t> T, </a:t>
            </a:r>
            <a:r>
              <a:rPr lang="de-DE" err="1"/>
              <a:t>which</a:t>
            </a:r>
            <a:r>
              <a:rPr lang="de-DE"/>
              <a:t> </a:t>
            </a:r>
            <a:r>
              <a:rPr lang="de-DE" err="1"/>
              <a:t>can</a:t>
            </a:r>
            <a:r>
              <a:rPr lang="de-DE"/>
              <a:t> </a:t>
            </a:r>
            <a:r>
              <a:rPr lang="de-DE" err="1"/>
              <a:t>be</a:t>
            </a:r>
            <a:r>
              <a:rPr lang="de-DE"/>
              <a:t> </a:t>
            </a:r>
            <a:r>
              <a:rPr lang="de-DE" err="1"/>
              <a:t>measued</a:t>
            </a:r>
            <a:r>
              <a:rPr lang="de-DE"/>
              <a:t>.</a:t>
            </a:r>
            <a:endParaRPr lang="en-US" b="0" i="0">
              <a:solidFill>
                <a:srgbClr val="202124"/>
              </a:solidFill>
              <a:effectLst/>
              <a:highlight>
                <a:srgbClr val="FFFFFF"/>
              </a:highlight>
              <a:latin typeface="Roboto" panose="02000000000000000000" pitchFamily="2" charset="0"/>
            </a:endParaRPr>
          </a:p>
        </p:txBody>
      </p:sp>
      <p:sp>
        <p:nvSpPr>
          <p:cNvPr id="4" name="Foliennummernplatzhalter 3"/>
          <p:cNvSpPr>
            <a:spLocks noGrp="1"/>
          </p:cNvSpPr>
          <p:nvPr>
            <p:ph type="sldNum" sz="quarter" idx="5"/>
          </p:nvPr>
        </p:nvSpPr>
        <p:spPr/>
        <p:txBody>
          <a:bodyPr/>
          <a:lstStyle/>
          <a:p>
            <a:fld id="{CCFEEF56-19F4-43EA-BED7-94DDD331E95E}" type="slidenum">
              <a:rPr lang="de-DE" smtClean="0"/>
              <a:t>4</a:t>
            </a:fld>
            <a:endParaRPr lang="de-DE"/>
          </a:p>
        </p:txBody>
      </p:sp>
    </p:spTree>
    <p:extLst>
      <p:ext uri="{BB962C8B-B14F-4D97-AF65-F5344CB8AC3E}">
        <p14:creationId xmlns:p14="http://schemas.microsoft.com/office/powerpoint/2010/main" val="36129759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1AB78-84D5-1B05-6AD6-45FF24D4EEE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22BEB3A-068C-842D-6A17-E116D6AD344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CDBF1F2-4C67-9CC2-763E-08DAA2818979}"/>
              </a:ext>
            </a:extLst>
          </p:cNvPr>
          <p:cNvSpPr>
            <a:spLocks noGrp="1"/>
          </p:cNvSpPr>
          <p:nvPr>
            <p:ph type="body" idx="1"/>
          </p:nvPr>
        </p:nvSpPr>
        <p:spPr/>
        <p:txBody>
          <a:bodyPr/>
          <a:lstStyle/>
          <a:p>
            <a:pPr marL="171450" indent="-171450">
              <a:buFont typeface="Arial" panose="020B0604020202020204" pitchFamily="34" charset="0"/>
              <a:buChar char="•"/>
            </a:pPr>
            <a:r>
              <a:rPr lang="de-DE" err="1"/>
              <a:t>Lets</a:t>
            </a:r>
            <a:r>
              <a:rPr lang="de-DE"/>
              <a:t> </a:t>
            </a:r>
            <a:r>
              <a:rPr lang="de-DE" err="1"/>
              <a:t>quickly</a:t>
            </a:r>
            <a:r>
              <a:rPr lang="de-DE"/>
              <a:t> </a:t>
            </a:r>
            <a:r>
              <a:rPr lang="de-DE" err="1"/>
              <a:t>take</a:t>
            </a:r>
            <a:r>
              <a:rPr lang="de-DE"/>
              <a:t> a </a:t>
            </a:r>
            <a:r>
              <a:rPr lang="de-DE" err="1"/>
              <a:t>closer</a:t>
            </a:r>
            <a:r>
              <a:rPr lang="de-DE"/>
              <a:t> </a:t>
            </a:r>
            <a:r>
              <a:rPr lang="de-DE" err="1"/>
              <a:t>look</a:t>
            </a:r>
            <a:r>
              <a:rPr lang="de-DE"/>
              <a:t> at DNA methylation</a:t>
            </a:r>
          </a:p>
          <a:p>
            <a:pPr marL="171450" indent="-171450">
              <a:buFont typeface="Arial" panose="020B0604020202020204" pitchFamily="34" charset="0"/>
              <a:buChar char="•"/>
            </a:pPr>
            <a:r>
              <a:rPr lang="de-DE"/>
              <a:t>DNA methylation </a:t>
            </a:r>
            <a:r>
              <a:rPr lang="de-DE" err="1"/>
              <a:t>is</a:t>
            </a:r>
            <a:r>
              <a:rPr lang="de-DE"/>
              <a:t> an </a:t>
            </a:r>
            <a:r>
              <a:rPr lang="de-DE" err="1"/>
              <a:t>epigenetic</a:t>
            </a:r>
            <a:r>
              <a:rPr lang="de-DE"/>
              <a:t> </a:t>
            </a:r>
            <a:r>
              <a:rPr lang="de-DE" err="1"/>
              <a:t>mechanism</a:t>
            </a:r>
            <a:r>
              <a:rPr lang="de-DE"/>
              <a:t> in </a:t>
            </a:r>
            <a:r>
              <a:rPr lang="de-DE" err="1"/>
              <a:t>which</a:t>
            </a:r>
            <a:r>
              <a:rPr lang="de-DE"/>
              <a:t> a </a:t>
            </a:r>
            <a:r>
              <a:rPr lang="de-DE" err="1"/>
              <a:t>methyl</a:t>
            </a:r>
            <a:r>
              <a:rPr lang="de-DE"/>
              <a:t> </a:t>
            </a:r>
            <a:r>
              <a:rPr lang="de-DE" err="1"/>
              <a:t>group</a:t>
            </a:r>
            <a:r>
              <a:rPr lang="de-DE"/>
              <a:t> </a:t>
            </a:r>
            <a:r>
              <a:rPr lang="de-DE" err="1"/>
              <a:t>is</a:t>
            </a:r>
            <a:r>
              <a:rPr lang="de-DE"/>
              <a:t> </a:t>
            </a:r>
            <a:r>
              <a:rPr lang="de-DE" err="1"/>
              <a:t>added</a:t>
            </a:r>
            <a:r>
              <a:rPr lang="de-DE"/>
              <a:t> </a:t>
            </a:r>
            <a:r>
              <a:rPr lang="de-DE" err="1"/>
              <a:t>to</a:t>
            </a:r>
            <a:r>
              <a:rPr lang="de-DE"/>
              <a:t> </a:t>
            </a:r>
            <a:r>
              <a:rPr lang="de-DE" err="1"/>
              <a:t>the</a:t>
            </a:r>
            <a:r>
              <a:rPr lang="de-DE"/>
              <a:t> 5th </a:t>
            </a:r>
            <a:r>
              <a:rPr lang="de-DE" err="1"/>
              <a:t>carbon</a:t>
            </a:r>
            <a:r>
              <a:rPr lang="de-DE"/>
              <a:t> </a:t>
            </a:r>
            <a:r>
              <a:rPr lang="de-DE" err="1"/>
              <a:t>of</a:t>
            </a:r>
            <a:r>
              <a:rPr lang="de-DE"/>
              <a:t> </a:t>
            </a:r>
            <a:r>
              <a:rPr lang="de-DE" err="1"/>
              <a:t>cytosin</a:t>
            </a:r>
            <a:r>
              <a:rPr lang="de-DE"/>
              <a:t> (</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a:t>
            </a:r>
          </a:p>
          <a:p>
            <a:pPr marL="171450" indent="-171450">
              <a:buFont typeface="Arial" panose="020B0604020202020204" pitchFamily="34" charset="0"/>
              <a:buChar char="•"/>
            </a:pPr>
            <a:r>
              <a:rPr lang="de-DE"/>
              <a:t>This </a:t>
            </a:r>
            <a:r>
              <a:rPr lang="de-DE" err="1"/>
              <a:t>reaction</a:t>
            </a:r>
            <a:r>
              <a:rPr lang="de-DE"/>
              <a:t> </a:t>
            </a:r>
            <a:r>
              <a:rPr lang="de-DE" err="1"/>
              <a:t>is</a:t>
            </a:r>
            <a:r>
              <a:rPr lang="de-DE"/>
              <a:t> </a:t>
            </a:r>
            <a:r>
              <a:rPr lang="de-DE" err="1"/>
              <a:t>catalyzed</a:t>
            </a:r>
            <a:r>
              <a:rPr lang="de-DE"/>
              <a:t> </a:t>
            </a:r>
            <a:r>
              <a:rPr lang="de-DE" err="1"/>
              <a:t>by</a:t>
            </a:r>
            <a:r>
              <a:rPr lang="de-DE"/>
              <a:t> DNA </a:t>
            </a:r>
            <a:r>
              <a:rPr lang="de-DE" err="1"/>
              <a:t>methyltransferase</a:t>
            </a:r>
            <a:r>
              <a:rPr lang="de-DE"/>
              <a:t> and </a:t>
            </a:r>
            <a:r>
              <a:rPr lang="de-DE" err="1"/>
              <a:t>mainly</a:t>
            </a:r>
            <a:r>
              <a:rPr lang="de-DE"/>
              <a:t> </a:t>
            </a:r>
            <a:r>
              <a:rPr lang="de-DE" err="1"/>
              <a:t>occures</a:t>
            </a:r>
            <a:r>
              <a:rPr lang="de-DE"/>
              <a:t> in CG </a:t>
            </a:r>
            <a:r>
              <a:rPr lang="de-DE" err="1"/>
              <a:t>sequences</a:t>
            </a:r>
            <a:r>
              <a:rPr lang="de-DE"/>
              <a:t> also </a:t>
            </a:r>
            <a:r>
              <a:rPr lang="de-DE" err="1"/>
              <a:t>reffered</a:t>
            </a:r>
            <a:r>
              <a:rPr lang="de-DE"/>
              <a:t> </a:t>
            </a:r>
            <a:r>
              <a:rPr lang="de-DE" err="1"/>
              <a:t>to</a:t>
            </a:r>
            <a:r>
              <a:rPr lang="de-DE"/>
              <a:t> </a:t>
            </a:r>
            <a:r>
              <a:rPr lang="de-DE" err="1"/>
              <a:t>as</a:t>
            </a:r>
            <a:r>
              <a:rPr lang="de-DE"/>
              <a:t> </a:t>
            </a:r>
            <a:r>
              <a:rPr lang="de-DE" err="1"/>
              <a:t>CpG</a:t>
            </a:r>
            <a:r>
              <a:rPr lang="de-DE"/>
              <a:t> </a:t>
            </a:r>
            <a:r>
              <a:rPr lang="de-DE" err="1"/>
              <a:t>dinucleotides</a:t>
            </a:r>
            <a:r>
              <a:rPr lang="de-DE"/>
              <a:t>(</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 </a:t>
            </a:r>
          </a:p>
          <a:p>
            <a:pPr marL="171450" indent="-171450">
              <a:buFont typeface="Arial" panose="020B0604020202020204" pitchFamily="34" charset="0"/>
              <a:buChar char="•"/>
            </a:pPr>
            <a:r>
              <a:rPr lang="de-DE"/>
              <a:t>This </a:t>
            </a:r>
            <a:r>
              <a:rPr lang="de-DE" err="1"/>
              <a:t>constellation</a:t>
            </a:r>
            <a:r>
              <a:rPr lang="de-DE"/>
              <a:t> </a:t>
            </a:r>
            <a:r>
              <a:rPr lang="de-DE" err="1"/>
              <a:t>allows</a:t>
            </a:r>
            <a:r>
              <a:rPr lang="de-DE"/>
              <a:t> </a:t>
            </a:r>
            <a:r>
              <a:rPr lang="de-DE" err="1"/>
              <a:t>the</a:t>
            </a:r>
            <a:r>
              <a:rPr lang="de-DE"/>
              <a:t> </a:t>
            </a:r>
            <a:r>
              <a:rPr lang="de-DE" err="1"/>
              <a:t>myelination</a:t>
            </a:r>
            <a:r>
              <a:rPr lang="de-DE"/>
              <a:t> </a:t>
            </a:r>
            <a:r>
              <a:rPr lang="de-DE" err="1"/>
              <a:t>pattern</a:t>
            </a:r>
            <a:r>
              <a:rPr lang="de-DE"/>
              <a:t> </a:t>
            </a:r>
            <a:r>
              <a:rPr lang="de-DE" err="1"/>
              <a:t>of</a:t>
            </a:r>
            <a:r>
              <a:rPr lang="de-DE"/>
              <a:t> </a:t>
            </a:r>
            <a:r>
              <a:rPr lang="de-DE" err="1"/>
              <a:t>the</a:t>
            </a:r>
            <a:r>
              <a:rPr lang="de-DE"/>
              <a:t> </a:t>
            </a:r>
            <a:r>
              <a:rPr lang="de-DE" err="1"/>
              <a:t>mother</a:t>
            </a:r>
            <a:r>
              <a:rPr lang="de-DE"/>
              <a:t> </a:t>
            </a:r>
            <a:r>
              <a:rPr lang="de-DE" err="1"/>
              <a:t>strand</a:t>
            </a:r>
            <a:r>
              <a:rPr lang="de-DE"/>
              <a:t> </a:t>
            </a:r>
            <a:r>
              <a:rPr lang="de-DE" err="1"/>
              <a:t>to</a:t>
            </a:r>
            <a:r>
              <a:rPr lang="de-DE"/>
              <a:t> </a:t>
            </a:r>
            <a:r>
              <a:rPr lang="de-DE" err="1"/>
              <a:t>be</a:t>
            </a:r>
            <a:r>
              <a:rPr lang="de-DE"/>
              <a:t> </a:t>
            </a:r>
            <a:r>
              <a:rPr lang="de-DE" err="1"/>
              <a:t>copied</a:t>
            </a:r>
            <a:r>
              <a:rPr lang="de-DE"/>
              <a:t> </a:t>
            </a:r>
            <a:r>
              <a:rPr lang="de-DE" err="1"/>
              <a:t>to</a:t>
            </a:r>
            <a:r>
              <a:rPr lang="de-DE"/>
              <a:t> </a:t>
            </a:r>
            <a:r>
              <a:rPr lang="de-DE" err="1"/>
              <a:t>the</a:t>
            </a:r>
            <a:r>
              <a:rPr lang="de-DE"/>
              <a:t> </a:t>
            </a:r>
            <a:r>
              <a:rPr lang="de-DE" err="1"/>
              <a:t>daugther</a:t>
            </a:r>
            <a:r>
              <a:rPr lang="de-DE"/>
              <a:t> </a:t>
            </a:r>
            <a:r>
              <a:rPr lang="de-DE" err="1"/>
              <a:t>strands</a:t>
            </a:r>
            <a:r>
              <a:rPr lang="de-DE"/>
              <a:t> in DNA </a:t>
            </a:r>
            <a:r>
              <a:rPr lang="de-DE" err="1"/>
              <a:t>replication</a:t>
            </a:r>
            <a:endParaRPr lang="de-DE"/>
          </a:p>
          <a:p>
            <a:pPr marL="171450" indent="-171450">
              <a:buFont typeface="Arial" panose="020B0604020202020204" pitchFamily="34" charset="0"/>
              <a:buChar char="•"/>
            </a:pPr>
            <a:r>
              <a:rPr lang="en-US"/>
              <a:t>CpG islands are DNA regions typically around 1000 base pairs in length and characterized by a higher density of CpG</a:t>
            </a:r>
          </a:p>
          <a:p>
            <a:pPr marL="171450" indent="-171450">
              <a:buFont typeface="Arial" panose="020B0604020202020204" pitchFamily="34" charset="0"/>
              <a:buChar char="•"/>
            </a:pPr>
            <a:r>
              <a:rPr lang="en-US"/>
              <a:t>Ca 60% of gene promotors are located in CpG island including important house keeping genes </a:t>
            </a:r>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de-DE"/>
          </a:p>
          <a:p>
            <a:pPr marL="171450" indent="-171450">
              <a:buFont typeface="Arial" panose="020B0604020202020204" pitchFamily="34" charset="0"/>
              <a:buChar char="•"/>
            </a:pPr>
            <a:endParaRPr lang="de-DE"/>
          </a:p>
        </p:txBody>
      </p:sp>
      <p:sp>
        <p:nvSpPr>
          <p:cNvPr id="4" name="Foliennummernplatzhalter 3">
            <a:extLst>
              <a:ext uri="{FF2B5EF4-FFF2-40B4-BE49-F238E27FC236}">
                <a16:creationId xmlns:a16="http://schemas.microsoft.com/office/drawing/2014/main" id="{6ED587E3-9418-188A-9375-BA79E4D3686E}"/>
              </a:ext>
            </a:extLst>
          </p:cNvPr>
          <p:cNvSpPr>
            <a:spLocks noGrp="1"/>
          </p:cNvSpPr>
          <p:nvPr>
            <p:ph type="sldNum" sz="quarter" idx="5"/>
          </p:nvPr>
        </p:nvSpPr>
        <p:spPr/>
        <p:txBody>
          <a:bodyPr/>
          <a:lstStyle/>
          <a:p>
            <a:fld id="{CCFEEF56-19F4-43EA-BED7-94DDD331E95E}" type="slidenum">
              <a:rPr lang="de-DE" smtClean="0"/>
              <a:t>5</a:t>
            </a:fld>
            <a:endParaRPr lang="de-DE"/>
          </a:p>
        </p:txBody>
      </p:sp>
    </p:spTree>
    <p:extLst>
      <p:ext uri="{BB962C8B-B14F-4D97-AF65-F5344CB8AC3E}">
        <p14:creationId xmlns:p14="http://schemas.microsoft.com/office/powerpoint/2010/main" val="2419474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D147C-D0D9-A221-E416-9D60096229F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CB23F94-6A02-0B9A-5304-44F99D6A103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1BFD5C9-C970-4348-9B45-9884E5AC2B46}"/>
              </a:ext>
            </a:extLst>
          </p:cNvPr>
          <p:cNvSpPr>
            <a:spLocks noGrp="1"/>
          </p:cNvSpPr>
          <p:nvPr>
            <p:ph type="body" idx="1"/>
          </p:nvPr>
        </p:nvSpPr>
        <p:spPr/>
        <p:txBody>
          <a:bodyPr/>
          <a:lstStyle/>
          <a:p>
            <a:pPr marL="171450" indent="-171450">
              <a:buFont typeface="Arial" panose="020B0604020202020204" pitchFamily="34" charset="0"/>
              <a:buChar char="•"/>
            </a:pPr>
            <a:r>
              <a:rPr lang="de-DE" err="1"/>
              <a:t>Lets</a:t>
            </a:r>
            <a:r>
              <a:rPr lang="de-DE"/>
              <a:t> </a:t>
            </a:r>
            <a:r>
              <a:rPr lang="de-DE" err="1"/>
              <a:t>quickly</a:t>
            </a:r>
            <a:r>
              <a:rPr lang="de-DE"/>
              <a:t> </a:t>
            </a:r>
            <a:r>
              <a:rPr lang="de-DE" err="1"/>
              <a:t>take</a:t>
            </a:r>
            <a:r>
              <a:rPr lang="de-DE"/>
              <a:t> a </a:t>
            </a:r>
            <a:r>
              <a:rPr lang="de-DE" err="1"/>
              <a:t>closer</a:t>
            </a:r>
            <a:r>
              <a:rPr lang="de-DE"/>
              <a:t> </a:t>
            </a:r>
            <a:r>
              <a:rPr lang="de-DE" err="1"/>
              <a:t>look</a:t>
            </a:r>
            <a:r>
              <a:rPr lang="de-DE"/>
              <a:t> at DNA methylation</a:t>
            </a:r>
          </a:p>
          <a:p>
            <a:pPr marL="171450" indent="-171450">
              <a:buFont typeface="Arial" panose="020B0604020202020204" pitchFamily="34" charset="0"/>
              <a:buChar char="•"/>
            </a:pPr>
            <a:r>
              <a:rPr lang="de-DE"/>
              <a:t>DNA methylation </a:t>
            </a:r>
            <a:r>
              <a:rPr lang="de-DE" err="1"/>
              <a:t>is</a:t>
            </a:r>
            <a:r>
              <a:rPr lang="de-DE"/>
              <a:t> an </a:t>
            </a:r>
            <a:r>
              <a:rPr lang="de-DE" err="1"/>
              <a:t>epigenetic</a:t>
            </a:r>
            <a:r>
              <a:rPr lang="de-DE"/>
              <a:t> </a:t>
            </a:r>
            <a:r>
              <a:rPr lang="de-DE" err="1"/>
              <a:t>mechanism</a:t>
            </a:r>
            <a:r>
              <a:rPr lang="de-DE"/>
              <a:t> in </a:t>
            </a:r>
            <a:r>
              <a:rPr lang="de-DE" err="1"/>
              <a:t>which</a:t>
            </a:r>
            <a:r>
              <a:rPr lang="de-DE"/>
              <a:t> a </a:t>
            </a:r>
            <a:r>
              <a:rPr lang="de-DE" err="1"/>
              <a:t>methyl</a:t>
            </a:r>
            <a:r>
              <a:rPr lang="de-DE"/>
              <a:t> </a:t>
            </a:r>
            <a:r>
              <a:rPr lang="de-DE" err="1"/>
              <a:t>group</a:t>
            </a:r>
            <a:r>
              <a:rPr lang="de-DE"/>
              <a:t> </a:t>
            </a:r>
            <a:r>
              <a:rPr lang="de-DE" err="1"/>
              <a:t>is</a:t>
            </a:r>
            <a:r>
              <a:rPr lang="de-DE"/>
              <a:t> </a:t>
            </a:r>
            <a:r>
              <a:rPr lang="de-DE" err="1"/>
              <a:t>added</a:t>
            </a:r>
            <a:r>
              <a:rPr lang="de-DE"/>
              <a:t> </a:t>
            </a:r>
            <a:r>
              <a:rPr lang="de-DE" err="1"/>
              <a:t>to</a:t>
            </a:r>
            <a:r>
              <a:rPr lang="de-DE"/>
              <a:t> </a:t>
            </a:r>
            <a:r>
              <a:rPr lang="de-DE" err="1"/>
              <a:t>the</a:t>
            </a:r>
            <a:r>
              <a:rPr lang="de-DE"/>
              <a:t> 5th </a:t>
            </a:r>
            <a:r>
              <a:rPr lang="de-DE" err="1"/>
              <a:t>carbon</a:t>
            </a:r>
            <a:r>
              <a:rPr lang="de-DE"/>
              <a:t> </a:t>
            </a:r>
            <a:r>
              <a:rPr lang="de-DE" err="1"/>
              <a:t>of</a:t>
            </a:r>
            <a:r>
              <a:rPr lang="de-DE"/>
              <a:t> </a:t>
            </a:r>
            <a:r>
              <a:rPr lang="de-DE" err="1"/>
              <a:t>cytosin</a:t>
            </a:r>
            <a:r>
              <a:rPr lang="de-DE"/>
              <a:t> (</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a:t>
            </a:r>
          </a:p>
          <a:p>
            <a:pPr marL="171450" indent="-171450">
              <a:buFont typeface="Arial" panose="020B0604020202020204" pitchFamily="34" charset="0"/>
              <a:buChar char="•"/>
            </a:pPr>
            <a:r>
              <a:rPr lang="de-DE"/>
              <a:t>This </a:t>
            </a:r>
            <a:r>
              <a:rPr lang="de-DE" err="1"/>
              <a:t>reaction</a:t>
            </a:r>
            <a:r>
              <a:rPr lang="de-DE"/>
              <a:t> </a:t>
            </a:r>
            <a:r>
              <a:rPr lang="de-DE" err="1"/>
              <a:t>is</a:t>
            </a:r>
            <a:r>
              <a:rPr lang="de-DE"/>
              <a:t> </a:t>
            </a:r>
            <a:r>
              <a:rPr lang="de-DE" err="1"/>
              <a:t>catalyzed</a:t>
            </a:r>
            <a:r>
              <a:rPr lang="de-DE"/>
              <a:t> </a:t>
            </a:r>
            <a:r>
              <a:rPr lang="de-DE" err="1"/>
              <a:t>by</a:t>
            </a:r>
            <a:r>
              <a:rPr lang="de-DE"/>
              <a:t> DNA </a:t>
            </a:r>
            <a:r>
              <a:rPr lang="de-DE" err="1"/>
              <a:t>methyltransferase</a:t>
            </a:r>
            <a:r>
              <a:rPr lang="de-DE"/>
              <a:t> and </a:t>
            </a:r>
            <a:r>
              <a:rPr lang="de-DE" err="1"/>
              <a:t>mainly</a:t>
            </a:r>
            <a:r>
              <a:rPr lang="de-DE"/>
              <a:t> </a:t>
            </a:r>
            <a:r>
              <a:rPr lang="de-DE" err="1"/>
              <a:t>occures</a:t>
            </a:r>
            <a:r>
              <a:rPr lang="de-DE"/>
              <a:t> in CG </a:t>
            </a:r>
            <a:r>
              <a:rPr lang="de-DE" err="1"/>
              <a:t>sequences</a:t>
            </a:r>
            <a:r>
              <a:rPr lang="de-DE"/>
              <a:t> also </a:t>
            </a:r>
            <a:r>
              <a:rPr lang="de-DE" err="1"/>
              <a:t>reffered</a:t>
            </a:r>
            <a:r>
              <a:rPr lang="de-DE"/>
              <a:t> </a:t>
            </a:r>
            <a:r>
              <a:rPr lang="de-DE" err="1"/>
              <a:t>to</a:t>
            </a:r>
            <a:r>
              <a:rPr lang="de-DE"/>
              <a:t> </a:t>
            </a:r>
            <a:r>
              <a:rPr lang="de-DE" err="1"/>
              <a:t>as</a:t>
            </a:r>
            <a:r>
              <a:rPr lang="de-DE"/>
              <a:t> </a:t>
            </a:r>
            <a:r>
              <a:rPr lang="de-DE" err="1"/>
              <a:t>CpG</a:t>
            </a:r>
            <a:r>
              <a:rPr lang="de-DE"/>
              <a:t> </a:t>
            </a:r>
            <a:r>
              <a:rPr lang="de-DE" err="1"/>
              <a:t>dinucleotides</a:t>
            </a:r>
            <a:r>
              <a:rPr lang="de-DE"/>
              <a:t>(</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 </a:t>
            </a:r>
          </a:p>
          <a:p>
            <a:pPr marL="171450" indent="-171450">
              <a:buFont typeface="Arial" panose="020B0604020202020204" pitchFamily="34" charset="0"/>
              <a:buChar char="•"/>
            </a:pPr>
            <a:r>
              <a:rPr lang="de-DE"/>
              <a:t>This </a:t>
            </a:r>
            <a:r>
              <a:rPr lang="de-DE" err="1"/>
              <a:t>constellation</a:t>
            </a:r>
            <a:r>
              <a:rPr lang="de-DE"/>
              <a:t> </a:t>
            </a:r>
            <a:r>
              <a:rPr lang="de-DE" err="1"/>
              <a:t>allows</a:t>
            </a:r>
            <a:r>
              <a:rPr lang="de-DE"/>
              <a:t> </a:t>
            </a:r>
            <a:r>
              <a:rPr lang="de-DE" err="1"/>
              <a:t>the</a:t>
            </a:r>
            <a:r>
              <a:rPr lang="de-DE"/>
              <a:t> </a:t>
            </a:r>
            <a:r>
              <a:rPr lang="de-DE" err="1"/>
              <a:t>myelination</a:t>
            </a:r>
            <a:r>
              <a:rPr lang="de-DE"/>
              <a:t> </a:t>
            </a:r>
            <a:r>
              <a:rPr lang="de-DE" err="1"/>
              <a:t>pattern</a:t>
            </a:r>
            <a:r>
              <a:rPr lang="de-DE"/>
              <a:t> </a:t>
            </a:r>
            <a:r>
              <a:rPr lang="de-DE" err="1"/>
              <a:t>of</a:t>
            </a:r>
            <a:r>
              <a:rPr lang="de-DE"/>
              <a:t> </a:t>
            </a:r>
            <a:r>
              <a:rPr lang="de-DE" err="1"/>
              <a:t>the</a:t>
            </a:r>
            <a:r>
              <a:rPr lang="de-DE"/>
              <a:t> </a:t>
            </a:r>
            <a:r>
              <a:rPr lang="de-DE" err="1"/>
              <a:t>mother</a:t>
            </a:r>
            <a:r>
              <a:rPr lang="de-DE"/>
              <a:t> </a:t>
            </a:r>
            <a:r>
              <a:rPr lang="de-DE" err="1"/>
              <a:t>strand</a:t>
            </a:r>
            <a:r>
              <a:rPr lang="de-DE"/>
              <a:t> </a:t>
            </a:r>
            <a:r>
              <a:rPr lang="de-DE" err="1"/>
              <a:t>to</a:t>
            </a:r>
            <a:r>
              <a:rPr lang="de-DE"/>
              <a:t> </a:t>
            </a:r>
            <a:r>
              <a:rPr lang="de-DE" err="1"/>
              <a:t>be</a:t>
            </a:r>
            <a:r>
              <a:rPr lang="de-DE"/>
              <a:t> </a:t>
            </a:r>
            <a:r>
              <a:rPr lang="de-DE" err="1"/>
              <a:t>copied</a:t>
            </a:r>
            <a:r>
              <a:rPr lang="de-DE"/>
              <a:t> </a:t>
            </a:r>
            <a:r>
              <a:rPr lang="de-DE" err="1"/>
              <a:t>to</a:t>
            </a:r>
            <a:r>
              <a:rPr lang="de-DE"/>
              <a:t> </a:t>
            </a:r>
            <a:r>
              <a:rPr lang="de-DE" err="1"/>
              <a:t>the</a:t>
            </a:r>
            <a:r>
              <a:rPr lang="de-DE"/>
              <a:t> </a:t>
            </a:r>
            <a:r>
              <a:rPr lang="de-DE" err="1"/>
              <a:t>daugther</a:t>
            </a:r>
            <a:r>
              <a:rPr lang="de-DE"/>
              <a:t> </a:t>
            </a:r>
            <a:r>
              <a:rPr lang="de-DE" err="1"/>
              <a:t>strands</a:t>
            </a:r>
            <a:r>
              <a:rPr lang="de-DE"/>
              <a:t> in DNA </a:t>
            </a:r>
            <a:r>
              <a:rPr lang="de-DE" err="1"/>
              <a:t>replication</a:t>
            </a:r>
            <a:endParaRPr lang="de-DE"/>
          </a:p>
          <a:p>
            <a:pPr marL="171450" indent="-171450">
              <a:buFont typeface="Arial" panose="020B0604020202020204" pitchFamily="34" charset="0"/>
              <a:buChar char="•"/>
            </a:pPr>
            <a:r>
              <a:rPr lang="en-US"/>
              <a:t>CpG islands are DNA regions typically around 1000 base pairs in length and characterized by a higher density of CpG</a:t>
            </a:r>
          </a:p>
          <a:p>
            <a:pPr marL="171450" indent="-171450">
              <a:buFont typeface="Arial" panose="020B0604020202020204" pitchFamily="34" charset="0"/>
              <a:buChar char="•"/>
            </a:pPr>
            <a:r>
              <a:rPr lang="en-US"/>
              <a:t>Ca 60% of gene promotors are located in CpG island including important house keeping genes </a:t>
            </a:r>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de-DE"/>
          </a:p>
          <a:p>
            <a:pPr marL="171450" indent="-171450">
              <a:buFont typeface="Arial" panose="020B0604020202020204" pitchFamily="34" charset="0"/>
              <a:buChar char="•"/>
            </a:pPr>
            <a:endParaRPr lang="de-DE"/>
          </a:p>
        </p:txBody>
      </p:sp>
      <p:sp>
        <p:nvSpPr>
          <p:cNvPr id="4" name="Foliennummernplatzhalter 3">
            <a:extLst>
              <a:ext uri="{FF2B5EF4-FFF2-40B4-BE49-F238E27FC236}">
                <a16:creationId xmlns:a16="http://schemas.microsoft.com/office/drawing/2014/main" id="{15D97BE8-B029-244E-3FCB-1899E253478A}"/>
              </a:ext>
            </a:extLst>
          </p:cNvPr>
          <p:cNvSpPr>
            <a:spLocks noGrp="1"/>
          </p:cNvSpPr>
          <p:nvPr>
            <p:ph type="sldNum" sz="quarter" idx="5"/>
          </p:nvPr>
        </p:nvSpPr>
        <p:spPr/>
        <p:txBody>
          <a:bodyPr/>
          <a:lstStyle/>
          <a:p>
            <a:fld id="{CCFEEF56-19F4-43EA-BED7-94DDD331E95E}" type="slidenum">
              <a:rPr lang="de-DE" smtClean="0"/>
              <a:t>6</a:t>
            </a:fld>
            <a:endParaRPr lang="de-DE"/>
          </a:p>
        </p:txBody>
      </p:sp>
    </p:spTree>
    <p:extLst>
      <p:ext uri="{BB962C8B-B14F-4D97-AF65-F5344CB8AC3E}">
        <p14:creationId xmlns:p14="http://schemas.microsoft.com/office/powerpoint/2010/main" val="33894465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1AB78-84D5-1B05-6AD6-45FF24D4EEE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22BEB3A-068C-842D-6A17-E116D6AD344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CDBF1F2-4C67-9CC2-763E-08DAA2818979}"/>
              </a:ext>
            </a:extLst>
          </p:cNvPr>
          <p:cNvSpPr>
            <a:spLocks noGrp="1"/>
          </p:cNvSpPr>
          <p:nvPr>
            <p:ph type="body" idx="1"/>
          </p:nvPr>
        </p:nvSpPr>
        <p:spPr/>
        <p:txBody>
          <a:bodyPr/>
          <a:lstStyle/>
          <a:p>
            <a:pPr marL="171450" indent="-171450">
              <a:buFont typeface="Arial" panose="020B0604020202020204" pitchFamily="34" charset="0"/>
              <a:buChar char="•"/>
            </a:pPr>
            <a:r>
              <a:rPr lang="de-DE" err="1"/>
              <a:t>Lets</a:t>
            </a:r>
            <a:r>
              <a:rPr lang="de-DE"/>
              <a:t> </a:t>
            </a:r>
            <a:r>
              <a:rPr lang="de-DE" err="1"/>
              <a:t>quickly</a:t>
            </a:r>
            <a:r>
              <a:rPr lang="de-DE"/>
              <a:t> </a:t>
            </a:r>
            <a:r>
              <a:rPr lang="de-DE" err="1"/>
              <a:t>take</a:t>
            </a:r>
            <a:r>
              <a:rPr lang="de-DE"/>
              <a:t> a </a:t>
            </a:r>
            <a:r>
              <a:rPr lang="de-DE" err="1"/>
              <a:t>closer</a:t>
            </a:r>
            <a:r>
              <a:rPr lang="de-DE"/>
              <a:t> </a:t>
            </a:r>
            <a:r>
              <a:rPr lang="de-DE" err="1"/>
              <a:t>look</a:t>
            </a:r>
            <a:r>
              <a:rPr lang="de-DE"/>
              <a:t> at DNA methylation</a:t>
            </a:r>
          </a:p>
          <a:p>
            <a:pPr marL="171450" indent="-171450">
              <a:buFont typeface="Arial" panose="020B0604020202020204" pitchFamily="34" charset="0"/>
              <a:buChar char="•"/>
            </a:pPr>
            <a:r>
              <a:rPr lang="de-DE"/>
              <a:t>DNA methylation </a:t>
            </a:r>
            <a:r>
              <a:rPr lang="de-DE" err="1"/>
              <a:t>is</a:t>
            </a:r>
            <a:r>
              <a:rPr lang="de-DE"/>
              <a:t> an </a:t>
            </a:r>
            <a:r>
              <a:rPr lang="de-DE" err="1"/>
              <a:t>epigenetic</a:t>
            </a:r>
            <a:r>
              <a:rPr lang="de-DE"/>
              <a:t> </a:t>
            </a:r>
            <a:r>
              <a:rPr lang="de-DE" err="1"/>
              <a:t>mechanism</a:t>
            </a:r>
            <a:r>
              <a:rPr lang="de-DE"/>
              <a:t> in </a:t>
            </a:r>
            <a:r>
              <a:rPr lang="de-DE" err="1"/>
              <a:t>which</a:t>
            </a:r>
            <a:r>
              <a:rPr lang="de-DE"/>
              <a:t> a </a:t>
            </a:r>
            <a:r>
              <a:rPr lang="de-DE" err="1"/>
              <a:t>methyl</a:t>
            </a:r>
            <a:r>
              <a:rPr lang="de-DE"/>
              <a:t> </a:t>
            </a:r>
            <a:r>
              <a:rPr lang="de-DE" err="1"/>
              <a:t>group</a:t>
            </a:r>
            <a:r>
              <a:rPr lang="de-DE"/>
              <a:t> </a:t>
            </a:r>
            <a:r>
              <a:rPr lang="de-DE" err="1"/>
              <a:t>is</a:t>
            </a:r>
            <a:r>
              <a:rPr lang="de-DE"/>
              <a:t> </a:t>
            </a:r>
            <a:r>
              <a:rPr lang="de-DE" err="1"/>
              <a:t>added</a:t>
            </a:r>
            <a:r>
              <a:rPr lang="de-DE"/>
              <a:t> </a:t>
            </a:r>
            <a:r>
              <a:rPr lang="de-DE" err="1"/>
              <a:t>to</a:t>
            </a:r>
            <a:r>
              <a:rPr lang="de-DE"/>
              <a:t> </a:t>
            </a:r>
            <a:r>
              <a:rPr lang="de-DE" err="1"/>
              <a:t>the</a:t>
            </a:r>
            <a:r>
              <a:rPr lang="de-DE"/>
              <a:t> 5th </a:t>
            </a:r>
            <a:r>
              <a:rPr lang="de-DE" err="1"/>
              <a:t>carbon</a:t>
            </a:r>
            <a:r>
              <a:rPr lang="de-DE"/>
              <a:t> </a:t>
            </a:r>
            <a:r>
              <a:rPr lang="de-DE" err="1"/>
              <a:t>of</a:t>
            </a:r>
            <a:r>
              <a:rPr lang="de-DE"/>
              <a:t> </a:t>
            </a:r>
            <a:r>
              <a:rPr lang="de-DE" err="1"/>
              <a:t>cytosin</a:t>
            </a:r>
            <a:r>
              <a:rPr lang="de-DE"/>
              <a:t> (</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a:t>
            </a:r>
          </a:p>
          <a:p>
            <a:pPr marL="171450" indent="-171450">
              <a:buFont typeface="Arial" panose="020B0604020202020204" pitchFamily="34" charset="0"/>
              <a:buChar char="•"/>
            </a:pPr>
            <a:r>
              <a:rPr lang="de-DE"/>
              <a:t>This </a:t>
            </a:r>
            <a:r>
              <a:rPr lang="de-DE" err="1"/>
              <a:t>reaction</a:t>
            </a:r>
            <a:r>
              <a:rPr lang="de-DE"/>
              <a:t> </a:t>
            </a:r>
            <a:r>
              <a:rPr lang="de-DE" err="1"/>
              <a:t>is</a:t>
            </a:r>
            <a:r>
              <a:rPr lang="de-DE"/>
              <a:t> </a:t>
            </a:r>
            <a:r>
              <a:rPr lang="de-DE" err="1"/>
              <a:t>catalyzed</a:t>
            </a:r>
            <a:r>
              <a:rPr lang="de-DE"/>
              <a:t> </a:t>
            </a:r>
            <a:r>
              <a:rPr lang="de-DE" err="1"/>
              <a:t>by</a:t>
            </a:r>
            <a:r>
              <a:rPr lang="de-DE"/>
              <a:t> DNA </a:t>
            </a:r>
            <a:r>
              <a:rPr lang="de-DE" err="1"/>
              <a:t>methyltransferase</a:t>
            </a:r>
            <a:r>
              <a:rPr lang="de-DE"/>
              <a:t> and </a:t>
            </a:r>
            <a:r>
              <a:rPr lang="de-DE" err="1"/>
              <a:t>mainly</a:t>
            </a:r>
            <a:r>
              <a:rPr lang="de-DE"/>
              <a:t> </a:t>
            </a:r>
            <a:r>
              <a:rPr lang="de-DE" err="1"/>
              <a:t>occures</a:t>
            </a:r>
            <a:r>
              <a:rPr lang="de-DE"/>
              <a:t> in CG </a:t>
            </a:r>
            <a:r>
              <a:rPr lang="de-DE" err="1"/>
              <a:t>sequences</a:t>
            </a:r>
            <a:r>
              <a:rPr lang="de-DE"/>
              <a:t> also </a:t>
            </a:r>
            <a:r>
              <a:rPr lang="de-DE" err="1"/>
              <a:t>reffered</a:t>
            </a:r>
            <a:r>
              <a:rPr lang="de-DE"/>
              <a:t> </a:t>
            </a:r>
            <a:r>
              <a:rPr lang="de-DE" err="1"/>
              <a:t>to</a:t>
            </a:r>
            <a:r>
              <a:rPr lang="de-DE"/>
              <a:t> </a:t>
            </a:r>
            <a:r>
              <a:rPr lang="de-DE" err="1"/>
              <a:t>as</a:t>
            </a:r>
            <a:r>
              <a:rPr lang="de-DE"/>
              <a:t> </a:t>
            </a:r>
            <a:r>
              <a:rPr lang="de-DE" err="1"/>
              <a:t>CpG</a:t>
            </a:r>
            <a:r>
              <a:rPr lang="de-DE"/>
              <a:t> </a:t>
            </a:r>
            <a:r>
              <a:rPr lang="de-DE" err="1"/>
              <a:t>dinucleotides</a:t>
            </a:r>
            <a:r>
              <a:rPr lang="de-DE"/>
              <a:t>(</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 </a:t>
            </a:r>
          </a:p>
          <a:p>
            <a:pPr marL="171450" indent="-171450">
              <a:buFont typeface="Arial" panose="020B0604020202020204" pitchFamily="34" charset="0"/>
              <a:buChar char="•"/>
            </a:pPr>
            <a:r>
              <a:rPr lang="de-DE"/>
              <a:t>This </a:t>
            </a:r>
            <a:r>
              <a:rPr lang="de-DE" err="1"/>
              <a:t>constellation</a:t>
            </a:r>
            <a:r>
              <a:rPr lang="de-DE"/>
              <a:t> </a:t>
            </a:r>
            <a:r>
              <a:rPr lang="de-DE" err="1"/>
              <a:t>allows</a:t>
            </a:r>
            <a:r>
              <a:rPr lang="de-DE"/>
              <a:t> </a:t>
            </a:r>
            <a:r>
              <a:rPr lang="de-DE" err="1"/>
              <a:t>the</a:t>
            </a:r>
            <a:r>
              <a:rPr lang="de-DE"/>
              <a:t> </a:t>
            </a:r>
            <a:r>
              <a:rPr lang="de-DE" err="1"/>
              <a:t>myelination</a:t>
            </a:r>
            <a:r>
              <a:rPr lang="de-DE"/>
              <a:t> </a:t>
            </a:r>
            <a:r>
              <a:rPr lang="de-DE" err="1"/>
              <a:t>pattern</a:t>
            </a:r>
            <a:r>
              <a:rPr lang="de-DE"/>
              <a:t> </a:t>
            </a:r>
            <a:r>
              <a:rPr lang="de-DE" err="1"/>
              <a:t>of</a:t>
            </a:r>
            <a:r>
              <a:rPr lang="de-DE"/>
              <a:t> </a:t>
            </a:r>
            <a:r>
              <a:rPr lang="de-DE" err="1"/>
              <a:t>the</a:t>
            </a:r>
            <a:r>
              <a:rPr lang="de-DE"/>
              <a:t> </a:t>
            </a:r>
            <a:r>
              <a:rPr lang="de-DE" err="1"/>
              <a:t>mother</a:t>
            </a:r>
            <a:r>
              <a:rPr lang="de-DE"/>
              <a:t> </a:t>
            </a:r>
            <a:r>
              <a:rPr lang="de-DE" err="1"/>
              <a:t>strand</a:t>
            </a:r>
            <a:r>
              <a:rPr lang="de-DE"/>
              <a:t> </a:t>
            </a:r>
            <a:r>
              <a:rPr lang="de-DE" err="1"/>
              <a:t>to</a:t>
            </a:r>
            <a:r>
              <a:rPr lang="de-DE"/>
              <a:t> </a:t>
            </a:r>
            <a:r>
              <a:rPr lang="de-DE" err="1"/>
              <a:t>be</a:t>
            </a:r>
            <a:r>
              <a:rPr lang="de-DE"/>
              <a:t> </a:t>
            </a:r>
            <a:r>
              <a:rPr lang="de-DE" err="1"/>
              <a:t>copied</a:t>
            </a:r>
            <a:r>
              <a:rPr lang="de-DE"/>
              <a:t> </a:t>
            </a:r>
            <a:r>
              <a:rPr lang="de-DE" err="1"/>
              <a:t>to</a:t>
            </a:r>
            <a:r>
              <a:rPr lang="de-DE"/>
              <a:t> </a:t>
            </a:r>
            <a:r>
              <a:rPr lang="de-DE" err="1"/>
              <a:t>the</a:t>
            </a:r>
            <a:r>
              <a:rPr lang="de-DE"/>
              <a:t> </a:t>
            </a:r>
            <a:r>
              <a:rPr lang="de-DE" err="1"/>
              <a:t>daugther</a:t>
            </a:r>
            <a:r>
              <a:rPr lang="de-DE"/>
              <a:t> </a:t>
            </a:r>
            <a:r>
              <a:rPr lang="de-DE" err="1"/>
              <a:t>strands</a:t>
            </a:r>
            <a:r>
              <a:rPr lang="de-DE"/>
              <a:t> in DNA </a:t>
            </a:r>
            <a:r>
              <a:rPr lang="de-DE" err="1"/>
              <a:t>replication</a:t>
            </a:r>
            <a:endParaRPr lang="de-DE"/>
          </a:p>
          <a:p>
            <a:pPr marL="171450" indent="-171450">
              <a:buFont typeface="Arial" panose="020B0604020202020204" pitchFamily="34" charset="0"/>
              <a:buChar char="•"/>
            </a:pPr>
            <a:r>
              <a:rPr lang="en-US"/>
              <a:t>CpG islands are DNA regions typically around 1000 base pairs in length and characterized by a higher density of CpG</a:t>
            </a:r>
          </a:p>
          <a:p>
            <a:pPr marL="171450" indent="-171450">
              <a:buFont typeface="Arial" panose="020B0604020202020204" pitchFamily="34" charset="0"/>
              <a:buChar char="•"/>
            </a:pPr>
            <a:r>
              <a:rPr lang="en-US"/>
              <a:t>Ca 60% of gene promotors are located in CpG island including important house keeping genes </a:t>
            </a:r>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de-DE"/>
          </a:p>
          <a:p>
            <a:pPr marL="171450" indent="-171450">
              <a:buFont typeface="Arial" panose="020B0604020202020204" pitchFamily="34" charset="0"/>
              <a:buChar char="•"/>
            </a:pPr>
            <a:endParaRPr lang="de-DE"/>
          </a:p>
        </p:txBody>
      </p:sp>
      <p:sp>
        <p:nvSpPr>
          <p:cNvPr id="4" name="Foliennummernplatzhalter 3">
            <a:extLst>
              <a:ext uri="{FF2B5EF4-FFF2-40B4-BE49-F238E27FC236}">
                <a16:creationId xmlns:a16="http://schemas.microsoft.com/office/drawing/2014/main" id="{6ED587E3-9418-188A-9375-BA79E4D3686E}"/>
              </a:ext>
            </a:extLst>
          </p:cNvPr>
          <p:cNvSpPr>
            <a:spLocks noGrp="1"/>
          </p:cNvSpPr>
          <p:nvPr>
            <p:ph type="sldNum" sz="quarter" idx="5"/>
          </p:nvPr>
        </p:nvSpPr>
        <p:spPr/>
        <p:txBody>
          <a:bodyPr/>
          <a:lstStyle/>
          <a:p>
            <a:fld id="{CCFEEF56-19F4-43EA-BED7-94DDD331E95E}" type="slidenum">
              <a:rPr lang="de-DE" smtClean="0"/>
              <a:t>7</a:t>
            </a:fld>
            <a:endParaRPr lang="de-DE"/>
          </a:p>
        </p:txBody>
      </p:sp>
    </p:spTree>
    <p:extLst>
      <p:ext uri="{BB962C8B-B14F-4D97-AF65-F5344CB8AC3E}">
        <p14:creationId xmlns:p14="http://schemas.microsoft.com/office/powerpoint/2010/main" val="1033476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0F096-6546-F34D-76B1-422F551803D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A3490B4-7E8E-DB01-D175-E414957433A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2A13E8E-F2CD-C34A-E185-104585236B39}"/>
              </a:ext>
            </a:extLst>
          </p:cNvPr>
          <p:cNvSpPr>
            <a:spLocks noGrp="1"/>
          </p:cNvSpPr>
          <p:nvPr>
            <p:ph type="body" idx="1"/>
          </p:nvPr>
        </p:nvSpPr>
        <p:spPr/>
        <p:txBody>
          <a:bodyPr/>
          <a:lstStyle/>
          <a:p>
            <a:pPr marL="171450" indent="-171450">
              <a:buFont typeface="Arial" panose="020B0604020202020204" pitchFamily="34" charset="0"/>
              <a:buChar char="•"/>
            </a:pPr>
            <a:r>
              <a:rPr lang="de-DE" err="1"/>
              <a:t>Lets</a:t>
            </a:r>
            <a:r>
              <a:rPr lang="de-DE"/>
              <a:t> </a:t>
            </a:r>
            <a:r>
              <a:rPr lang="de-DE" err="1"/>
              <a:t>quickly</a:t>
            </a:r>
            <a:r>
              <a:rPr lang="de-DE"/>
              <a:t> </a:t>
            </a:r>
            <a:r>
              <a:rPr lang="de-DE" err="1"/>
              <a:t>take</a:t>
            </a:r>
            <a:r>
              <a:rPr lang="de-DE"/>
              <a:t> a </a:t>
            </a:r>
            <a:r>
              <a:rPr lang="de-DE" err="1"/>
              <a:t>closer</a:t>
            </a:r>
            <a:r>
              <a:rPr lang="de-DE"/>
              <a:t> </a:t>
            </a:r>
            <a:r>
              <a:rPr lang="de-DE" err="1"/>
              <a:t>look</a:t>
            </a:r>
            <a:r>
              <a:rPr lang="de-DE"/>
              <a:t> at DNA methylation</a:t>
            </a:r>
          </a:p>
          <a:p>
            <a:pPr marL="171450" indent="-171450">
              <a:buFont typeface="Arial" panose="020B0604020202020204" pitchFamily="34" charset="0"/>
              <a:buChar char="•"/>
            </a:pPr>
            <a:r>
              <a:rPr lang="de-DE"/>
              <a:t>DNA methylation </a:t>
            </a:r>
            <a:r>
              <a:rPr lang="de-DE" err="1"/>
              <a:t>is</a:t>
            </a:r>
            <a:r>
              <a:rPr lang="de-DE"/>
              <a:t> an </a:t>
            </a:r>
            <a:r>
              <a:rPr lang="de-DE" err="1"/>
              <a:t>epigenetic</a:t>
            </a:r>
            <a:r>
              <a:rPr lang="de-DE"/>
              <a:t> </a:t>
            </a:r>
            <a:r>
              <a:rPr lang="de-DE" err="1"/>
              <a:t>mechanism</a:t>
            </a:r>
            <a:r>
              <a:rPr lang="de-DE"/>
              <a:t> in </a:t>
            </a:r>
            <a:r>
              <a:rPr lang="de-DE" err="1"/>
              <a:t>which</a:t>
            </a:r>
            <a:r>
              <a:rPr lang="de-DE"/>
              <a:t> a </a:t>
            </a:r>
            <a:r>
              <a:rPr lang="de-DE" err="1"/>
              <a:t>methyl</a:t>
            </a:r>
            <a:r>
              <a:rPr lang="de-DE"/>
              <a:t> </a:t>
            </a:r>
            <a:r>
              <a:rPr lang="de-DE" err="1"/>
              <a:t>group</a:t>
            </a:r>
            <a:r>
              <a:rPr lang="de-DE"/>
              <a:t> </a:t>
            </a:r>
            <a:r>
              <a:rPr lang="de-DE" err="1"/>
              <a:t>is</a:t>
            </a:r>
            <a:r>
              <a:rPr lang="de-DE"/>
              <a:t> </a:t>
            </a:r>
            <a:r>
              <a:rPr lang="de-DE" err="1"/>
              <a:t>added</a:t>
            </a:r>
            <a:r>
              <a:rPr lang="de-DE"/>
              <a:t> </a:t>
            </a:r>
            <a:r>
              <a:rPr lang="de-DE" err="1"/>
              <a:t>to</a:t>
            </a:r>
            <a:r>
              <a:rPr lang="de-DE"/>
              <a:t> </a:t>
            </a:r>
            <a:r>
              <a:rPr lang="de-DE" err="1"/>
              <a:t>the</a:t>
            </a:r>
            <a:r>
              <a:rPr lang="de-DE"/>
              <a:t> 5th </a:t>
            </a:r>
            <a:r>
              <a:rPr lang="de-DE" err="1"/>
              <a:t>carbon</a:t>
            </a:r>
            <a:r>
              <a:rPr lang="de-DE"/>
              <a:t> </a:t>
            </a:r>
            <a:r>
              <a:rPr lang="de-DE" err="1"/>
              <a:t>of</a:t>
            </a:r>
            <a:r>
              <a:rPr lang="de-DE"/>
              <a:t> </a:t>
            </a:r>
            <a:r>
              <a:rPr lang="de-DE" err="1"/>
              <a:t>cytosin</a:t>
            </a:r>
            <a:r>
              <a:rPr lang="de-DE"/>
              <a:t> (</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a:t>
            </a:r>
          </a:p>
          <a:p>
            <a:pPr marL="171450" indent="-171450">
              <a:buFont typeface="Arial" panose="020B0604020202020204" pitchFamily="34" charset="0"/>
              <a:buChar char="•"/>
            </a:pPr>
            <a:r>
              <a:rPr lang="de-DE"/>
              <a:t>This </a:t>
            </a:r>
            <a:r>
              <a:rPr lang="de-DE" err="1"/>
              <a:t>reaction</a:t>
            </a:r>
            <a:r>
              <a:rPr lang="de-DE"/>
              <a:t> </a:t>
            </a:r>
            <a:r>
              <a:rPr lang="de-DE" err="1"/>
              <a:t>is</a:t>
            </a:r>
            <a:r>
              <a:rPr lang="de-DE"/>
              <a:t> </a:t>
            </a:r>
            <a:r>
              <a:rPr lang="de-DE" err="1"/>
              <a:t>catalyzed</a:t>
            </a:r>
            <a:r>
              <a:rPr lang="de-DE"/>
              <a:t> </a:t>
            </a:r>
            <a:r>
              <a:rPr lang="de-DE" err="1"/>
              <a:t>by</a:t>
            </a:r>
            <a:r>
              <a:rPr lang="de-DE"/>
              <a:t> DNA </a:t>
            </a:r>
            <a:r>
              <a:rPr lang="de-DE" err="1"/>
              <a:t>methyltransferase</a:t>
            </a:r>
            <a:r>
              <a:rPr lang="de-DE"/>
              <a:t> and </a:t>
            </a:r>
            <a:r>
              <a:rPr lang="de-DE" err="1"/>
              <a:t>mainly</a:t>
            </a:r>
            <a:r>
              <a:rPr lang="de-DE"/>
              <a:t> </a:t>
            </a:r>
            <a:r>
              <a:rPr lang="de-DE" err="1"/>
              <a:t>occures</a:t>
            </a:r>
            <a:r>
              <a:rPr lang="de-DE"/>
              <a:t> in CG </a:t>
            </a:r>
            <a:r>
              <a:rPr lang="de-DE" err="1"/>
              <a:t>sequences</a:t>
            </a:r>
            <a:r>
              <a:rPr lang="de-DE"/>
              <a:t> also </a:t>
            </a:r>
            <a:r>
              <a:rPr lang="de-DE" err="1"/>
              <a:t>reffered</a:t>
            </a:r>
            <a:r>
              <a:rPr lang="de-DE"/>
              <a:t> </a:t>
            </a:r>
            <a:r>
              <a:rPr lang="de-DE" err="1"/>
              <a:t>to</a:t>
            </a:r>
            <a:r>
              <a:rPr lang="de-DE"/>
              <a:t> </a:t>
            </a:r>
            <a:r>
              <a:rPr lang="de-DE" err="1"/>
              <a:t>as</a:t>
            </a:r>
            <a:r>
              <a:rPr lang="de-DE"/>
              <a:t> </a:t>
            </a:r>
            <a:r>
              <a:rPr lang="de-DE" err="1"/>
              <a:t>CpG</a:t>
            </a:r>
            <a:r>
              <a:rPr lang="de-DE"/>
              <a:t> </a:t>
            </a:r>
            <a:r>
              <a:rPr lang="de-DE" err="1"/>
              <a:t>dinucleotides</a:t>
            </a:r>
            <a:r>
              <a:rPr lang="de-DE"/>
              <a:t>(</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 </a:t>
            </a:r>
          </a:p>
          <a:p>
            <a:pPr marL="171450" indent="-171450">
              <a:buFont typeface="Arial" panose="020B0604020202020204" pitchFamily="34" charset="0"/>
              <a:buChar char="•"/>
            </a:pPr>
            <a:r>
              <a:rPr lang="de-DE"/>
              <a:t>This </a:t>
            </a:r>
            <a:r>
              <a:rPr lang="de-DE" err="1"/>
              <a:t>constellation</a:t>
            </a:r>
            <a:r>
              <a:rPr lang="de-DE"/>
              <a:t> </a:t>
            </a:r>
            <a:r>
              <a:rPr lang="de-DE" err="1"/>
              <a:t>allows</a:t>
            </a:r>
            <a:r>
              <a:rPr lang="de-DE"/>
              <a:t> </a:t>
            </a:r>
            <a:r>
              <a:rPr lang="de-DE" err="1"/>
              <a:t>the</a:t>
            </a:r>
            <a:r>
              <a:rPr lang="de-DE"/>
              <a:t> </a:t>
            </a:r>
            <a:r>
              <a:rPr lang="de-DE" err="1"/>
              <a:t>myelination</a:t>
            </a:r>
            <a:r>
              <a:rPr lang="de-DE"/>
              <a:t> </a:t>
            </a:r>
            <a:r>
              <a:rPr lang="de-DE" err="1"/>
              <a:t>pattern</a:t>
            </a:r>
            <a:r>
              <a:rPr lang="de-DE"/>
              <a:t> </a:t>
            </a:r>
            <a:r>
              <a:rPr lang="de-DE" err="1"/>
              <a:t>of</a:t>
            </a:r>
            <a:r>
              <a:rPr lang="de-DE"/>
              <a:t> </a:t>
            </a:r>
            <a:r>
              <a:rPr lang="de-DE" err="1"/>
              <a:t>the</a:t>
            </a:r>
            <a:r>
              <a:rPr lang="de-DE"/>
              <a:t> </a:t>
            </a:r>
            <a:r>
              <a:rPr lang="de-DE" err="1"/>
              <a:t>mother</a:t>
            </a:r>
            <a:r>
              <a:rPr lang="de-DE"/>
              <a:t> </a:t>
            </a:r>
            <a:r>
              <a:rPr lang="de-DE" err="1"/>
              <a:t>strand</a:t>
            </a:r>
            <a:r>
              <a:rPr lang="de-DE"/>
              <a:t> </a:t>
            </a:r>
            <a:r>
              <a:rPr lang="de-DE" err="1"/>
              <a:t>to</a:t>
            </a:r>
            <a:r>
              <a:rPr lang="de-DE"/>
              <a:t> </a:t>
            </a:r>
            <a:r>
              <a:rPr lang="de-DE" err="1"/>
              <a:t>be</a:t>
            </a:r>
            <a:r>
              <a:rPr lang="de-DE"/>
              <a:t> </a:t>
            </a:r>
            <a:r>
              <a:rPr lang="de-DE" err="1"/>
              <a:t>copied</a:t>
            </a:r>
            <a:r>
              <a:rPr lang="de-DE"/>
              <a:t> </a:t>
            </a:r>
            <a:r>
              <a:rPr lang="de-DE" err="1"/>
              <a:t>to</a:t>
            </a:r>
            <a:r>
              <a:rPr lang="de-DE"/>
              <a:t> </a:t>
            </a:r>
            <a:r>
              <a:rPr lang="de-DE" err="1"/>
              <a:t>the</a:t>
            </a:r>
            <a:r>
              <a:rPr lang="de-DE"/>
              <a:t> </a:t>
            </a:r>
            <a:r>
              <a:rPr lang="de-DE" err="1"/>
              <a:t>daugther</a:t>
            </a:r>
            <a:r>
              <a:rPr lang="de-DE"/>
              <a:t> </a:t>
            </a:r>
            <a:r>
              <a:rPr lang="de-DE" err="1"/>
              <a:t>strands</a:t>
            </a:r>
            <a:r>
              <a:rPr lang="de-DE"/>
              <a:t> in DNA </a:t>
            </a:r>
            <a:r>
              <a:rPr lang="de-DE" err="1"/>
              <a:t>replication</a:t>
            </a:r>
            <a:endParaRPr lang="de-DE"/>
          </a:p>
          <a:p>
            <a:pPr marL="171450" indent="-171450">
              <a:buFont typeface="Arial" panose="020B0604020202020204" pitchFamily="34" charset="0"/>
              <a:buChar char="•"/>
            </a:pPr>
            <a:r>
              <a:rPr lang="en-US"/>
              <a:t>CpG islands are DNA regions typically around 1000 base pairs in length and characterized by a higher density of CpG</a:t>
            </a:r>
          </a:p>
          <a:p>
            <a:pPr marL="171450" indent="-171450">
              <a:buFont typeface="Arial" panose="020B0604020202020204" pitchFamily="34" charset="0"/>
              <a:buChar char="•"/>
            </a:pPr>
            <a:r>
              <a:rPr lang="en-US"/>
              <a:t>Ca 60% of gene promotors are located in CpG island including important house keeping genes </a:t>
            </a:r>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de-DE"/>
          </a:p>
          <a:p>
            <a:pPr marL="171450" indent="-171450">
              <a:buFont typeface="Arial" panose="020B0604020202020204" pitchFamily="34" charset="0"/>
              <a:buChar char="•"/>
            </a:pPr>
            <a:endParaRPr lang="de-DE"/>
          </a:p>
        </p:txBody>
      </p:sp>
      <p:sp>
        <p:nvSpPr>
          <p:cNvPr id="4" name="Foliennummernplatzhalter 3">
            <a:extLst>
              <a:ext uri="{FF2B5EF4-FFF2-40B4-BE49-F238E27FC236}">
                <a16:creationId xmlns:a16="http://schemas.microsoft.com/office/drawing/2014/main" id="{4CC823CF-B080-71C6-BBD0-1A09C073B14F}"/>
              </a:ext>
            </a:extLst>
          </p:cNvPr>
          <p:cNvSpPr>
            <a:spLocks noGrp="1"/>
          </p:cNvSpPr>
          <p:nvPr>
            <p:ph type="sldNum" sz="quarter" idx="5"/>
          </p:nvPr>
        </p:nvSpPr>
        <p:spPr/>
        <p:txBody>
          <a:bodyPr/>
          <a:lstStyle/>
          <a:p>
            <a:fld id="{CCFEEF56-19F4-43EA-BED7-94DDD331E95E}" type="slidenum">
              <a:rPr lang="de-DE" smtClean="0"/>
              <a:t>8</a:t>
            </a:fld>
            <a:endParaRPr lang="de-DE"/>
          </a:p>
        </p:txBody>
      </p:sp>
    </p:spTree>
    <p:extLst>
      <p:ext uri="{BB962C8B-B14F-4D97-AF65-F5344CB8AC3E}">
        <p14:creationId xmlns:p14="http://schemas.microsoft.com/office/powerpoint/2010/main" val="34225710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0F096-6546-F34D-76B1-422F551803D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A3490B4-7E8E-DB01-D175-E414957433A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2A13E8E-F2CD-C34A-E185-104585236B39}"/>
              </a:ext>
            </a:extLst>
          </p:cNvPr>
          <p:cNvSpPr>
            <a:spLocks noGrp="1"/>
          </p:cNvSpPr>
          <p:nvPr>
            <p:ph type="body" idx="1"/>
          </p:nvPr>
        </p:nvSpPr>
        <p:spPr/>
        <p:txBody>
          <a:bodyPr/>
          <a:lstStyle/>
          <a:p>
            <a:pPr marL="171450" indent="-171450">
              <a:buFont typeface="Arial" panose="020B0604020202020204" pitchFamily="34" charset="0"/>
              <a:buChar char="•"/>
            </a:pPr>
            <a:r>
              <a:rPr lang="de-DE" err="1"/>
              <a:t>Lets</a:t>
            </a:r>
            <a:r>
              <a:rPr lang="de-DE"/>
              <a:t> </a:t>
            </a:r>
            <a:r>
              <a:rPr lang="de-DE" err="1"/>
              <a:t>quickly</a:t>
            </a:r>
            <a:r>
              <a:rPr lang="de-DE"/>
              <a:t> </a:t>
            </a:r>
            <a:r>
              <a:rPr lang="de-DE" err="1"/>
              <a:t>take</a:t>
            </a:r>
            <a:r>
              <a:rPr lang="de-DE"/>
              <a:t> a </a:t>
            </a:r>
            <a:r>
              <a:rPr lang="de-DE" err="1"/>
              <a:t>closer</a:t>
            </a:r>
            <a:r>
              <a:rPr lang="de-DE"/>
              <a:t> </a:t>
            </a:r>
            <a:r>
              <a:rPr lang="de-DE" err="1"/>
              <a:t>look</a:t>
            </a:r>
            <a:r>
              <a:rPr lang="de-DE"/>
              <a:t> at DNA methylation</a:t>
            </a:r>
          </a:p>
          <a:p>
            <a:pPr marL="171450" indent="-171450">
              <a:buFont typeface="Arial" panose="020B0604020202020204" pitchFamily="34" charset="0"/>
              <a:buChar char="•"/>
            </a:pPr>
            <a:r>
              <a:rPr lang="de-DE"/>
              <a:t>DNA methylation </a:t>
            </a:r>
            <a:r>
              <a:rPr lang="de-DE" err="1"/>
              <a:t>is</a:t>
            </a:r>
            <a:r>
              <a:rPr lang="de-DE"/>
              <a:t> an </a:t>
            </a:r>
            <a:r>
              <a:rPr lang="de-DE" err="1"/>
              <a:t>epigenetic</a:t>
            </a:r>
            <a:r>
              <a:rPr lang="de-DE"/>
              <a:t> </a:t>
            </a:r>
            <a:r>
              <a:rPr lang="de-DE" err="1"/>
              <a:t>mechanism</a:t>
            </a:r>
            <a:r>
              <a:rPr lang="de-DE"/>
              <a:t> in </a:t>
            </a:r>
            <a:r>
              <a:rPr lang="de-DE" err="1"/>
              <a:t>which</a:t>
            </a:r>
            <a:r>
              <a:rPr lang="de-DE"/>
              <a:t> a </a:t>
            </a:r>
            <a:r>
              <a:rPr lang="de-DE" err="1"/>
              <a:t>methyl</a:t>
            </a:r>
            <a:r>
              <a:rPr lang="de-DE"/>
              <a:t> </a:t>
            </a:r>
            <a:r>
              <a:rPr lang="de-DE" err="1"/>
              <a:t>group</a:t>
            </a:r>
            <a:r>
              <a:rPr lang="de-DE"/>
              <a:t> </a:t>
            </a:r>
            <a:r>
              <a:rPr lang="de-DE" err="1"/>
              <a:t>is</a:t>
            </a:r>
            <a:r>
              <a:rPr lang="de-DE"/>
              <a:t> </a:t>
            </a:r>
            <a:r>
              <a:rPr lang="de-DE" err="1"/>
              <a:t>added</a:t>
            </a:r>
            <a:r>
              <a:rPr lang="de-DE"/>
              <a:t> </a:t>
            </a:r>
            <a:r>
              <a:rPr lang="de-DE" err="1"/>
              <a:t>to</a:t>
            </a:r>
            <a:r>
              <a:rPr lang="de-DE"/>
              <a:t> </a:t>
            </a:r>
            <a:r>
              <a:rPr lang="de-DE" err="1"/>
              <a:t>the</a:t>
            </a:r>
            <a:r>
              <a:rPr lang="de-DE"/>
              <a:t> 5th </a:t>
            </a:r>
            <a:r>
              <a:rPr lang="de-DE" err="1"/>
              <a:t>carbon</a:t>
            </a:r>
            <a:r>
              <a:rPr lang="de-DE"/>
              <a:t> </a:t>
            </a:r>
            <a:r>
              <a:rPr lang="de-DE" err="1"/>
              <a:t>of</a:t>
            </a:r>
            <a:r>
              <a:rPr lang="de-DE"/>
              <a:t> </a:t>
            </a:r>
            <a:r>
              <a:rPr lang="de-DE" err="1"/>
              <a:t>cytosin</a:t>
            </a:r>
            <a:r>
              <a:rPr lang="de-DE"/>
              <a:t> (</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a:t>
            </a:r>
          </a:p>
          <a:p>
            <a:pPr marL="171450" indent="-171450">
              <a:buFont typeface="Arial" panose="020B0604020202020204" pitchFamily="34" charset="0"/>
              <a:buChar char="•"/>
            </a:pPr>
            <a:r>
              <a:rPr lang="de-DE"/>
              <a:t>This </a:t>
            </a:r>
            <a:r>
              <a:rPr lang="de-DE" err="1"/>
              <a:t>reaction</a:t>
            </a:r>
            <a:r>
              <a:rPr lang="de-DE"/>
              <a:t> </a:t>
            </a:r>
            <a:r>
              <a:rPr lang="de-DE" err="1"/>
              <a:t>is</a:t>
            </a:r>
            <a:r>
              <a:rPr lang="de-DE"/>
              <a:t> </a:t>
            </a:r>
            <a:r>
              <a:rPr lang="de-DE" err="1"/>
              <a:t>catalyzed</a:t>
            </a:r>
            <a:r>
              <a:rPr lang="de-DE"/>
              <a:t> </a:t>
            </a:r>
            <a:r>
              <a:rPr lang="de-DE" err="1"/>
              <a:t>by</a:t>
            </a:r>
            <a:r>
              <a:rPr lang="de-DE"/>
              <a:t> DNA </a:t>
            </a:r>
            <a:r>
              <a:rPr lang="de-DE" err="1"/>
              <a:t>methyltransferase</a:t>
            </a:r>
            <a:r>
              <a:rPr lang="de-DE"/>
              <a:t> and </a:t>
            </a:r>
            <a:r>
              <a:rPr lang="de-DE" err="1"/>
              <a:t>mainly</a:t>
            </a:r>
            <a:r>
              <a:rPr lang="de-DE"/>
              <a:t> </a:t>
            </a:r>
            <a:r>
              <a:rPr lang="de-DE" err="1"/>
              <a:t>occures</a:t>
            </a:r>
            <a:r>
              <a:rPr lang="de-DE"/>
              <a:t> in CG </a:t>
            </a:r>
            <a:r>
              <a:rPr lang="de-DE" err="1"/>
              <a:t>sequences</a:t>
            </a:r>
            <a:r>
              <a:rPr lang="de-DE"/>
              <a:t> also </a:t>
            </a:r>
            <a:r>
              <a:rPr lang="de-DE" err="1"/>
              <a:t>reffered</a:t>
            </a:r>
            <a:r>
              <a:rPr lang="de-DE"/>
              <a:t> </a:t>
            </a:r>
            <a:r>
              <a:rPr lang="de-DE" err="1"/>
              <a:t>to</a:t>
            </a:r>
            <a:r>
              <a:rPr lang="de-DE"/>
              <a:t> </a:t>
            </a:r>
            <a:r>
              <a:rPr lang="de-DE" err="1"/>
              <a:t>as</a:t>
            </a:r>
            <a:r>
              <a:rPr lang="de-DE"/>
              <a:t> </a:t>
            </a:r>
            <a:r>
              <a:rPr lang="de-DE" err="1"/>
              <a:t>CpG</a:t>
            </a:r>
            <a:r>
              <a:rPr lang="de-DE"/>
              <a:t> </a:t>
            </a:r>
            <a:r>
              <a:rPr lang="de-DE" err="1"/>
              <a:t>dinucleotides</a:t>
            </a:r>
            <a:r>
              <a:rPr lang="de-DE"/>
              <a:t>(</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 </a:t>
            </a:r>
          </a:p>
          <a:p>
            <a:pPr marL="171450" indent="-171450">
              <a:buFont typeface="Arial" panose="020B0604020202020204" pitchFamily="34" charset="0"/>
              <a:buChar char="•"/>
            </a:pPr>
            <a:r>
              <a:rPr lang="de-DE"/>
              <a:t>This </a:t>
            </a:r>
            <a:r>
              <a:rPr lang="de-DE" err="1"/>
              <a:t>constellation</a:t>
            </a:r>
            <a:r>
              <a:rPr lang="de-DE"/>
              <a:t> </a:t>
            </a:r>
            <a:r>
              <a:rPr lang="de-DE" err="1"/>
              <a:t>allows</a:t>
            </a:r>
            <a:r>
              <a:rPr lang="de-DE"/>
              <a:t> </a:t>
            </a:r>
            <a:r>
              <a:rPr lang="de-DE" err="1"/>
              <a:t>the</a:t>
            </a:r>
            <a:r>
              <a:rPr lang="de-DE"/>
              <a:t> </a:t>
            </a:r>
            <a:r>
              <a:rPr lang="de-DE" err="1"/>
              <a:t>myelination</a:t>
            </a:r>
            <a:r>
              <a:rPr lang="de-DE"/>
              <a:t> </a:t>
            </a:r>
            <a:r>
              <a:rPr lang="de-DE" err="1"/>
              <a:t>pattern</a:t>
            </a:r>
            <a:r>
              <a:rPr lang="de-DE"/>
              <a:t> </a:t>
            </a:r>
            <a:r>
              <a:rPr lang="de-DE" err="1"/>
              <a:t>of</a:t>
            </a:r>
            <a:r>
              <a:rPr lang="de-DE"/>
              <a:t> </a:t>
            </a:r>
            <a:r>
              <a:rPr lang="de-DE" err="1"/>
              <a:t>the</a:t>
            </a:r>
            <a:r>
              <a:rPr lang="de-DE"/>
              <a:t> </a:t>
            </a:r>
            <a:r>
              <a:rPr lang="de-DE" err="1"/>
              <a:t>mother</a:t>
            </a:r>
            <a:r>
              <a:rPr lang="de-DE"/>
              <a:t> </a:t>
            </a:r>
            <a:r>
              <a:rPr lang="de-DE" err="1"/>
              <a:t>strand</a:t>
            </a:r>
            <a:r>
              <a:rPr lang="de-DE"/>
              <a:t> </a:t>
            </a:r>
            <a:r>
              <a:rPr lang="de-DE" err="1"/>
              <a:t>to</a:t>
            </a:r>
            <a:r>
              <a:rPr lang="de-DE"/>
              <a:t> </a:t>
            </a:r>
            <a:r>
              <a:rPr lang="de-DE" err="1"/>
              <a:t>be</a:t>
            </a:r>
            <a:r>
              <a:rPr lang="de-DE"/>
              <a:t> </a:t>
            </a:r>
            <a:r>
              <a:rPr lang="de-DE" err="1"/>
              <a:t>copied</a:t>
            </a:r>
            <a:r>
              <a:rPr lang="de-DE"/>
              <a:t> </a:t>
            </a:r>
            <a:r>
              <a:rPr lang="de-DE" err="1"/>
              <a:t>to</a:t>
            </a:r>
            <a:r>
              <a:rPr lang="de-DE"/>
              <a:t> </a:t>
            </a:r>
            <a:r>
              <a:rPr lang="de-DE" err="1"/>
              <a:t>the</a:t>
            </a:r>
            <a:r>
              <a:rPr lang="de-DE"/>
              <a:t> </a:t>
            </a:r>
            <a:r>
              <a:rPr lang="de-DE" err="1"/>
              <a:t>daugther</a:t>
            </a:r>
            <a:r>
              <a:rPr lang="de-DE"/>
              <a:t> </a:t>
            </a:r>
            <a:r>
              <a:rPr lang="de-DE" err="1"/>
              <a:t>strands</a:t>
            </a:r>
            <a:r>
              <a:rPr lang="de-DE"/>
              <a:t> in DNA </a:t>
            </a:r>
            <a:r>
              <a:rPr lang="de-DE" err="1"/>
              <a:t>replication</a:t>
            </a:r>
            <a:endParaRPr lang="de-DE"/>
          </a:p>
          <a:p>
            <a:pPr marL="171450" indent="-171450">
              <a:buFont typeface="Arial" panose="020B0604020202020204" pitchFamily="34" charset="0"/>
              <a:buChar char="•"/>
            </a:pPr>
            <a:r>
              <a:rPr lang="en-US"/>
              <a:t>CpG islands are DNA regions typically around 1000 base pairs in length and characterized by a higher density of CpG</a:t>
            </a:r>
          </a:p>
          <a:p>
            <a:pPr marL="171450" indent="-171450">
              <a:buFont typeface="Arial" panose="020B0604020202020204" pitchFamily="34" charset="0"/>
              <a:buChar char="•"/>
            </a:pPr>
            <a:r>
              <a:rPr lang="en-US"/>
              <a:t>Ca 60% of gene promotors are located in CpG island including important house keeping genes </a:t>
            </a:r>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de-DE"/>
          </a:p>
          <a:p>
            <a:pPr marL="171450" indent="-171450">
              <a:buFont typeface="Arial" panose="020B0604020202020204" pitchFamily="34" charset="0"/>
              <a:buChar char="•"/>
            </a:pPr>
            <a:endParaRPr lang="de-DE"/>
          </a:p>
        </p:txBody>
      </p:sp>
      <p:sp>
        <p:nvSpPr>
          <p:cNvPr id="4" name="Foliennummernplatzhalter 3">
            <a:extLst>
              <a:ext uri="{FF2B5EF4-FFF2-40B4-BE49-F238E27FC236}">
                <a16:creationId xmlns:a16="http://schemas.microsoft.com/office/drawing/2014/main" id="{4CC823CF-B080-71C6-BBD0-1A09C073B14F}"/>
              </a:ext>
            </a:extLst>
          </p:cNvPr>
          <p:cNvSpPr>
            <a:spLocks noGrp="1"/>
          </p:cNvSpPr>
          <p:nvPr>
            <p:ph type="sldNum" sz="quarter" idx="5"/>
          </p:nvPr>
        </p:nvSpPr>
        <p:spPr/>
        <p:txBody>
          <a:bodyPr/>
          <a:lstStyle/>
          <a:p>
            <a:fld id="{CCFEEF56-19F4-43EA-BED7-94DDD331E95E}" type="slidenum">
              <a:rPr lang="de-DE" smtClean="0"/>
              <a:t>9</a:t>
            </a:fld>
            <a:endParaRPr lang="de-DE"/>
          </a:p>
        </p:txBody>
      </p:sp>
    </p:spTree>
    <p:extLst>
      <p:ext uri="{BB962C8B-B14F-4D97-AF65-F5344CB8AC3E}">
        <p14:creationId xmlns:p14="http://schemas.microsoft.com/office/powerpoint/2010/main" val="545033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75A4-7F9C-B3B0-40DC-0C0FB979444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D29C8E0-3F12-1B88-DC08-C77C5312632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BACB290-3F20-3406-17C0-AC8BE68E640B}"/>
              </a:ext>
            </a:extLst>
          </p:cNvPr>
          <p:cNvSpPr>
            <a:spLocks noGrp="1"/>
          </p:cNvSpPr>
          <p:nvPr>
            <p:ph type="body" idx="1"/>
          </p:nvPr>
        </p:nvSpPr>
        <p:spPr/>
        <p:txBody>
          <a:bodyPr/>
          <a:lstStyle/>
          <a:p>
            <a:pPr marL="171450" indent="-171450">
              <a:buFont typeface="Arial" panose="020B0604020202020204" pitchFamily="34" charset="0"/>
              <a:buChar char="•"/>
            </a:pPr>
            <a:r>
              <a:rPr lang="de-DE" err="1"/>
              <a:t>Lets</a:t>
            </a:r>
            <a:r>
              <a:rPr lang="de-DE"/>
              <a:t> </a:t>
            </a:r>
            <a:r>
              <a:rPr lang="de-DE" err="1"/>
              <a:t>quickly</a:t>
            </a:r>
            <a:r>
              <a:rPr lang="de-DE"/>
              <a:t> </a:t>
            </a:r>
            <a:r>
              <a:rPr lang="de-DE" err="1"/>
              <a:t>take</a:t>
            </a:r>
            <a:r>
              <a:rPr lang="de-DE"/>
              <a:t> a </a:t>
            </a:r>
            <a:r>
              <a:rPr lang="de-DE" err="1"/>
              <a:t>closer</a:t>
            </a:r>
            <a:r>
              <a:rPr lang="de-DE"/>
              <a:t> </a:t>
            </a:r>
            <a:r>
              <a:rPr lang="de-DE" err="1"/>
              <a:t>look</a:t>
            </a:r>
            <a:r>
              <a:rPr lang="de-DE"/>
              <a:t> at DNA methylation</a:t>
            </a:r>
          </a:p>
          <a:p>
            <a:pPr marL="171450" indent="-171450">
              <a:buFont typeface="Arial" panose="020B0604020202020204" pitchFamily="34" charset="0"/>
              <a:buChar char="•"/>
            </a:pPr>
            <a:r>
              <a:rPr lang="de-DE"/>
              <a:t>DNA methylation </a:t>
            </a:r>
            <a:r>
              <a:rPr lang="de-DE" err="1"/>
              <a:t>is</a:t>
            </a:r>
            <a:r>
              <a:rPr lang="de-DE"/>
              <a:t> an </a:t>
            </a:r>
            <a:r>
              <a:rPr lang="de-DE" err="1"/>
              <a:t>epigenetic</a:t>
            </a:r>
            <a:r>
              <a:rPr lang="de-DE"/>
              <a:t> </a:t>
            </a:r>
            <a:r>
              <a:rPr lang="de-DE" err="1"/>
              <a:t>mechanism</a:t>
            </a:r>
            <a:r>
              <a:rPr lang="de-DE"/>
              <a:t> in </a:t>
            </a:r>
            <a:r>
              <a:rPr lang="de-DE" err="1"/>
              <a:t>which</a:t>
            </a:r>
            <a:r>
              <a:rPr lang="de-DE"/>
              <a:t> a </a:t>
            </a:r>
            <a:r>
              <a:rPr lang="de-DE" err="1"/>
              <a:t>methyl</a:t>
            </a:r>
            <a:r>
              <a:rPr lang="de-DE"/>
              <a:t> </a:t>
            </a:r>
            <a:r>
              <a:rPr lang="de-DE" err="1"/>
              <a:t>group</a:t>
            </a:r>
            <a:r>
              <a:rPr lang="de-DE"/>
              <a:t> </a:t>
            </a:r>
            <a:r>
              <a:rPr lang="de-DE" err="1"/>
              <a:t>is</a:t>
            </a:r>
            <a:r>
              <a:rPr lang="de-DE"/>
              <a:t> </a:t>
            </a:r>
            <a:r>
              <a:rPr lang="de-DE" err="1"/>
              <a:t>added</a:t>
            </a:r>
            <a:r>
              <a:rPr lang="de-DE"/>
              <a:t> </a:t>
            </a:r>
            <a:r>
              <a:rPr lang="de-DE" err="1"/>
              <a:t>to</a:t>
            </a:r>
            <a:r>
              <a:rPr lang="de-DE"/>
              <a:t> </a:t>
            </a:r>
            <a:r>
              <a:rPr lang="de-DE" err="1"/>
              <a:t>the</a:t>
            </a:r>
            <a:r>
              <a:rPr lang="de-DE"/>
              <a:t> 5th </a:t>
            </a:r>
            <a:r>
              <a:rPr lang="de-DE" err="1"/>
              <a:t>carbon</a:t>
            </a:r>
            <a:r>
              <a:rPr lang="de-DE"/>
              <a:t> </a:t>
            </a:r>
            <a:r>
              <a:rPr lang="de-DE" err="1"/>
              <a:t>of</a:t>
            </a:r>
            <a:r>
              <a:rPr lang="de-DE"/>
              <a:t> </a:t>
            </a:r>
            <a:r>
              <a:rPr lang="de-DE" err="1"/>
              <a:t>cytosin</a:t>
            </a:r>
            <a:r>
              <a:rPr lang="de-DE"/>
              <a:t> (</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a:t>
            </a:r>
          </a:p>
          <a:p>
            <a:pPr marL="171450" indent="-171450">
              <a:buFont typeface="Arial" panose="020B0604020202020204" pitchFamily="34" charset="0"/>
              <a:buChar char="•"/>
            </a:pPr>
            <a:r>
              <a:rPr lang="de-DE"/>
              <a:t>This </a:t>
            </a:r>
            <a:r>
              <a:rPr lang="de-DE" err="1"/>
              <a:t>reaction</a:t>
            </a:r>
            <a:r>
              <a:rPr lang="de-DE"/>
              <a:t> </a:t>
            </a:r>
            <a:r>
              <a:rPr lang="de-DE" err="1"/>
              <a:t>is</a:t>
            </a:r>
            <a:r>
              <a:rPr lang="de-DE"/>
              <a:t> </a:t>
            </a:r>
            <a:r>
              <a:rPr lang="de-DE" err="1"/>
              <a:t>catalyzed</a:t>
            </a:r>
            <a:r>
              <a:rPr lang="de-DE"/>
              <a:t> </a:t>
            </a:r>
            <a:r>
              <a:rPr lang="de-DE" err="1"/>
              <a:t>by</a:t>
            </a:r>
            <a:r>
              <a:rPr lang="de-DE"/>
              <a:t> DNA </a:t>
            </a:r>
            <a:r>
              <a:rPr lang="de-DE" err="1"/>
              <a:t>methyltransferase</a:t>
            </a:r>
            <a:r>
              <a:rPr lang="de-DE"/>
              <a:t> and </a:t>
            </a:r>
            <a:r>
              <a:rPr lang="de-DE" err="1"/>
              <a:t>mainly</a:t>
            </a:r>
            <a:r>
              <a:rPr lang="de-DE"/>
              <a:t> </a:t>
            </a:r>
            <a:r>
              <a:rPr lang="de-DE" err="1"/>
              <a:t>occures</a:t>
            </a:r>
            <a:r>
              <a:rPr lang="de-DE"/>
              <a:t> in CG </a:t>
            </a:r>
            <a:r>
              <a:rPr lang="de-DE" err="1"/>
              <a:t>sequences</a:t>
            </a:r>
            <a:r>
              <a:rPr lang="de-DE"/>
              <a:t> also </a:t>
            </a:r>
            <a:r>
              <a:rPr lang="de-DE" err="1"/>
              <a:t>reffered</a:t>
            </a:r>
            <a:r>
              <a:rPr lang="de-DE"/>
              <a:t> </a:t>
            </a:r>
            <a:r>
              <a:rPr lang="de-DE" err="1"/>
              <a:t>to</a:t>
            </a:r>
            <a:r>
              <a:rPr lang="de-DE"/>
              <a:t> </a:t>
            </a:r>
            <a:r>
              <a:rPr lang="de-DE" err="1"/>
              <a:t>as</a:t>
            </a:r>
            <a:r>
              <a:rPr lang="de-DE"/>
              <a:t> </a:t>
            </a:r>
            <a:r>
              <a:rPr lang="de-DE" err="1"/>
              <a:t>CpG</a:t>
            </a:r>
            <a:r>
              <a:rPr lang="de-DE"/>
              <a:t> </a:t>
            </a:r>
            <a:r>
              <a:rPr lang="de-DE" err="1"/>
              <a:t>dinucleotides</a:t>
            </a:r>
            <a:r>
              <a:rPr lang="de-DE"/>
              <a:t>(</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 </a:t>
            </a:r>
          </a:p>
          <a:p>
            <a:pPr marL="171450" indent="-171450">
              <a:buFont typeface="Arial" panose="020B0604020202020204" pitchFamily="34" charset="0"/>
              <a:buChar char="•"/>
            </a:pPr>
            <a:r>
              <a:rPr lang="de-DE"/>
              <a:t>This </a:t>
            </a:r>
            <a:r>
              <a:rPr lang="de-DE" err="1"/>
              <a:t>constellation</a:t>
            </a:r>
            <a:r>
              <a:rPr lang="de-DE"/>
              <a:t> </a:t>
            </a:r>
            <a:r>
              <a:rPr lang="de-DE" err="1"/>
              <a:t>allows</a:t>
            </a:r>
            <a:r>
              <a:rPr lang="de-DE"/>
              <a:t> </a:t>
            </a:r>
            <a:r>
              <a:rPr lang="de-DE" err="1"/>
              <a:t>the</a:t>
            </a:r>
            <a:r>
              <a:rPr lang="de-DE"/>
              <a:t> </a:t>
            </a:r>
            <a:r>
              <a:rPr lang="de-DE" err="1"/>
              <a:t>myelination</a:t>
            </a:r>
            <a:r>
              <a:rPr lang="de-DE"/>
              <a:t> </a:t>
            </a:r>
            <a:r>
              <a:rPr lang="de-DE" err="1"/>
              <a:t>pattern</a:t>
            </a:r>
            <a:r>
              <a:rPr lang="de-DE"/>
              <a:t> </a:t>
            </a:r>
            <a:r>
              <a:rPr lang="de-DE" err="1"/>
              <a:t>of</a:t>
            </a:r>
            <a:r>
              <a:rPr lang="de-DE"/>
              <a:t> </a:t>
            </a:r>
            <a:r>
              <a:rPr lang="de-DE" err="1"/>
              <a:t>the</a:t>
            </a:r>
            <a:r>
              <a:rPr lang="de-DE"/>
              <a:t> </a:t>
            </a:r>
            <a:r>
              <a:rPr lang="de-DE" err="1"/>
              <a:t>mother</a:t>
            </a:r>
            <a:r>
              <a:rPr lang="de-DE"/>
              <a:t> </a:t>
            </a:r>
            <a:r>
              <a:rPr lang="de-DE" err="1"/>
              <a:t>strand</a:t>
            </a:r>
            <a:r>
              <a:rPr lang="de-DE"/>
              <a:t> </a:t>
            </a:r>
            <a:r>
              <a:rPr lang="de-DE" err="1"/>
              <a:t>to</a:t>
            </a:r>
            <a:r>
              <a:rPr lang="de-DE"/>
              <a:t> </a:t>
            </a:r>
            <a:r>
              <a:rPr lang="de-DE" err="1"/>
              <a:t>be</a:t>
            </a:r>
            <a:r>
              <a:rPr lang="de-DE"/>
              <a:t> </a:t>
            </a:r>
            <a:r>
              <a:rPr lang="de-DE" err="1"/>
              <a:t>copied</a:t>
            </a:r>
            <a:r>
              <a:rPr lang="de-DE"/>
              <a:t> </a:t>
            </a:r>
            <a:r>
              <a:rPr lang="de-DE" err="1"/>
              <a:t>to</a:t>
            </a:r>
            <a:r>
              <a:rPr lang="de-DE"/>
              <a:t> </a:t>
            </a:r>
            <a:r>
              <a:rPr lang="de-DE" err="1"/>
              <a:t>the</a:t>
            </a:r>
            <a:r>
              <a:rPr lang="de-DE"/>
              <a:t> </a:t>
            </a:r>
            <a:r>
              <a:rPr lang="de-DE" err="1"/>
              <a:t>daugther</a:t>
            </a:r>
            <a:r>
              <a:rPr lang="de-DE"/>
              <a:t> </a:t>
            </a:r>
            <a:r>
              <a:rPr lang="de-DE" err="1"/>
              <a:t>strands</a:t>
            </a:r>
            <a:r>
              <a:rPr lang="de-DE"/>
              <a:t> in DNA </a:t>
            </a:r>
            <a:r>
              <a:rPr lang="de-DE" err="1"/>
              <a:t>replication</a:t>
            </a:r>
            <a:endParaRPr lang="de-DE"/>
          </a:p>
          <a:p>
            <a:pPr marL="171450" indent="-171450">
              <a:buFont typeface="Arial" panose="020B0604020202020204" pitchFamily="34" charset="0"/>
              <a:buChar char="•"/>
            </a:pPr>
            <a:r>
              <a:rPr lang="en-US"/>
              <a:t>CpG islands are DNA regions typically around 1000 base pairs in length and characterized by a higher density of CpG</a:t>
            </a:r>
          </a:p>
          <a:p>
            <a:pPr marL="171450" indent="-171450">
              <a:buFont typeface="Arial" panose="020B0604020202020204" pitchFamily="34" charset="0"/>
              <a:buChar char="•"/>
            </a:pPr>
            <a:r>
              <a:rPr lang="en-US"/>
              <a:t>Ca 60% of gene promotors are located in CpG island including important house keeping genes </a:t>
            </a:r>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de-DE"/>
          </a:p>
          <a:p>
            <a:pPr marL="171450" indent="-171450">
              <a:buFont typeface="Arial" panose="020B0604020202020204" pitchFamily="34" charset="0"/>
              <a:buChar char="•"/>
            </a:pPr>
            <a:endParaRPr lang="de-DE"/>
          </a:p>
        </p:txBody>
      </p:sp>
      <p:sp>
        <p:nvSpPr>
          <p:cNvPr id="4" name="Foliennummernplatzhalter 3">
            <a:extLst>
              <a:ext uri="{FF2B5EF4-FFF2-40B4-BE49-F238E27FC236}">
                <a16:creationId xmlns:a16="http://schemas.microsoft.com/office/drawing/2014/main" id="{303C5B47-A74F-957C-964C-49F4F9A50E1C}"/>
              </a:ext>
            </a:extLst>
          </p:cNvPr>
          <p:cNvSpPr>
            <a:spLocks noGrp="1"/>
          </p:cNvSpPr>
          <p:nvPr>
            <p:ph type="sldNum" sz="quarter" idx="5"/>
          </p:nvPr>
        </p:nvSpPr>
        <p:spPr/>
        <p:txBody>
          <a:bodyPr/>
          <a:lstStyle/>
          <a:p>
            <a:fld id="{CCFEEF56-19F4-43EA-BED7-94DDD331E95E}" type="slidenum">
              <a:rPr lang="de-DE" smtClean="0"/>
              <a:t>10</a:t>
            </a:fld>
            <a:endParaRPr lang="de-DE"/>
          </a:p>
        </p:txBody>
      </p:sp>
    </p:spTree>
    <p:extLst>
      <p:ext uri="{BB962C8B-B14F-4D97-AF65-F5344CB8AC3E}">
        <p14:creationId xmlns:p14="http://schemas.microsoft.com/office/powerpoint/2010/main" val="1300960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C88C3-905C-508E-E3A6-9E59C07C7BB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791BEC6-9677-C51A-74A5-97449A03E8F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D0425F0-D47F-1D3F-04F0-B7189F6CA6BA}"/>
              </a:ext>
            </a:extLst>
          </p:cNvPr>
          <p:cNvSpPr>
            <a:spLocks noGrp="1"/>
          </p:cNvSpPr>
          <p:nvPr>
            <p:ph type="body" idx="1"/>
          </p:nvPr>
        </p:nvSpPr>
        <p:spPr/>
        <p:txBody>
          <a:bodyPr/>
          <a:lstStyle/>
          <a:p>
            <a:pPr marL="171450" indent="-171450">
              <a:buFont typeface="Arial" panose="020B0604020202020204" pitchFamily="34" charset="0"/>
              <a:buChar char="•"/>
            </a:pPr>
            <a:r>
              <a:rPr lang="de-DE" err="1"/>
              <a:t>Lets</a:t>
            </a:r>
            <a:r>
              <a:rPr lang="de-DE"/>
              <a:t> </a:t>
            </a:r>
            <a:r>
              <a:rPr lang="de-DE" err="1"/>
              <a:t>quickly</a:t>
            </a:r>
            <a:r>
              <a:rPr lang="de-DE"/>
              <a:t> </a:t>
            </a:r>
            <a:r>
              <a:rPr lang="de-DE" err="1"/>
              <a:t>take</a:t>
            </a:r>
            <a:r>
              <a:rPr lang="de-DE"/>
              <a:t> a </a:t>
            </a:r>
            <a:r>
              <a:rPr lang="de-DE" err="1"/>
              <a:t>closer</a:t>
            </a:r>
            <a:r>
              <a:rPr lang="de-DE"/>
              <a:t> </a:t>
            </a:r>
            <a:r>
              <a:rPr lang="de-DE" err="1"/>
              <a:t>look</a:t>
            </a:r>
            <a:r>
              <a:rPr lang="de-DE"/>
              <a:t> at DNA methylation</a:t>
            </a:r>
          </a:p>
          <a:p>
            <a:pPr marL="171450" indent="-171450">
              <a:buFont typeface="Arial" panose="020B0604020202020204" pitchFamily="34" charset="0"/>
              <a:buChar char="•"/>
            </a:pPr>
            <a:r>
              <a:rPr lang="de-DE"/>
              <a:t>DNA methylation </a:t>
            </a:r>
            <a:r>
              <a:rPr lang="de-DE" err="1"/>
              <a:t>is</a:t>
            </a:r>
            <a:r>
              <a:rPr lang="de-DE"/>
              <a:t> an </a:t>
            </a:r>
            <a:r>
              <a:rPr lang="de-DE" err="1"/>
              <a:t>epigenetic</a:t>
            </a:r>
            <a:r>
              <a:rPr lang="de-DE"/>
              <a:t> </a:t>
            </a:r>
            <a:r>
              <a:rPr lang="de-DE" err="1"/>
              <a:t>mechanism</a:t>
            </a:r>
            <a:r>
              <a:rPr lang="de-DE"/>
              <a:t> in </a:t>
            </a:r>
            <a:r>
              <a:rPr lang="de-DE" err="1"/>
              <a:t>which</a:t>
            </a:r>
            <a:r>
              <a:rPr lang="de-DE"/>
              <a:t> a </a:t>
            </a:r>
            <a:r>
              <a:rPr lang="de-DE" err="1"/>
              <a:t>methyl</a:t>
            </a:r>
            <a:r>
              <a:rPr lang="de-DE"/>
              <a:t> </a:t>
            </a:r>
            <a:r>
              <a:rPr lang="de-DE" err="1"/>
              <a:t>group</a:t>
            </a:r>
            <a:r>
              <a:rPr lang="de-DE"/>
              <a:t> </a:t>
            </a:r>
            <a:r>
              <a:rPr lang="de-DE" err="1"/>
              <a:t>is</a:t>
            </a:r>
            <a:r>
              <a:rPr lang="de-DE"/>
              <a:t> </a:t>
            </a:r>
            <a:r>
              <a:rPr lang="de-DE" err="1"/>
              <a:t>added</a:t>
            </a:r>
            <a:r>
              <a:rPr lang="de-DE"/>
              <a:t> </a:t>
            </a:r>
            <a:r>
              <a:rPr lang="de-DE" err="1"/>
              <a:t>to</a:t>
            </a:r>
            <a:r>
              <a:rPr lang="de-DE"/>
              <a:t> </a:t>
            </a:r>
            <a:r>
              <a:rPr lang="de-DE" err="1"/>
              <a:t>the</a:t>
            </a:r>
            <a:r>
              <a:rPr lang="de-DE"/>
              <a:t> 5th </a:t>
            </a:r>
            <a:r>
              <a:rPr lang="de-DE" err="1"/>
              <a:t>carbon</a:t>
            </a:r>
            <a:r>
              <a:rPr lang="de-DE"/>
              <a:t> </a:t>
            </a:r>
            <a:r>
              <a:rPr lang="de-DE" err="1"/>
              <a:t>of</a:t>
            </a:r>
            <a:r>
              <a:rPr lang="de-DE"/>
              <a:t> </a:t>
            </a:r>
            <a:r>
              <a:rPr lang="de-DE" err="1"/>
              <a:t>cytosin</a:t>
            </a:r>
            <a:r>
              <a:rPr lang="de-DE"/>
              <a:t> (</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a:t>
            </a:r>
          </a:p>
          <a:p>
            <a:pPr marL="171450" indent="-171450">
              <a:buFont typeface="Arial" panose="020B0604020202020204" pitchFamily="34" charset="0"/>
              <a:buChar char="•"/>
            </a:pPr>
            <a:r>
              <a:rPr lang="de-DE"/>
              <a:t>This </a:t>
            </a:r>
            <a:r>
              <a:rPr lang="de-DE" err="1"/>
              <a:t>reaction</a:t>
            </a:r>
            <a:r>
              <a:rPr lang="de-DE"/>
              <a:t> </a:t>
            </a:r>
            <a:r>
              <a:rPr lang="de-DE" err="1"/>
              <a:t>is</a:t>
            </a:r>
            <a:r>
              <a:rPr lang="de-DE"/>
              <a:t> </a:t>
            </a:r>
            <a:r>
              <a:rPr lang="de-DE" err="1"/>
              <a:t>catalyzed</a:t>
            </a:r>
            <a:r>
              <a:rPr lang="de-DE"/>
              <a:t> </a:t>
            </a:r>
            <a:r>
              <a:rPr lang="de-DE" err="1"/>
              <a:t>by</a:t>
            </a:r>
            <a:r>
              <a:rPr lang="de-DE"/>
              <a:t> DNA </a:t>
            </a:r>
            <a:r>
              <a:rPr lang="de-DE" err="1"/>
              <a:t>methyltransferase</a:t>
            </a:r>
            <a:r>
              <a:rPr lang="de-DE"/>
              <a:t> and </a:t>
            </a:r>
            <a:r>
              <a:rPr lang="de-DE" err="1"/>
              <a:t>mainly</a:t>
            </a:r>
            <a:r>
              <a:rPr lang="de-DE"/>
              <a:t> </a:t>
            </a:r>
            <a:r>
              <a:rPr lang="de-DE" err="1"/>
              <a:t>occures</a:t>
            </a:r>
            <a:r>
              <a:rPr lang="de-DE"/>
              <a:t> in CG </a:t>
            </a:r>
            <a:r>
              <a:rPr lang="de-DE" err="1"/>
              <a:t>sequences</a:t>
            </a:r>
            <a:r>
              <a:rPr lang="de-DE"/>
              <a:t> also </a:t>
            </a:r>
            <a:r>
              <a:rPr lang="de-DE" err="1"/>
              <a:t>reffered</a:t>
            </a:r>
            <a:r>
              <a:rPr lang="de-DE"/>
              <a:t> </a:t>
            </a:r>
            <a:r>
              <a:rPr lang="de-DE" err="1"/>
              <a:t>to</a:t>
            </a:r>
            <a:r>
              <a:rPr lang="de-DE"/>
              <a:t> </a:t>
            </a:r>
            <a:r>
              <a:rPr lang="de-DE" err="1"/>
              <a:t>as</a:t>
            </a:r>
            <a:r>
              <a:rPr lang="de-DE"/>
              <a:t> </a:t>
            </a:r>
            <a:r>
              <a:rPr lang="de-DE" err="1"/>
              <a:t>CpG</a:t>
            </a:r>
            <a:r>
              <a:rPr lang="de-DE"/>
              <a:t> </a:t>
            </a:r>
            <a:r>
              <a:rPr lang="de-DE" err="1"/>
              <a:t>dinucleotides</a:t>
            </a:r>
            <a:r>
              <a:rPr lang="de-DE"/>
              <a:t>(</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 </a:t>
            </a:r>
          </a:p>
          <a:p>
            <a:pPr marL="171450" indent="-171450">
              <a:buFont typeface="Arial" panose="020B0604020202020204" pitchFamily="34" charset="0"/>
              <a:buChar char="•"/>
            </a:pPr>
            <a:r>
              <a:rPr lang="de-DE"/>
              <a:t>This </a:t>
            </a:r>
            <a:r>
              <a:rPr lang="de-DE" err="1"/>
              <a:t>constellation</a:t>
            </a:r>
            <a:r>
              <a:rPr lang="de-DE"/>
              <a:t> </a:t>
            </a:r>
            <a:r>
              <a:rPr lang="de-DE" err="1"/>
              <a:t>allows</a:t>
            </a:r>
            <a:r>
              <a:rPr lang="de-DE"/>
              <a:t> </a:t>
            </a:r>
            <a:r>
              <a:rPr lang="de-DE" err="1"/>
              <a:t>the</a:t>
            </a:r>
            <a:r>
              <a:rPr lang="de-DE"/>
              <a:t> </a:t>
            </a:r>
            <a:r>
              <a:rPr lang="de-DE" err="1"/>
              <a:t>myelination</a:t>
            </a:r>
            <a:r>
              <a:rPr lang="de-DE"/>
              <a:t> </a:t>
            </a:r>
            <a:r>
              <a:rPr lang="de-DE" err="1"/>
              <a:t>pattern</a:t>
            </a:r>
            <a:r>
              <a:rPr lang="de-DE"/>
              <a:t> </a:t>
            </a:r>
            <a:r>
              <a:rPr lang="de-DE" err="1"/>
              <a:t>of</a:t>
            </a:r>
            <a:r>
              <a:rPr lang="de-DE"/>
              <a:t> </a:t>
            </a:r>
            <a:r>
              <a:rPr lang="de-DE" err="1"/>
              <a:t>the</a:t>
            </a:r>
            <a:r>
              <a:rPr lang="de-DE"/>
              <a:t> </a:t>
            </a:r>
            <a:r>
              <a:rPr lang="de-DE" err="1"/>
              <a:t>mother</a:t>
            </a:r>
            <a:r>
              <a:rPr lang="de-DE"/>
              <a:t> </a:t>
            </a:r>
            <a:r>
              <a:rPr lang="de-DE" err="1"/>
              <a:t>strand</a:t>
            </a:r>
            <a:r>
              <a:rPr lang="de-DE"/>
              <a:t> </a:t>
            </a:r>
            <a:r>
              <a:rPr lang="de-DE" err="1"/>
              <a:t>to</a:t>
            </a:r>
            <a:r>
              <a:rPr lang="de-DE"/>
              <a:t> </a:t>
            </a:r>
            <a:r>
              <a:rPr lang="de-DE" err="1"/>
              <a:t>be</a:t>
            </a:r>
            <a:r>
              <a:rPr lang="de-DE"/>
              <a:t> </a:t>
            </a:r>
            <a:r>
              <a:rPr lang="de-DE" err="1"/>
              <a:t>copied</a:t>
            </a:r>
            <a:r>
              <a:rPr lang="de-DE"/>
              <a:t> </a:t>
            </a:r>
            <a:r>
              <a:rPr lang="de-DE" err="1"/>
              <a:t>to</a:t>
            </a:r>
            <a:r>
              <a:rPr lang="de-DE"/>
              <a:t> </a:t>
            </a:r>
            <a:r>
              <a:rPr lang="de-DE" err="1"/>
              <a:t>the</a:t>
            </a:r>
            <a:r>
              <a:rPr lang="de-DE"/>
              <a:t> </a:t>
            </a:r>
            <a:r>
              <a:rPr lang="de-DE" err="1"/>
              <a:t>daugther</a:t>
            </a:r>
            <a:r>
              <a:rPr lang="de-DE"/>
              <a:t> </a:t>
            </a:r>
            <a:r>
              <a:rPr lang="de-DE" err="1"/>
              <a:t>strands</a:t>
            </a:r>
            <a:r>
              <a:rPr lang="de-DE"/>
              <a:t> in DNA </a:t>
            </a:r>
            <a:r>
              <a:rPr lang="de-DE" err="1"/>
              <a:t>replication</a:t>
            </a:r>
            <a:endParaRPr lang="de-DE"/>
          </a:p>
          <a:p>
            <a:pPr marL="171450" indent="-171450">
              <a:buFont typeface="Arial" panose="020B0604020202020204" pitchFamily="34" charset="0"/>
              <a:buChar char="•"/>
            </a:pPr>
            <a:r>
              <a:rPr lang="en-US"/>
              <a:t>CpG islands are DNA regions typically around 1000 base pairs in length and characterized by a higher density of CpG</a:t>
            </a:r>
          </a:p>
          <a:p>
            <a:pPr marL="171450" indent="-171450">
              <a:buFont typeface="Arial" panose="020B0604020202020204" pitchFamily="34" charset="0"/>
              <a:buChar char="•"/>
            </a:pPr>
            <a:r>
              <a:rPr lang="en-US"/>
              <a:t>Ca 60% of gene promotors are located in CpG island including important house keeping genes </a:t>
            </a:r>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de-DE"/>
          </a:p>
          <a:p>
            <a:pPr marL="171450" indent="-171450">
              <a:buFont typeface="Arial" panose="020B0604020202020204" pitchFamily="34" charset="0"/>
              <a:buChar char="•"/>
            </a:pPr>
            <a:endParaRPr lang="de-DE"/>
          </a:p>
        </p:txBody>
      </p:sp>
      <p:sp>
        <p:nvSpPr>
          <p:cNvPr id="4" name="Foliennummernplatzhalter 3">
            <a:extLst>
              <a:ext uri="{FF2B5EF4-FFF2-40B4-BE49-F238E27FC236}">
                <a16:creationId xmlns:a16="http://schemas.microsoft.com/office/drawing/2014/main" id="{CC3F567C-E964-5B06-A483-F70AEA924B01}"/>
              </a:ext>
            </a:extLst>
          </p:cNvPr>
          <p:cNvSpPr>
            <a:spLocks noGrp="1"/>
          </p:cNvSpPr>
          <p:nvPr>
            <p:ph type="sldNum" sz="quarter" idx="5"/>
          </p:nvPr>
        </p:nvSpPr>
        <p:spPr/>
        <p:txBody>
          <a:bodyPr/>
          <a:lstStyle/>
          <a:p>
            <a:fld id="{CCFEEF56-19F4-43EA-BED7-94DDD331E95E}" type="slidenum">
              <a:rPr lang="de-DE" smtClean="0"/>
              <a:t>11</a:t>
            </a:fld>
            <a:endParaRPr lang="de-DE"/>
          </a:p>
        </p:txBody>
      </p:sp>
    </p:spTree>
    <p:extLst>
      <p:ext uri="{BB962C8B-B14F-4D97-AF65-F5344CB8AC3E}">
        <p14:creationId xmlns:p14="http://schemas.microsoft.com/office/powerpoint/2010/main" val="4200512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fld id="{391042D6-1119-7B40-96F1-05C6B84075A2}" type="slidenum">
              <a:rPr lang="en-DE" smtClean="0"/>
              <a:t>12</a:t>
            </a:fld>
            <a:endParaRPr lang="en-DE"/>
          </a:p>
        </p:txBody>
      </p:sp>
    </p:spTree>
    <p:extLst>
      <p:ext uri="{BB962C8B-B14F-4D97-AF65-F5344CB8AC3E}">
        <p14:creationId xmlns:p14="http://schemas.microsoft.com/office/powerpoint/2010/main" val="25360967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fld id="{391042D6-1119-7B40-96F1-05C6B84075A2}" type="slidenum">
              <a:rPr lang="en-DE" smtClean="0"/>
              <a:t>13</a:t>
            </a:fld>
            <a:endParaRPr lang="en-DE"/>
          </a:p>
        </p:txBody>
      </p:sp>
    </p:spTree>
    <p:extLst>
      <p:ext uri="{BB962C8B-B14F-4D97-AF65-F5344CB8AC3E}">
        <p14:creationId xmlns:p14="http://schemas.microsoft.com/office/powerpoint/2010/main" val="12908919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BD5A4-1520-EB87-6EEB-AE8D2283BEA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5BD274D-1DBA-083C-8429-68E98C5FB2B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1C86B28-E62C-2E68-72B8-1B7F78B6B3A3}"/>
              </a:ext>
            </a:extLst>
          </p:cNvPr>
          <p:cNvSpPr>
            <a:spLocks noGrp="1"/>
          </p:cNvSpPr>
          <p:nvPr>
            <p:ph type="body" idx="1"/>
          </p:nvPr>
        </p:nvSpPr>
        <p:spPr/>
        <p:txBody>
          <a:bodyPr/>
          <a:lstStyle/>
          <a:p>
            <a:pPr marL="171450" indent="-171450">
              <a:buFont typeface="Arial" panose="020B0604020202020204" pitchFamily="34" charset="0"/>
              <a:buChar char="•"/>
            </a:pPr>
            <a:r>
              <a:rPr lang="de-DE" err="1"/>
              <a:t>Lets</a:t>
            </a:r>
            <a:r>
              <a:rPr lang="de-DE"/>
              <a:t> </a:t>
            </a:r>
            <a:r>
              <a:rPr lang="de-DE" err="1"/>
              <a:t>quickly</a:t>
            </a:r>
            <a:r>
              <a:rPr lang="de-DE"/>
              <a:t> </a:t>
            </a:r>
            <a:r>
              <a:rPr lang="de-DE" err="1"/>
              <a:t>take</a:t>
            </a:r>
            <a:r>
              <a:rPr lang="de-DE"/>
              <a:t> a </a:t>
            </a:r>
            <a:r>
              <a:rPr lang="de-DE" err="1"/>
              <a:t>closer</a:t>
            </a:r>
            <a:r>
              <a:rPr lang="de-DE"/>
              <a:t> </a:t>
            </a:r>
            <a:r>
              <a:rPr lang="de-DE" err="1"/>
              <a:t>look</a:t>
            </a:r>
            <a:r>
              <a:rPr lang="de-DE"/>
              <a:t> at DNA methylation</a:t>
            </a:r>
          </a:p>
          <a:p>
            <a:pPr marL="171450" indent="-171450">
              <a:buFont typeface="Arial" panose="020B0604020202020204" pitchFamily="34" charset="0"/>
              <a:buChar char="•"/>
            </a:pPr>
            <a:r>
              <a:rPr lang="de-DE"/>
              <a:t>DNA methylation </a:t>
            </a:r>
            <a:r>
              <a:rPr lang="de-DE" err="1"/>
              <a:t>is</a:t>
            </a:r>
            <a:r>
              <a:rPr lang="de-DE"/>
              <a:t> an </a:t>
            </a:r>
            <a:r>
              <a:rPr lang="de-DE" err="1"/>
              <a:t>epigenetic</a:t>
            </a:r>
            <a:r>
              <a:rPr lang="de-DE"/>
              <a:t> </a:t>
            </a:r>
            <a:r>
              <a:rPr lang="de-DE" err="1"/>
              <a:t>mechanism</a:t>
            </a:r>
            <a:r>
              <a:rPr lang="de-DE"/>
              <a:t> in </a:t>
            </a:r>
            <a:r>
              <a:rPr lang="de-DE" err="1"/>
              <a:t>which</a:t>
            </a:r>
            <a:r>
              <a:rPr lang="de-DE"/>
              <a:t> a </a:t>
            </a:r>
            <a:r>
              <a:rPr lang="de-DE" err="1"/>
              <a:t>methyl</a:t>
            </a:r>
            <a:r>
              <a:rPr lang="de-DE"/>
              <a:t> </a:t>
            </a:r>
            <a:r>
              <a:rPr lang="de-DE" err="1"/>
              <a:t>group</a:t>
            </a:r>
            <a:r>
              <a:rPr lang="de-DE"/>
              <a:t> </a:t>
            </a:r>
            <a:r>
              <a:rPr lang="de-DE" err="1"/>
              <a:t>is</a:t>
            </a:r>
            <a:r>
              <a:rPr lang="de-DE"/>
              <a:t> </a:t>
            </a:r>
            <a:r>
              <a:rPr lang="de-DE" err="1"/>
              <a:t>added</a:t>
            </a:r>
            <a:r>
              <a:rPr lang="de-DE"/>
              <a:t> </a:t>
            </a:r>
            <a:r>
              <a:rPr lang="de-DE" err="1"/>
              <a:t>to</a:t>
            </a:r>
            <a:r>
              <a:rPr lang="de-DE"/>
              <a:t> </a:t>
            </a:r>
            <a:r>
              <a:rPr lang="de-DE" err="1"/>
              <a:t>the</a:t>
            </a:r>
            <a:r>
              <a:rPr lang="de-DE"/>
              <a:t> 5th </a:t>
            </a:r>
            <a:r>
              <a:rPr lang="de-DE" err="1"/>
              <a:t>carbon</a:t>
            </a:r>
            <a:r>
              <a:rPr lang="de-DE"/>
              <a:t> </a:t>
            </a:r>
            <a:r>
              <a:rPr lang="de-DE" err="1"/>
              <a:t>of</a:t>
            </a:r>
            <a:r>
              <a:rPr lang="de-DE"/>
              <a:t> </a:t>
            </a:r>
            <a:r>
              <a:rPr lang="de-DE" err="1"/>
              <a:t>cytosin</a:t>
            </a:r>
            <a:r>
              <a:rPr lang="de-DE"/>
              <a:t> (</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a:t>
            </a:r>
          </a:p>
          <a:p>
            <a:pPr marL="171450" indent="-171450">
              <a:buFont typeface="Arial" panose="020B0604020202020204" pitchFamily="34" charset="0"/>
              <a:buChar char="•"/>
            </a:pPr>
            <a:r>
              <a:rPr lang="de-DE"/>
              <a:t>This </a:t>
            </a:r>
            <a:r>
              <a:rPr lang="de-DE" err="1"/>
              <a:t>reaction</a:t>
            </a:r>
            <a:r>
              <a:rPr lang="de-DE"/>
              <a:t> </a:t>
            </a:r>
            <a:r>
              <a:rPr lang="de-DE" err="1"/>
              <a:t>is</a:t>
            </a:r>
            <a:r>
              <a:rPr lang="de-DE"/>
              <a:t> </a:t>
            </a:r>
            <a:r>
              <a:rPr lang="de-DE" err="1"/>
              <a:t>catalyzed</a:t>
            </a:r>
            <a:r>
              <a:rPr lang="de-DE"/>
              <a:t> </a:t>
            </a:r>
            <a:r>
              <a:rPr lang="de-DE" err="1"/>
              <a:t>by</a:t>
            </a:r>
            <a:r>
              <a:rPr lang="de-DE"/>
              <a:t> DNA </a:t>
            </a:r>
            <a:r>
              <a:rPr lang="de-DE" err="1"/>
              <a:t>methyltransferase</a:t>
            </a:r>
            <a:r>
              <a:rPr lang="de-DE"/>
              <a:t> and </a:t>
            </a:r>
            <a:r>
              <a:rPr lang="de-DE" err="1"/>
              <a:t>mainly</a:t>
            </a:r>
            <a:r>
              <a:rPr lang="de-DE"/>
              <a:t> </a:t>
            </a:r>
            <a:r>
              <a:rPr lang="de-DE" err="1"/>
              <a:t>occures</a:t>
            </a:r>
            <a:r>
              <a:rPr lang="de-DE"/>
              <a:t> in CG </a:t>
            </a:r>
            <a:r>
              <a:rPr lang="de-DE" err="1"/>
              <a:t>sequences</a:t>
            </a:r>
            <a:r>
              <a:rPr lang="de-DE"/>
              <a:t> also </a:t>
            </a:r>
            <a:r>
              <a:rPr lang="de-DE" err="1"/>
              <a:t>reffered</a:t>
            </a:r>
            <a:r>
              <a:rPr lang="de-DE"/>
              <a:t> </a:t>
            </a:r>
            <a:r>
              <a:rPr lang="de-DE" err="1"/>
              <a:t>to</a:t>
            </a:r>
            <a:r>
              <a:rPr lang="de-DE"/>
              <a:t> </a:t>
            </a:r>
            <a:r>
              <a:rPr lang="de-DE" err="1"/>
              <a:t>as</a:t>
            </a:r>
            <a:r>
              <a:rPr lang="de-DE"/>
              <a:t> </a:t>
            </a:r>
            <a:r>
              <a:rPr lang="de-DE" err="1"/>
              <a:t>CpG</a:t>
            </a:r>
            <a:r>
              <a:rPr lang="de-DE"/>
              <a:t> </a:t>
            </a:r>
            <a:r>
              <a:rPr lang="de-DE" err="1"/>
              <a:t>dinucleotides</a:t>
            </a:r>
            <a:r>
              <a:rPr lang="de-DE"/>
              <a:t>(</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 </a:t>
            </a:r>
          </a:p>
          <a:p>
            <a:pPr marL="171450" indent="-171450">
              <a:buFont typeface="Arial" panose="020B0604020202020204" pitchFamily="34" charset="0"/>
              <a:buChar char="•"/>
            </a:pPr>
            <a:r>
              <a:rPr lang="de-DE"/>
              <a:t>This </a:t>
            </a:r>
            <a:r>
              <a:rPr lang="de-DE" err="1"/>
              <a:t>constellation</a:t>
            </a:r>
            <a:r>
              <a:rPr lang="de-DE"/>
              <a:t> </a:t>
            </a:r>
            <a:r>
              <a:rPr lang="de-DE" err="1"/>
              <a:t>allows</a:t>
            </a:r>
            <a:r>
              <a:rPr lang="de-DE"/>
              <a:t> </a:t>
            </a:r>
            <a:r>
              <a:rPr lang="de-DE" err="1"/>
              <a:t>the</a:t>
            </a:r>
            <a:r>
              <a:rPr lang="de-DE"/>
              <a:t> </a:t>
            </a:r>
            <a:r>
              <a:rPr lang="de-DE" err="1"/>
              <a:t>myelination</a:t>
            </a:r>
            <a:r>
              <a:rPr lang="de-DE"/>
              <a:t> </a:t>
            </a:r>
            <a:r>
              <a:rPr lang="de-DE" err="1"/>
              <a:t>pattern</a:t>
            </a:r>
            <a:r>
              <a:rPr lang="de-DE"/>
              <a:t> </a:t>
            </a:r>
            <a:r>
              <a:rPr lang="de-DE" err="1"/>
              <a:t>of</a:t>
            </a:r>
            <a:r>
              <a:rPr lang="de-DE"/>
              <a:t> </a:t>
            </a:r>
            <a:r>
              <a:rPr lang="de-DE" err="1"/>
              <a:t>the</a:t>
            </a:r>
            <a:r>
              <a:rPr lang="de-DE"/>
              <a:t> </a:t>
            </a:r>
            <a:r>
              <a:rPr lang="de-DE" err="1"/>
              <a:t>mother</a:t>
            </a:r>
            <a:r>
              <a:rPr lang="de-DE"/>
              <a:t> </a:t>
            </a:r>
            <a:r>
              <a:rPr lang="de-DE" err="1"/>
              <a:t>strand</a:t>
            </a:r>
            <a:r>
              <a:rPr lang="de-DE"/>
              <a:t> </a:t>
            </a:r>
            <a:r>
              <a:rPr lang="de-DE" err="1"/>
              <a:t>to</a:t>
            </a:r>
            <a:r>
              <a:rPr lang="de-DE"/>
              <a:t> </a:t>
            </a:r>
            <a:r>
              <a:rPr lang="de-DE" err="1"/>
              <a:t>be</a:t>
            </a:r>
            <a:r>
              <a:rPr lang="de-DE"/>
              <a:t> </a:t>
            </a:r>
            <a:r>
              <a:rPr lang="de-DE" err="1"/>
              <a:t>copied</a:t>
            </a:r>
            <a:r>
              <a:rPr lang="de-DE"/>
              <a:t> </a:t>
            </a:r>
            <a:r>
              <a:rPr lang="de-DE" err="1"/>
              <a:t>to</a:t>
            </a:r>
            <a:r>
              <a:rPr lang="de-DE"/>
              <a:t> </a:t>
            </a:r>
            <a:r>
              <a:rPr lang="de-DE" err="1"/>
              <a:t>the</a:t>
            </a:r>
            <a:r>
              <a:rPr lang="de-DE"/>
              <a:t> </a:t>
            </a:r>
            <a:r>
              <a:rPr lang="de-DE" err="1"/>
              <a:t>daugther</a:t>
            </a:r>
            <a:r>
              <a:rPr lang="de-DE"/>
              <a:t> </a:t>
            </a:r>
            <a:r>
              <a:rPr lang="de-DE" err="1"/>
              <a:t>strands</a:t>
            </a:r>
            <a:r>
              <a:rPr lang="de-DE"/>
              <a:t> in DNA </a:t>
            </a:r>
            <a:r>
              <a:rPr lang="de-DE" err="1"/>
              <a:t>replication</a:t>
            </a:r>
            <a:endParaRPr lang="de-DE"/>
          </a:p>
          <a:p>
            <a:pPr marL="171450" indent="-171450">
              <a:buFont typeface="Arial" panose="020B0604020202020204" pitchFamily="34" charset="0"/>
              <a:buChar char="•"/>
            </a:pPr>
            <a:r>
              <a:rPr lang="en-US"/>
              <a:t>CpG islands are DNA regions typically around 1000 base pairs in length and characterized by a higher density of CpG</a:t>
            </a:r>
          </a:p>
          <a:p>
            <a:pPr marL="171450" indent="-171450">
              <a:buFont typeface="Arial" panose="020B0604020202020204" pitchFamily="34" charset="0"/>
              <a:buChar char="•"/>
            </a:pPr>
            <a:r>
              <a:rPr lang="en-US"/>
              <a:t>Ca 60% of gene promotors are located in CpG island including important house keeping genes </a:t>
            </a:r>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de-DE"/>
          </a:p>
          <a:p>
            <a:pPr marL="171450" indent="-171450">
              <a:buFont typeface="Arial" panose="020B0604020202020204" pitchFamily="34" charset="0"/>
              <a:buChar char="•"/>
            </a:pPr>
            <a:endParaRPr lang="de-DE"/>
          </a:p>
        </p:txBody>
      </p:sp>
      <p:sp>
        <p:nvSpPr>
          <p:cNvPr id="4" name="Foliennummernplatzhalter 3">
            <a:extLst>
              <a:ext uri="{FF2B5EF4-FFF2-40B4-BE49-F238E27FC236}">
                <a16:creationId xmlns:a16="http://schemas.microsoft.com/office/drawing/2014/main" id="{DA0283B0-25FF-C7D8-C391-A22E989DFF83}"/>
              </a:ext>
            </a:extLst>
          </p:cNvPr>
          <p:cNvSpPr>
            <a:spLocks noGrp="1"/>
          </p:cNvSpPr>
          <p:nvPr>
            <p:ph type="sldNum" sz="quarter" idx="5"/>
          </p:nvPr>
        </p:nvSpPr>
        <p:spPr/>
        <p:txBody>
          <a:bodyPr/>
          <a:lstStyle/>
          <a:p>
            <a:fld id="{CCFEEF56-19F4-43EA-BED7-94DDD331E95E}" type="slidenum">
              <a:rPr lang="de-DE" smtClean="0"/>
              <a:t>14</a:t>
            </a:fld>
            <a:endParaRPr lang="de-DE"/>
          </a:p>
        </p:txBody>
      </p:sp>
    </p:spTree>
    <p:extLst>
      <p:ext uri="{BB962C8B-B14F-4D97-AF65-F5344CB8AC3E}">
        <p14:creationId xmlns:p14="http://schemas.microsoft.com/office/powerpoint/2010/main" val="37141878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BD5A4-1520-EB87-6EEB-AE8D2283BEA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5BD274D-1DBA-083C-8429-68E98C5FB2B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1C86B28-E62C-2E68-72B8-1B7F78B6B3A3}"/>
              </a:ext>
            </a:extLst>
          </p:cNvPr>
          <p:cNvSpPr>
            <a:spLocks noGrp="1"/>
          </p:cNvSpPr>
          <p:nvPr>
            <p:ph type="body" idx="1"/>
          </p:nvPr>
        </p:nvSpPr>
        <p:spPr/>
        <p:txBody>
          <a:bodyPr/>
          <a:lstStyle/>
          <a:p>
            <a:pPr marL="171450" indent="-171450">
              <a:buFont typeface="Arial" panose="020B0604020202020204" pitchFamily="34" charset="0"/>
              <a:buChar char="•"/>
            </a:pPr>
            <a:r>
              <a:rPr lang="de-DE" err="1"/>
              <a:t>Lets</a:t>
            </a:r>
            <a:r>
              <a:rPr lang="de-DE"/>
              <a:t> </a:t>
            </a:r>
            <a:r>
              <a:rPr lang="de-DE" err="1"/>
              <a:t>quickly</a:t>
            </a:r>
            <a:r>
              <a:rPr lang="de-DE"/>
              <a:t> </a:t>
            </a:r>
            <a:r>
              <a:rPr lang="de-DE" err="1"/>
              <a:t>take</a:t>
            </a:r>
            <a:r>
              <a:rPr lang="de-DE"/>
              <a:t> a </a:t>
            </a:r>
            <a:r>
              <a:rPr lang="de-DE" err="1"/>
              <a:t>closer</a:t>
            </a:r>
            <a:r>
              <a:rPr lang="de-DE"/>
              <a:t> </a:t>
            </a:r>
            <a:r>
              <a:rPr lang="de-DE" err="1"/>
              <a:t>look</a:t>
            </a:r>
            <a:r>
              <a:rPr lang="de-DE"/>
              <a:t> at DNA methylation</a:t>
            </a:r>
          </a:p>
          <a:p>
            <a:pPr marL="171450" indent="-171450">
              <a:buFont typeface="Arial" panose="020B0604020202020204" pitchFamily="34" charset="0"/>
              <a:buChar char="•"/>
            </a:pPr>
            <a:r>
              <a:rPr lang="de-DE"/>
              <a:t>DNA methylation </a:t>
            </a:r>
            <a:r>
              <a:rPr lang="de-DE" err="1"/>
              <a:t>is</a:t>
            </a:r>
            <a:r>
              <a:rPr lang="de-DE"/>
              <a:t> an </a:t>
            </a:r>
            <a:r>
              <a:rPr lang="de-DE" err="1"/>
              <a:t>epigenetic</a:t>
            </a:r>
            <a:r>
              <a:rPr lang="de-DE"/>
              <a:t> </a:t>
            </a:r>
            <a:r>
              <a:rPr lang="de-DE" err="1"/>
              <a:t>mechanism</a:t>
            </a:r>
            <a:r>
              <a:rPr lang="de-DE"/>
              <a:t> in </a:t>
            </a:r>
            <a:r>
              <a:rPr lang="de-DE" err="1"/>
              <a:t>which</a:t>
            </a:r>
            <a:r>
              <a:rPr lang="de-DE"/>
              <a:t> a </a:t>
            </a:r>
            <a:r>
              <a:rPr lang="de-DE" err="1"/>
              <a:t>methyl</a:t>
            </a:r>
            <a:r>
              <a:rPr lang="de-DE"/>
              <a:t> </a:t>
            </a:r>
            <a:r>
              <a:rPr lang="de-DE" err="1"/>
              <a:t>group</a:t>
            </a:r>
            <a:r>
              <a:rPr lang="de-DE"/>
              <a:t> </a:t>
            </a:r>
            <a:r>
              <a:rPr lang="de-DE" err="1"/>
              <a:t>is</a:t>
            </a:r>
            <a:r>
              <a:rPr lang="de-DE"/>
              <a:t> </a:t>
            </a:r>
            <a:r>
              <a:rPr lang="de-DE" err="1"/>
              <a:t>added</a:t>
            </a:r>
            <a:r>
              <a:rPr lang="de-DE"/>
              <a:t> </a:t>
            </a:r>
            <a:r>
              <a:rPr lang="de-DE" err="1"/>
              <a:t>to</a:t>
            </a:r>
            <a:r>
              <a:rPr lang="de-DE"/>
              <a:t> </a:t>
            </a:r>
            <a:r>
              <a:rPr lang="de-DE" err="1"/>
              <a:t>the</a:t>
            </a:r>
            <a:r>
              <a:rPr lang="de-DE"/>
              <a:t> 5th </a:t>
            </a:r>
            <a:r>
              <a:rPr lang="de-DE" err="1"/>
              <a:t>carbon</a:t>
            </a:r>
            <a:r>
              <a:rPr lang="de-DE"/>
              <a:t> </a:t>
            </a:r>
            <a:r>
              <a:rPr lang="de-DE" err="1"/>
              <a:t>of</a:t>
            </a:r>
            <a:r>
              <a:rPr lang="de-DE"/>
              <a:t> </a:t>
            </a:r>
            <a:r>
              <a:rPr lang="de-DE" err="1"/>
              <a:t>cytosin</a:t>
            </a:r>
            <a:r>
              <a:rPr lang="de-DE"/>
              <a:t> (</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a:t>
            </a:r>
          </a:p>
          <a:p>
            <a:pPr marL="171450" indent="-171450">
              <a:buFont typeface="Arial" panose="020B0604020202020204" pitchFamily="34" charset="0"/>
              <a:buChar char="•"/>
            </a:pPr>
            <a:r>
              <a:rPr lang="de-DE"/>
              <a:t>This </a:t>
            </a:r>
            <a:r>
              <a:rPr lang="de-DE" err="1"/>
              <a:t>reaction</a:t>
            </a:r>
            <a:r>
              <a:rPr lang="de-DE"/>
              <a:t> </a:t>
            </a:r>
            <a:r>
              <a:rPr lang="de-DE" err="1"/>
              <a:t>is</a:t>
            </a:r>
            <a:r>
              <a:rPr lang="de-DE"/>
              <a:t> </a:t>
            </a:r>
            <a:r>
              <a:rPr lang="de-DE" err="1"/>
              <a:t>catalyzed</a:t>
            </a:r>
            <a:r>
              <a:rPr lang="de-DE"/>
              <a:t> </a:t>
            </a:r>
            <a:r>
              <a:rPr lang="de-DE" err="1"/>
              <a:t>by</a:t>
            </a:r>
            <a:r>
              <a:rPr lang="de-DE"/>
              <a:t> DNA </a:t>
            </a:r>
            <a:r>
              <a:rPr lang="de-DE" err="1"/>
              <a:t>methyltransferase</a:t>
            </a:r>
            <a:r>
              <a:rPr lang="de-DE"/>
              <a:t> and </a:t>
            </a:r>
            <a:r>
              <a:rPr lang="de-DE" err="1"/>
              <a:t>mainly</a:t>
            </a:r>
            <a:r>
              <a:rPr lang="de-DE"/>
              <a:t> </a:t>
            </a:r>
            <a:r>
              <a:rPr lang="de-DE" err="1"/>
              <a:t>occures</a:t>
            </a:r>
            <a:r>
              <a:rPr lang="de-DE"/>
              <a:t> in CG </a:t>
            </a:r>
            <a:r>
              <a:rPr lang="de-DE" err="1"/>
              <a:t>sequences</a:t>
            </a:r>
            <a:r>
              <a:rPr lang="de-DE"/>
              <a:t> also </a:t>
            </a:r>
            <a:r>
              <a:rPr lang="de-DE" err="1"/>
              <a:t>reffered</a:t>
            </a:r>
            <a:r>
              <a:rPr lang="de-DE"/>
              <a:t> </a:t>
            </a:r>
            <a:r>
              <a:rPr lang="de-DE" err="1"/>
              <a:t>to</a:t>
            </a:r>
            <a:r>
              <a:rPr lang="de-DE"/>
              <a:t> </a:t>
            </a:r>
            <a:r>
              <a:rPr lang="de-DE" err="1"/>
              <a:t>as</a:t>
            </a:r>
            <a:r>
              <a:rPr lang="de-DE"/>
              <a:t> </a:t>
            </a:r>
            <a:r>
              <a:rPr lang="de-DE" err="1"/>
              <a:t>CpG</a:t>
            </a:r>
            <a:r>
              <a:rPr lang="de-DE"/>
              <a:t> </a:t>
            </a:r>
            <a:r>
              <a:rPr lang="de-DE" err="1"/>
              <a:t>dinucleotides</a:t>
            </a:r>
            <a:r>
              <a:rPr lang="de-DE"/>
              <a:t>(</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 </a:t>
            </a:r>
          </a:p>
          <a:p>
            <a:pPr marL="171450" indent="-171450">
              <a:buFont typeface="Arial" panose="020B0604020202020204" pitchFamily="34" charset="0"/>
              <a:buChar char="•"/>
            </a:pPr>
            <a:r>
              <a:rPr lang="de-DE"/>
              <a:t>This </a:t>
            </a:r>
            <a:r>
              <a:rPr lang="de-DE" err="1"/>
              <a:t>constellation</a:t>
            </a:r>
            <a:r>
              <a:rPr lang="de-DE"/>
              <a:t> </a:t>
            </a:r>
            <a:r>
              <a:rPr lang="de-DE" err="1"/>
              <a:t>allows</a:t>
            </a:r>
            <a:r>
              <a:rPr lang="de-DE"/>
              <a:t> </a:t>
            </a:r>
            <a:r>
              <a:rPr lang="de-DE" err="1"/>
              <a:t>the</a:t>
            </a:r>
            <a:r>
              <a:rPr lang="de-DE"/>
              <a:t> </a:t>
            </a:r>
            <a:r>
              <a:rPr lang="de-DE" err="1"/>
              <a:t>myelination</a:t>
            </a:r>
            <a:r>
              <a:rPr lang="de-DE"/>
              <a:t> </a:t>
            </a:r>
            <a:r>
              <a:rPr lang="de-DE" err="1"/>
              <a:t>pattern</a:t>
            </a:r>
            <a:r>
              <a:rPr lang="de-DE"/>
              <a:t> </a:t>
            </a:r>
            <a:r>
              <a:rPr lang="de-DE" err="1"/>
              <a:t>of</a:t>
            </a:r>
            <a:r>
              <a:rPr lang="de-DE"/>
              <a:t> </a:t>
            </a:r>
            <a:r>
              <a:rPr lang="de-DE" err="1"/>
              <a:t>the</a:t>
            </a:r>
            <a:r>
              <a:rPr lang="de-DE"/>
              <a:t> </a:t>
            </a:r>
            <a:r>
              <a:rPr lang="de-DE" err="1"/>
              <a:t>mother</a:t>
            </a:r>
            <a:r>
              <a:rPr lang="de-DE"/>
              <a:t> </a:t>
            </a:r>
            <a:r>
              <a:rPr lang="de-DE" err="1"/>
              <a:t>strand</a:t>
            </a:r>
            <a:r>
              <a:rPr lang="de-DE"/>
              <a:t> </a:t>
            </a:r>
            <a:r>
              <a:rPr lang="de-DE" err="1"/>
              <a:t>to</a:t>
            </a:r>
            <a:r>
              <a:rPr lang="de-DE"/>
              <a:t> </a:t>
            </a:r>
            <a:r>
              <a:rPr lang="de-DE" err="1"/>
              <a:t>be</a:t>
            </a:r>
            <a:r>
              <a:rPr lang="de-DE"/>
              <a:t> </a:t>
            </a:r>
            <a:r>
              <a:rPr lang="de-DE" err="1"/>
              <a:t>copied</a:t>
            </a:r>
            <a:r>
              <a:rPr lang="de-DE"/>
              <a:t> </a:t>
            </a:r>
            <a:r>
              <a:rPr lang="de-DE" err="1"/>
              <a:t>to</a:t>
            </a:r>
            <a:r>
              <a:rPr lang="de-DE"/>
              <a:t> </a:t>
            </a:r>
            <a:r>
              <a:rPr lang="de-DE" err="1"/>
              <a:t>the</a:t>
            </a:r>
            <a:r>
              <a:rPr lang="de-DE"/>
              <a:t> </a:t>
            </a:r>
            <a:r>
              <a:rPr lang="de-DE" err="1"/>
              <a:t>daugther</a:t>
            </a:r>
            <a:r>
              <a:rPr lang="de-DE"/>
              <a:t> </a:t>
            </a:r>
            <a:r>
              <a:rPr lang="de-DE" err="1"/>
              <a:t>strands</a:t>
            </a:r>
            <a:r>
              <a:rPr lang="de-DE"/>
              <a:t> in DNA </a:t>
            </a:r>
            <a:r>
              <a:rPr lang="de-DE" err="1"/>
              <a:t>replication</a:t>
            </a:r>
            <a:endParaRPr lang="de-DE"/>
          </a:p>
          <a:p>
            <a:pPr marL="171450" indent="-171450">
              <a:buFont typeface="Arial" panose="020B0604020202020204" pitchFamily="34" charset="0"/>
              <a:buChar char="•"/>
            </a:pPr>
            <a:r>
              <a:rPr lang="en-US"/>
              <a:t>CpG islands are DNA regions typically around 1000 base pairs in length and characterized by a higher density of CpG</a:t>
            </a:r>
          </a:p>
          <a:p>
            <a:pPr marL="171450" indent="-171450">
              <a:buFont typeface="Arial" panose="020B0604020202020204" pitchFamily="34" charset="0"/>
              <a:buChar char="•"/>
            </a:pPr>
            <a:r>
              <a:rPr lang="en-US"/>
              <a:t>Ca 60% of gene promotors are located in CpG island including important house keeping genes </a:t>
            </a:r>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de-DE"/>
          </a:p>
          <a:p>
            <a:pPr marL="171450" indent="-171450">
              <a:buFont typeface="Arial" panose="020B0604020202020204" pitchFamily="34" charset="0"/>
              <a:buChar char="•"/>
            </a:pPr>
            <a:endParaRPr lang="de-DE"/>
          </a:p>
        </p:txBody>
      </p:sp>
      <p:sp>
        <p:nvSpPr>
          <p:cNvPr id="4" name="Foliennummernplatzhalter 3">
            <a:extLst>
              <a:ext uri="{FF2B5EF4-FFF2-40B4-BE49-F238E27FC236}">
                <a16:creationId xmlns:a16="http://schemas.microsoft.com/office/drawing/2014/main" id="{DA0283B0-25FF-C7D8-C391-A22E989DFF83}"/>
              </a:ext>
            </a:extLst>
          </p:cNvPr>
          <p:cNvSpPr>
            <a:spLocks noGrp="1"/>
          </p:cNvSpPr>
          <p:nvPr>
            <p:ph type="sldNum" sz="quarter" idx="5"/>
          </p:nvPr>
        </p:nvSpPr>
        <p:spPr/>
        <p:txBody>
          <a:bodyPr/>
          <a:lstStyle/>
          <a:p>
            <a:fld id="{CCFEEF56-19F4-43EA-BED7-94DDD331E95E}" type="slidenum">
              <a:rPr lang="de-DE" smtClean="0"/>
              <a:t>15</a:t>
            </a:fld>
            <a:endParaRPr lang="de-DE"/>
          </a:p>
        </p:txBody>
      </p:sp>
    </p:spTree>
    <p:extLst>
      <p:ext uri="{BB962C8B-B14F-4D97-AF65-F5344CB8AC3E}">
        <p14:creationId xmlns:p14="http://schemas.microsoft.com/office/powerpoint/2010/main" val="14315047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BD5A4-1520-EB87-6EEB-AE8D2283BEA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5BD274D-1DBA-083C-8429-68E98C5FB2B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1C86B28-E62C-2E68-72B8-1B7F78B6B3A3}"/>
              </a:ext>
            </a:extLst>
          </p:cNvPr>
          <p:cNvSpPr>
            <a:spLocks noGrp="1"/>
          </p:cNvSpPr>
          <p:nvPr>
            <p:ph type="body" idx="1"/>
          </p:nvPr>
        </p:nvSpPr>
        <p:spPr/>
        <p:txBody>
          <a:bodyPr/>
          <a:lstStyle/>
          <a:p>
            <a:pPr marL="171450" indent="-171450">
              <a:buFont typeface="Arial" panose="020B0604020202020204" pitchFamily="34" charset="0"/>
              <a:buChar char="•"/>
            </a:pPr>
            <a:r>
              <a:rPr lang="de-DE" err="1"/>
              <a:t>Lets</a:t>
            </a:r>
            <a:r>
              <a:rPr lang="de-DE"/>
              <a:t> </a:t>
            </a:r>
            <a:r>
              <a:rPr lang="de-DE" err="1"/>
              <a:t>quickly</a:t>
            </a:r>
            <a:r>
              <a:rPr lang="de-DE"/>
              <a:t> </a:t>
            </a:r>
            <a:r>
              <a:rPr lang="de-DE" err="1"/>
              <a:t>take</a:t>
            </a:r>
            <a:r>
              <a:rPr lang="de-DE"/>
              <a:t> a </a:t>
            </a:r>
            <a:r>
              <a:rPr lang="de-DE" err="1"/>
              <a:t>closer</a:t>
            </a:r>
            <a:r>
              <a:rPr lang="de-DE"/>
              <a:t> </a:t>
            </a:r>
            <a:r>
              <a:rPr lang="de-DE" err="1"/>
              <a:t>look</a:t>
            </a:r>
            <a:r>
              <a:rPr lang="de-DE"/>
              <a:t> at DNA methylation</a:t>
            </a:r>
          </a:p>
          <a:p>
            <a:pPr marL="171450" indent="-171450">
              <a:buFont typeface="Arial" panose="020B0604020202020204" pitchFamily="34" charset="0"/>
              <a:buChar char="•"/>
            </a:pPr>
            <a:r>
              <a:rPr lang="de-DE"/>
              <a:t>DNA methylation </a:t>
            </a:r>
            <a:r>
              <a:rPr lang="de-DE" err="1"/>
              <a:t>is</a:t>
            </a:r>
            <a:r>
              <a:rPr lang="de-DE"/>
              <a:t> an </a:t>
            </a:r>
            <a:r>
              <a:rPr lang="de-DE" err="1"/>
              <a:t>epigenetic</a:t>
            </a:r>
            <a:r>
              <a:rPr lang="de-DE"/>
              <a:t> </a:t>
            </a:r>
            <a:r>
              <a:rPr lang="de-DE" err="1"/>
              <a:t>mechanism</a:t>
            </a:r>
            <a:r>
              <a:rPr lang="de-DE"/>
              <a:t> in </a:t>
            </a:r>
            <a:r>
              <a:rPr lang="de-DE" err="1"/>
              <a:t>which</a:t>
            </a:r>
            <a:r>
              <a:rPr lang="de-DE"/>
              <a:t> a </a:t>
            </a:r>
            <a:r>
              <a:rPr lang="de-DE" err="1"/>
              <a:t>methyl</a:t>
            </a:r>
            <a:r>
              <a:rPr lang="de-DE"/>
              <a:t> </a:t>
            </a:r>
            <a:r>
              <a:rPr lang="de-DE" err="1"/>
              <a:t>group</a:t>
            </a:r>
            <a:r>
              <a:rPr lang="de-DE"/>
              <a:t> </a:t>
            </a:r>
            <a:r>
              <a:rPr lang="de-DE" err="1"/>
              <a:t>is</a:t>
            </a:r>
            <a:r>
              <a:rPr lang="de-DE"/>
              <a:t> </a:t>
            </a:r>
            <a:r>
              <a:rPr lang="de-DE" err="1"/>
              <a:t>added</a:t>
            </a:r>
            <a:r>
              <a:rPr lang="de-DE"/>
              <a:t> </a:t>
            </a:r>
            <a:r>
              <a:rPr lang="de-DE" err="1"/>
              <a:t>to</a:t>
            </a:r>
            <a:r>
              <a:rPr lang="de-DE"/>
              <a:t> </a:t>
            </a:r>
            <a:r>
              <a:rPr lang="de-DE" err="1"/>
              <a:t>the</a:t>
            </a:r>
            <a:r>
              <a:rPr lang="de-DE"/>
              <a:t> 5th </a:t>
            </a:r>
            <a:r>
              <a:rPr lang="de-DE" err="1"/>
              <a:t>carbon</a:t>
            </a:r>
            <a:r>
              <a:rPr lang="de-DE"/>
              <a:t> </a:t>
            </a:r>
            <a:r>
              <a:rPr lang="de-DE" err="1"/>
              <a:t>of</a:t>
            </a:r>
            <a:r>
              <a:rPr lang="de-DE"/>
              <a:t> </a:t>
            </a:r>
            <a:r>
              <a:rPr lang="de-DE" err="1"/>
              <a:t>cytosin</a:t>
            </a:r>
            <a:r>
              <a:rPr lang="de-DE"/>
              <a:t> (</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a:t>
            </a:r>
          </a:p>
          <a:p>
            <a:pPr marL="171450" indent="-171450">
              <a:buFont typeface="Arial" panose="020B0604020202020204" pitchFamily="34" charset="0"/>
              <a:buChar char="•"/>
            </a:pPr>
            <a:r>
              <a:rPr lang="de-DE"/>
              <a:t>This </a:t>
            </a:r>
            <a:r>
              <a:rPr lang="de-DE" err="1"/>
              <a:t>reaction</a:t>
            </a:r>
            <a:r>
              <a:rPr lang="de-DE"/>
              <a:t> </a:t>
            </a:r>
            <a:r>
              <a:rPr lang="de-DE" err="1"/>
              <a:t>is</a:t>
            </a:r>
            <a:r>
              <a:rPr lang="de-DE"/>
              <a:t> </a:t>
            </a:r>
            <a:r>
              <a:rPr lang="de-DE" err="1"/>
              <a:t>catalyzed</a:t>
            </a:r>
            <a:r>
              <a:rPr lang="de-DE"/>
              <a:t> </a:t>
            </a:r>
            <a:r>
              <a:rPr lang="de-DE" err="1"/>
              <a:t>by</a:t>
            </a:r>
            <a:r>
              <a:rPr lang="de-DE"/>
              <a:t> DNA </a:t>
            </a:r>
            <a:r>
              <a:rPr lang="de-DE" err="1"/>
              <a:t>methyltransferase</a:t>
            </a:r>
            <a:r>
              <a:rPr lang="de-DE"/>
              <a:t> and </a:t>
            </a:r>
            <a:r>
              <a:rPr lang="de-DE" err="1"/>
              <a:t>mainly</a:t>
            </a:r>
            <a:r>
              <a:rPr lang="de-DE"/>
              <a:t> </a:t>
            </a:r>
            <a:r>
              <a:rPr lang="de-DE" err="1"/>
              <a:t>occures</a:t>
            </a:r>
            <a:r>
              <a:rPr lang="de-DE"/>
              <a:t> in CG </a:t>
            </a:r>
            <a:r>
              <a:rPr lang="de-DE" err="1"/>
              <a:t>sequences</a:t>
            </a:r>
            <a:r>
              <a:rPr lang="de-DE"/>
              <a:t> also </a:t>
            </a:r>
            <a:r>
              <a:rPr lang="de-DE" err="1"/>
              <a:t>reffered</a:t>
            </a:r>
            <a:r>
              <a:rPr lang="de-DE"/>
              <a:t> </a:t>
            </a:r>
            <a:r>
              <a:rPr lang="de-DE" err="1"/>
              <a:t>to</a:t>
            </a:r>
            <a:r>
              <a:rPr lang="de-DE"/>
              <a:t> </a:t>
            </a:r>
            <a:r>
              <a:rPr lang="de-DE" err="1"/>
              <a:t>as</a:t>
            </a:r>
            <a:r>
              <a:rPr lang="de-DE"/>
              <a:t> </a:t>
            </a:r>
            <a:r>
              <a:rPr lang="de-DE" err="1"/>
              <a:t>CpG</a:t>
            </a:r>
            <a:r>
              <a:rPr lang="de-DE"/>
              <a:t> </a:t>
            </a:r>
            <a:r>
              <a:rPr lang="de-DE" err="1"/>
              <a:t>dinucleotides</a:t>
            </a:r>
            <a:r>
              <a:rPr lang="de-DE"/>
              <a:t>(</a:t>
            </a:r>
            <a:r>
              <a:rPr lang="de-DE" err="1"/>
              <a:t>which</a:t>
            </a:r>
            <a:r>
              <a:rPr lang="de-DE"/>
              <a:t> </a:t>
            </a:r>
            <a:r>
              <a:rPr lang="de-DE" err="1"/>
              <a:t>we</a:t>
            </a:r>
            <a:r>
              <a:rPr lang="de-DE"/>
              <a:t> </a:t>
            </a:r>
            <a:r>
              <a:rPr lang="de-DE" err="1"/>
              <a:t>can</a:t>
            </a:r>
            <a:r>
              <a:rPr lang="de-DE"/>
              <a:t> </a:t>
            </a:r>
            <a:r>
              <a:rPr lang="de-DE" err="1"/>
              <a:t>see</a:t>
            </a:r>
            <a:r>
              <a:rPr lang="de-DE"/>
              <a:t> </a:t>
            </a:r>
            <a:r>
              <a:rPr lang="de-DE" err="1"/>
              <a:t>here</a:t>
            </a:r>
            <a:r>
              <a:rPr lang="de-DE"/>
              <a:t>) </a:t>
            </a:r>
          </a:p>
          <a:p>
            <a:pPr marL="171450" indent="-171450">
              <a:buFont typeface="Arial" panose="020B0604020202020204" pitchFamily="34" charset="0"/>
              <a:buChar char="•"/>
            </a:pPr>
            <a:r>
              <a:rPr lang="de-DE"/>
              <a:t>This </a:t>
            </a:r>
            <a:r>
              <a:rPr lang="de-DE" err="1"/>
              <a:t>constellation</a:t>
            </a:r>
            <a:r>
              <a:rPr lang="de-DE"/>
              <a:t> </a:t>
            </a:r>
            <a:r>
              <a:rPr lang="de-DE" err="1"/>
              <a:t>allows</a:t>
            </a:r>
            <a:r>
              <a:rPr lang="de-DE"/>
              <a:t> </a:t>
            </a:r>
            <a:r>
              <a:rPr lang="de-DE" err="1"/>
              <a:t>the</a:t>
            </a:r>
            <a:r>
              <a:rPr lang="de-DE"/>
              <a:t> </a:t>
            </a:r>
            <a:r>
              <a:rPr lang="de-DE" err="1"/>
              <a:t>myelination</a:t>
            </a:r>
            <a:r>
              <a:rPr lang="de-DE"/>
              <a:t> </a:t>
            </a:r>
            <a:r>
              <a:rPr lang="de-DE" err="1"/>
              <a:t>pattern</a:t>
            </a:r>
            <a:r>
              <a:rPr lang="de-DE"/>
              <a:t> </a:t>
            </a:r>
            <a:r>
              <a:rPr lang="de-DE" err="1"/>
              <a:t>of</a:t>
            </a:r>
            <a:r>
              <a:rPr lang="de-DE"/>
              <a:t> </a:t>
            </a:r>
            <a:r>
              <a:rPr lang="de-DE" err="1"/>
              <a:t>the</a:t>
            </a:r>
            <a:r>
              <a:rPr lang="de-DE"/>
              <a:t> </a:t>
            </a:r>
            <a:r>
              <a:rPr lang="de-DE" err="1"/>
              <a:t>mother</a:t>
            </a:r>
            <a:r>
              <a:rPr lang="de-DE"/>
              <a:t> </a:t>
            </a:r>
            <a:r>
              <a:rPr lang="de-DE" err="1"/>
              <a:t>strand</a:t>
            </a:r>
            <a:r>
              <a:rPr lang="de-DE"/>
              <a:t> </a:t>
            </a:r>
            <a:r>
              <a:rPr lang="de-DE" err="1"/>
              <a:t>to</a:t>
            </a:r>
            <a:r>
              <a:rPr lang="de-DE"/>
              <a:t> </a:t>
            </a:r>
            <a:r>
              <a:rPr lang="de-DE" err="1"/>
              <a:t>be</a:t>
            </a:r>
            <a:r>
              <a:rPr lang="de-DE"/>
              <a:t> </a:t>
            </a:r>
            <a:r>
              <a:rPr lang="de-DE" err="1"/>
              <a:t>copied</a:t>
            </a:r>
            <a:r>
              <a:rPr lang="de-DE"/>
              <a:t> </a:t>
            </a:r>
            <a:r>
              <a:rPr lang="de-DE" err="1"/>
              <a:t>to</a:t>
            </a:r>
            <a:r>
              <a:rPr lang="de-DE"/>
              <a:t> </a:t>
            </a:r>
            <a:r>
              <a:rPr lang="de-DE" err="1"/>
              <a:t>the</a:t>
            </a:r>
            <a:r>
              <a:rPr lang="de-DE"/>
              <a:t> </a:t>
            </a:r>
            <a:r>
              <a:rPr lang="de-DE" err="1"/>
              <a:t>daugther</a:t>
            </a:r>
            <a:r>
              <a:rPr lang="de-DE"/>
              <a:t> </a:t>
            </a:r>
            <a:r>
              <a:rPr lang="de-DE" err="1"/>
              <a:t>strands</a:t>
            </a:r>
            <a:r>
              <a:rPr lang="de-DE"/>
              <a:t> in DNA </a:t>
            </a:r>
            <a:r>
              <a:rPr lang="de-DE" err="1"/>
              <a:t>replication</a:t>
            </a:r>
            <a:endParaRPr lang="de-DE"/>
          </a:p>
          <a:p>
            <a:pPr marL="171450" indent="-171450">
              <a:buFont typeface="Arial" panose="020B0604020202020204" pitchFamily="34" charset="0"/>
              <a:buChar char="•"/>
            </a:pPr>
            <a:r>
              <a:rPr lang="en-US"/>
              <a:t>CpG islands are DNA regions typically around 1000 base pairs in length and characterized by a higher density of CpG</a:t>
            </a:r>
          </a:p>
          <a:p>
            <a:pPr marL="171450" indent="-171450">
              <a:buFont typeface="Arial" panose="020B0604020202020204" pitchFamily="34" charset="0"/>
              <a:buChar char="•"/>
            </a:pPr>
            <a:r>
              <a:rPr lang="en-US"/>
              <a:t>Ca 60% of gene promotors are located in CpG island including important house keeping genes </a:t>
            </a:r>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de-DE"/>
          </a:p>
          <a:p>
            <a:pPr marL="171450" indent="-171450">
              <a:buFont typeface="Arial" panose="020B0604020202020204" pitchFamily="34" charset="0"/>
              <a:buChar char="•"/>
            </a:pPr>
            <a:endParaRPr lang="de-DE"/>
          </a:p>
        </p:txBody>
      </p:sp>
      <p:sp>
        <p:nvSpPr>
          <p:cNvPr id="4" name="Foliennummernplatzhalter 3">
            <a:extLst>
              <a:ext uri="{FF2B5EF4-FFF2-40B4-BE49-F238E27FC236}">
                <a16:creationId xmlns:a16="http://schemas.microsoft.com/office/drawing/2014/main" id="{DA0283B0-25FF-C7D8-C391-A22E989DFF83}"/>
              </a:ext>
            </a:extLst>
          </p:cNvPr>
          <p:cNvSpPr>
            <a:spLocks noGrp="1"/>
          </p:cNvSpPr>
          <p:nvPr>
            <p:ph type="sldNum" sz="quarter" idx="5"/>
          </p:nvPr>
        </p:nvSpPr>
        <p:spPr/>
        <p:txBody>
          <a:bodyPr/>
          <a:lstStyle/>
          <a:p>
            <a:fld id="{CCFEEF56-19F4-43EA-BED7-94DDD331E95E}" type="slidenum">
              <a:rPr lang="de-DE" smtClean="0"/>
              <a:t>16</a:t>
            </a:fld>
            <a:endParaRPr lang="de-DE"/>
          </a:p>
        </p:txBody>
      </p:sp>
    </p:spTree>
    <p:extLst>
      <p:ext uri="{BB962C8B-B14F-4D97-AF65-F5344CB8AC3E}">
        <p14:creationId xmlns:p14="http://schemas.microsoft.com/office/powerpoint/2010/main" val="32030093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DNA methylation </a:t>
            </a:r>
            <a:r>
              <a:rPr lang="de-DE" err="1"/>
              <a:t>works</a:t>
            </a:r>
            <a:r>
              <a:rPr lang="de-DE"/>
              <a:t> in </a:t>
            </a:r>
            <a:r>
              <a:rPr lang="de-DE" err="1"/>
              <a:t>conjunction</a:t>
            </a:r>
            <a:r>
              <a:rPr lang="de-DE"/>
              <a:t> </a:t>
            </a:r>
            <a:r>
              <a:rPr lang="de-DE" err="1"/>
              <a:t>with</a:t>
            </a:r>
            <a:r>
              <a:rPr lang="de-DE"/>
              <a:t> </a:t>
            </a:r>
            <a:r>
              <a:rPr lang="de-DE" err="1"/>
              <a:t>histone</a:t>
            </a:r>
            <a:r>
              <a:rPr lang="de-DE"/>
              <a:t> </a:t>
            </a:r>
            <a:r>
              <a:rPr lang="de-DE" err="1"/>
              <a:t>modifications</a:t>
            </a:r>
            <a:r>
              <a:rPr lang="de-DE"/>
              <a:t> and </a:t>
            </a:r>
            <a:r>
              <a:rPr lang="de-DE" err="1"/>
              <a:t>microRNAs</a:t>
            </a:r>
            <a:r>
              <a:rPr lang="de-DE"/>
              <a:t> (</a:t>
            </a:r>
            <a:r>
              <a:rPr lang="de-DE" err="1"/>
              <a:t>miRNAs</a:t>
            </a:r>
            <a:r>
              <a:rPr lang="de-DE"/>
              <a:t>) </a:t>
            </a:r>
            <a:r>
              <a:rPr lang="de-DE" err="1"/>
              <a:t>to</a:t>
            </a:r>
            <a:r>
              <a:rPr lang="de-DE"/>
              <a:t> </a:t>
            </a:r>
            <a:r>
              <a:rPr lang="de-DE" err="1"/>
              <a:t>regulate</a:t>
            </a:r>
            <a:r>
              <a:rPr lang="de-DE"/>
              <a:t> </a:t>
            </a:r>
            <a:r>
              <a:rPr lang="de-DE" err="1"/>
              <a:t>transcription.Histone</a:t>
            </a:r>
            <a:r>
              <a:rPr lang="de-DE"/>
              <a:t> </a:t>
            </a:r>
            <a:r>
              <a:rPr lang="de-DE" err="1"/>
              <a:t>proteins</a:t>
            </a:r>
            <a:r>
              <a:rPr lang="de-DE"/>
              <a:t> </a:t>
            </a:r>
            <a:r>
              <a:rPr lang="de-DE" err="1"/>
              <a:t>help</a:t>
            </a:r>
            <a:r>
              <a:rPr lang="de-DE"/>
              <a:t> </a:t>
            </a:r>
            <a:r>
              <a:rPr lang="de-DE" err="1"/>
              <a:t>package</a:t>
            </a:r>
            <a:r>
              <a:rPr lang="de-DE"/>
              <a:t> DNA, and </a:t>
            </a:r>
            <a:r>
              <a:rPr lang="de-DE" err="1"/>
              <a:t>chemical</a:t>
            </a:r>
            <a:r>
              <a:rPr lang="de-DE"/>
              <a:t> </a:t>
            </a:r>
            <a:r>
              <a:rPr lang="de-DE" err="1"/>
              <a:t>modifications</a:t>
            </a:r>
            <a:r>
              <a:rPr lang="de-DE"/>
              <a:t> like methylation, </a:t>
            </a:r>
            <a:r>
              <a:rPr lang="de-DE" err="1"/>
              <a:t>acetylation</a:t>
            </a:r>
            <a:r>
              <a:rPr lang="de-DE"/>
              <a:t>, </a:t>
            </a:r>
            <a:r>
              <a:rPr lang="de-DE" err="1"/>
              <a:t>ubiquitination</a:t>
            </a:r>
            <a:r>
              <a:rPr lang="de-DE"/>
              <a:t>, and </a:t>
            </a:r>
            <a:r>
              <a:rPr lang="de-DE" err="1"/>
              <a:t>phosphorylation</a:t>
            </a:r>
            <a:r>
              <a:rPr lang="de-DE"/>
              <a:t> </a:t>
            </a:r>
            <a:r>
              <a:rPr lang="de-DE" err="1"/>
              <a:t>influence</a:t>
            </a:r>
            <a:r>
              <a:rPr lang="de-DE"/>
              <a:t> </a:t>
            </a:r>
            <a:r>
              <a:rPr lang="de-DE" err="1"/>
              <a:t>both</a:t>
            </a:r>
            <a:r>
              <a:rPr lang="de-DE"/>
              <a:t> DNA </a:t>
            </a:r>
            <a:r>
              <a:rPr lang="de-DE" err="1"/>
              <a:t>packaging</a:t>
            </a:r>
            <a:r>
              <a:rPr lang="de-DE"/>
              <a:t> and </a:t>
            </a:r>
            <a:r>
              <a:rPr lang="de-DE" err="1"/>
              <a:t>transcriptional</a:t>
            </a:r>
            <a:r>
              <a:rPr lang="de-DE"/>
              <a:t> </a:t>
            </a:r>
            <a:r>
              <a:rPr lang="de-DE" err="1"/>
              <a:t>activity</a:t>
            </a:r>
            <a:r>
              <a:rPr lang="de-DE"/>
              <a:t>.</a:t>
            </a:r>
          </a:p>
        </p:txBody>
      </p:sp>
      <p:sp>
        <p:nvSpPr>
          <p:cNvPr id="4" name="Foliennummernplatzhalter 3"/>
          <p:cNvSpPr>
            <a:spLocks noGrp="1"/>
          </p:cNvSpPr>
          <p:nvPr>
            <p:ph type="sldNum" sz="quarter" idx="5"/>
          </p:nvPr>
        </p:nvSpPr>
        <p:spPr/>
        <p:txBody>
          <a:bodyPr/>
          <a:lstStyle/>
          <a:p>
            <a:fld id="{CCFEEF56-19F4-43EA-BED7-94DDD331E95E}" type="slidenum">
              <a:rPr lang="de-DE" smtClean="0"/>
              <a:t>18</a:t>
            </a:fld>
            <a:endParaRPr lang="de-DE"/>
          </a:p>
        </p:txBody>
      </p:sp>
    </p:spTree>
    <p:extLst>
      <p:ext uri="{BB962C8B-B14F-4D97-AF65-F5344CB8AC3E}">
        <p14:creationId xmlns:p14="http://schemas.microsoft.com/office/powerpoint/2010/main" val="34136073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pPr>
            <a:r>
              <a:rPr lang="de-DE" err="1"/>
              <a:t>Typically</a:t>
            </a:r>
            <a:r>
              <a:rPr lang="de-DE"/>
              <a:t>, 70% </a:t>
            </a:r>
            <a:r>
              <a:rPr lang="de-DE" err="1"/>
              <a:t>of</a:t>
            </a:r>
            <a:r>
              <a:rPr lang="de-DE"/>
              <a:t> </a:t>
            </a:r>
            <a:r>
              <a:rPr lang="de-DE" err="1"/>
              <a:t>CpGs</a:t>
            </a:r>
            <a:r>
              <a:rPr lang="de-DE"/>
              <a:t> in </a:t>
            </a:r>
            <a:r>
              <a:rPr lang="de-DE" err="1"/>
              <a:t>the</a:t>
            </a:r>
            <a:r>
              <a:rPr lang="de-DE"/>
              <a:t> human </a:t>
            </a:r>
            <a:r>
              <a:rPr lang="de-DE" err="1"/>
              <a:t>genome</a:t>
            </a:r>
            <a:r>
              <a:rPr lang="de-DE"/>
              <a:t> </a:t>
            </a:r>
            <a:r>
              <a:rPr lang="de-DE" err="1"/>
              <a:t>are</a:t>
            </a:r>
            <a:r>
              <a:rPr lang="de-DE"/>
              <a:t> </a:t>
            </a:r>
            <a:r>
              <a:rPr lang="de-DE" err="1"/>
              <a:t>methylated</a:t>
            </a:r>
            <a:r>
              <a:rPr lang="de-DE"/>
              <a:t>. But: Global </a:t>
            </a:r>
            <a:r>
              <a:rPr lang="de-DE" err="1"/>
              <a:t>loss</a:t>
            </a:r>
            <a:r>
              <a:rPr lang="de-DE"/>
              <a:t> </a:t>
            </a:r>
            <a:r>
              <a:rPr lang="de-DE" err="1"/>
              <a:t>of</a:t>
            </a:r>
            <a:r>
              <a:rPr lang="de-DE"/>
              <a:t> 5-20% </a:t>
            </a:r>
            <a:r>
              <a:rPr lang="de-DE" err="1"/>
              <a:t>of</a:t>
            </a:r>
            <a:r>
              <a:rPr lang="de-DE"/>
              <a:t> 5mC in 50% </a:t>
            </a:r>
            <a:r>
              <a:rPr lang="de-DE" err="1"/>
              <a:t>of</a:t>
            </a:r>
            <a:r>
              <a:rPr lang="de-DE"/>
              <a:t> BC: </a:t>
            </a:r>
            <a:r>
              <a:rPr lang="de-DE" err="1"/>
              <a:t>Oncogenes</a:t>
            </a:r>
            <a:r>
              <a:rPr lang="de-DE"/>
              <a:t> </a:t>
            </a:r>
            <a:r>
              <a:rPr lang="de-DE" err="1"/>
              <a:t>often</a:t>
            </a:r>
            <a:r>
              <a:rPr lang="de-DE"/>
              <a:t> </a:t>
            </a:r>
            <a:r>
              <a:rPr lang="de-DE" err="1"/>
              <a:t>hypomethylated</a:t>
            </a:r>
            <a:r>
              <a:rPr lang="de-DE"/>
              <a:t>, </a:t>
            </a:r>
            <a:r>
              <a:rPr lang="de-DE" err="1"/>
              <a:t>either</a:t>
            </a:r>
            <a:r>
              <a:rPr lang="de-DE"/>
              <a:t> </a:t>
            </a:r>
            <a:r>
              <a:rPr lang="de-DE" err="1"/>
              <a:t>because</a:t>
            </a:r>
            <a:r>
              <a:rPr lang="de-DE"/>
              <a:t> </a:t>
            </a:r>
            <a:r>
              <a:rPr lang="de-DE" err="1"/>
              <a:t>of</a:t>
            </a:r>
            <a:r>
              <a:rPr lang="de-DE"/>
              <a:t> </a:t>
            </a:r>
            <a:r>
              <a:rPr lang="de-DE" err="1"/>
              <a:t>absence</a:t>
            </a:r>
            <a:r>
              <a:rPr lang="de-DE"/>
              <a:t> </a:t>
            </a:r>
            <a:r>
              <a:rPr lang="de-DE" err="1"/>
              <a:t>of</a:t>
            </a:r>
            <a:r>
              <a:rPr lang="de-DE"/>
              <a:t> </a:t>
            </a:r>
            <a:r>
              <a:rPr lang="de-DE" err="1"/>
              <a:t>methylation</a:t>
            </a:r>
            <a:r>
              <a:rPr lang="de-DE"/>
              <a:t> </a:t>
            </a:r>
            <a:r>
              <a:rPr lang="de-DE" err="1"/>
              <a:t>or</a:t>
            </a:r>
            <a:r>
              <a:rPr lang="de-DE"/>
              <a:t> </a:t>
            </a:r>
            <a:r>
              <a:rPr lang="de-DE" err="1"/>
              <a:t>because</a:t>
            </a:r>
            <a:r>
              <a:rPr lang="de-DE"/>
              <a:t> </a:t>
            </a:r>
            <a:r>
              <a:rPr lang="de-DE" err="1"/>
              <a:t>of</a:t>
            </a:r>
            <a:r>
              <a:rPr lang="de-DE"/>
              <a:t> </a:t>
            </a:r>
            <a:r>
              <a:rPr lang="de-DE" err="1"/>
              <a:t>demethylation</a:t>
            </a:r>
            <a:r>
              <a:rPr lang="de-DE"/>
              <a:t> via TET </a:t>
            </a:r>
            <a:r>
              <a:rPr lang="de-DE" err="1"/>
              <a:t>oxidizing</a:t>
            </a:r>
            <a:r>
              <a:rPr lang="de-DE"/>
              <a:t> </a:t>
            </a:r>
            <a:r>
              <a:rPr lang="de-DE" err="1"/>
              <a:t>it</a:t>
            </a:r>
            <a:r>
              <a:rPr lang="de-DE"/>
              <a:t> </a:t>
            </a:r>
            <a:r>
              <a:rPr lang="de-DE" err="1"/>
              <a:t>to</a:t>
            </a:r>
            <a:r>
              <a:rPr lang="de-DE"/>
              <a:t> 5-hydroxymethylcytosine</a:t>
            </a:r>
            <a:endParaRPr lang="de-DE" b="0" i="0">
              <a:solidFill>
                <a:srgbClr val="212121"/>
              </a:solidFill>
              <a:effectLst/>
              <a:highlight>
                <a:srgbClr val="FFFFFF"/>
              </a:highlight>
              <a:latin typeface="Cambria" panose="02040503050406030204" pitchFamily="18" charset="0"/>
            </a:endParaRPr>
          </a:p>
        </p:txBody>
      </p:sp>
      <p:sp>
        <p:nvSpPr>
          <p:cNvPr id="4" name="Foliennummernplatzhalter 3"/>
          <p:cNvSpPr>
            <a:spLocks noGrp="1"/>
          </p:cNvSpPr>
          <p:nvPr>
            <p:ph type="sldNum" sz="quarter" idx="5"/>
          </p:nvPr>
        </p:nvSpPr>
        <p:spPr/>
        <p:txBody>
          <a:bodyPr/>
          <a:lstStyle/>
          <a:p>
            <a:fld id="{CCFEEF56-19F4-43EA-BED7-94DDD331E95E}" type="slidenum">
              <a:rPr lang="de-DE" smtClean="0"/>
              <a:t>19</a:t>
            </a:fld>
            <a:endParaRPr lang="de-DE"/>
          </a:p>
        </p:txBody>
      </p:sp>
    </p:spTree>
    <p:extLst>
      <p:ext uri="{BB962C8B-B14F-4D97-AF65-F5344CB8AC3E}">
        <p14:creationId xmlns:p14="http://schemas.microsoft.com/office/powerpoint/2010/main" val="14461120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indent="0">
              <a:buFont typeface="Arial" panose="020B0604020202020204" pitchFamily="34" charset="0"/>
              <a:buNone/>
            </a:pPr>
            <a:r>
              <a:rPr lang="de-DE" err="1"/>
              <a:t>We</a:t>
            </a:r>
            <a:r>
              <a:rPr lang="de-DE"/>
              <a:t> </a:t>
            </a:r>
            <a:r>
              <a:rPr lang="de-DE" err="1"/>
              <a:t>were</a:t>
            </a:r>
            <a:r>
              <a:rPr lang="de-DE"/>
              <a:t> </a:t>
            </a:r>
            <a:r>
              <a:rPr lang="de-DE" err="1"/>
              <a:t>provided</a:t>
            </a:r>
            <a:r>
              <a:rPr lang="de-DE"/>
              <a:t> </a:t>
            </a:r>
            <a:r>
              <a:rPr lang="de-DE" err="1"/>
              <a:t>with</a:t>
            </a:r>
            <a:r>
              <a:rPr lang="de-DE"/>
              <a:t> </a:t>
            </a:r>
            <a:r>
              <a:rPr lang="de-DE" err="1"/>
              <a:t>this</a:t>
            </a:r>
            <a:r>
              <a:rPr lang="de-DE"/>
              <a:t> Data </a:t>
            </a:r>
            <a:r>
              <a:rPr lang="de-DE" err="1"/>
              <a:t>from</a:t>
            </a:r>
            <a:r>
              <a:rPr lang="de-DE"/>
              <a:t> </a:t>
            </a:r>
            <a:r>
              <a:rPr lang="de-DE" err="1"/>
              <a:t>the</a:t>
            </a:r>
            <a:r>
              <a:rPr lang="de-DE"/>
              <a:t> Cancer Genome Atlas, a </a:t>
            </a:r>
            <a:r>
              <a:rPr lang="de-DE" err="1"/>
              <a:t>programme</a:t>
            </a:r>
            <a:r>
              <a:rPr lang="de-DE"/>
              <a:t> </a:t>
            </a:r>
            <a:r>
              <a:rPr lang="de-DE" err="1"/>
              <a:t>designed</a:t>
            </a:r>
            <a:r>
              <a:rPr lang="de-DE"/>
              <a:t> </a:t>
            </a:r>
            <a:r>
              <a:rPr lang="de-DE" err="1"/>
              <a:t>to</a:t>
            </a:r>
            <a:r>
              <a:rPr lang="de-DE"/>
              <a:t> </a:t>
            </a:r>
            <a:r>
              <a:rPr lang="de-DE" err="1"/>
              <a:t>catalogue</a:t>
            </a:r>
            <a:r>
              <a:rPr lang="de-DE"/>
              <a:t> </a:t>
            </a:r>
            <a:r>
              <a:rPr lang="de-DE" err="1"/>
              <a:t>the</a:t>
            </a:r>
            <a:r>
              <a:rPr lang="de-DE"/>
              <a:t> </a:t>
            </a:r>
            <a:r>
              <a:rPr lang="de-DE" err="1"/>
              <a:t>genetic</a:t>
            </a:r>
            <a:r>
              <a:rPr lang="de-DE"/>
              <a:t> and </a:t>
            </a:r>
            <a:r>
              <a:rPr lang="de-DE" err="1"/>
              <a:t>epigenetic</a:t>
            </a:r>
            <a:r>
              <a:rPr lang="de-DE"/>
              <a:t> </a:t>
            </a:r>
            <a:r>
              <a:rPr lang="de-DE" err="1"/>
              <a:t>characteriscits</a:t>
            </a:r>
            <a:r>
              <a:rPr lang="de-DE"/>
              <a:t> </a:t>
            </a:r>
            <a:r>
              <a:rPr lang="de-DE" err="1"/>
              <a:t>of</a:t>
            </a:r>
            <a:r>
              <a:rPr lang="de-DE"/>
              <a:t> 33 different </a:t>
            </a:r>
            <a:r>
              <a:rPr lang="de-DE" err="1"/>
              <a:t>cancers</a:t>
            </a:r>
            <a:r>
              <a:rPr lang="de-DE"/>
              <a:t> </a:t>
            </a:r>
            <a:r>
              <a:rPr lang="de-DE" err="1"/>
              <a:t>to</a:t>
            </a:r>
            <a:r>
              <a:rPr lang="de-DE"/>
              <a:t> </a:t>
            </a:r>
            <a:r>
              <a:rPr lang="de-DE" err="1"/>
              <a:t>help</a:t>
            </a:r>
            <a:r>
              <a:rPr lang="de-DE"/>
              <a:t> in </a:t>
            </a:r>
            <a:r>
              <a:rPr lang="de-DE" err="1"/>
              <a:t>develping</a:t>
            </a:r>
            <a:r>
              <a:rPr lang="de-DE"/>
              <a:t> </a:t>
            </a:r>
            <a:r>
              <a:rPr lang="de-DE" err="1"/>
              <a:t>better</a:t>
            </a:r>
            <a:r>
              <a:rPr lang="de-DE"/>
              <a:t> </a:t>
            </a:r>
            <a:r>
              <a:rPr lang="de-DE" err="1"/>
              <a:t>tools</a:t>
            </a:r>
            <a:r>
              <a:rPr lang="de-DE"/>
              <a:t> </a:t>
            </a:r>
            <a:r>
              <a:rPr lang="de-DE" err="1"/>
              <a:t>for</a:t>
            </a:r>
            <a:r>
              <a:rPr lang="de-DE"/>
              <a:t> </a:t>
            </a:r>
            <a:r>
              <a:rPr lang="de-DE" err="1"/>
              <a:t>diagnostics</a:t>
            </a:r>
            <a:r>
              <a:rPr lang="de-DE"/>
              <a:t>, </a:t>
            </a:r>
            <a:r>
              <a:rPr lang="de-DE" err="1"/>
              <a:t>treatment</a:t>
            </a:r>
            <a:r>
              <a:rPr lang="de-DE"/>
              <a:t> and </a:t>
            </a:r>
            <a:r>
              <a:rPr lang="de-DE" err="1"/>
              <a:t>causes</a:t>
            </a:r>
            <a:r>
              <a:rPr lang="de-DE"/>
              <a:t> </a:t>
            </a:r>
            <a:r>
              <a:rPr lang="de-DE" err="1"/>
              <a:t>of</a:t>
            </a:r>
            <a:r>
              <a:rPr lang="de-DE"/>
              <a:t> </a:t>
            </a:r>
            <a:r>
              <a:rPr lang="de-DE" err="1"/>
              <a:t>cancer</a:t>
            </a:r>
            <a:r>
              <a:rPr lang="de-DE"/>
              <a:t>. Quality </a:t>
            </a:r>
            <a:r>
              <a:rPr lang="de-DE" err="1"/>
              <a:t>standards</a:t>
            </a:r>
            <a:r>
              <a:rPr lang="de-DE"/>
              <a:t> </a:t>
            </a:r>
            <a:r>
              <a:rPr lang="de-DE" err="1"/>
              <a:t>for</a:t>
            </a:r>
            <a:r>
              <a:rPr lang="de-DE"/>
              <a:t> sample </a:t>
            </a:r>
            <a:r>
              <a:rPr lang="de-DE" err="1"/>
              <a:t>are</a:t>
            </a:r>
            <a:r>
              <a:rPr lang="de-DE"/>
              <a:t>: p</a:t>
            </a:r>
            <a:r>
              <a:rPr lang="en-US" b="0" i="0" err="1">
                <a:solidFill>
                  <a:srgbClr val="202124"/>
                </a:solidFill>
                <a:effectLst/>
                <a:highlight>
                  <a:srgbClr val="FFFFFF"/>
                </a:highlight>
                <a:latin typeface="Roboto" panose="02000000000000000000" pitchFamily="2" charset="0"/>
              </a:rPr>
              <a:t>rimary</a:t>
            </a:r>
            <a:r>
              <a:rPr lang="en-US" b="0" i="0">
                <a:solidFill>
                  <a:srgbClr val="202124"/>
                </a:solidFill>
                <a:effectLst/>
                <a:highlight>
                  <a:srgbClr val="FFFFFF"/>
                </a:highlight>
                <a:latin typeface="Roboto" panose="02000000000000000000" pitchFamily="2" charset="0"/>
              </a:rPr>
              <a:t>, untreated tumor with a source of matched normal tissue or blood sample.</a:t>
            </a:r>
            <a:br>
              <a:rPr lang="en-US"/>
            </a:br>
            <a:r>
              <a:rPr lang="en-US" b="0" i="0">
                <a:solidFill>
                  <a:srgbClr val="202124"/>
                </a:solidFill>
                <a:effectLst/>
                <a:highlight>
                  <a:srgbClr val="FFFFFF"/>
                </a:highlight>
                <a:latin typeface="Roboto" panose="02000000000000000000" pitchFamily="2" charset="0"/>
              </a:rPr>
              <a:t>Frozen, sufficiently sized samples</a:t>
            </a:r>
            <a:br>
              <a:rPr lang="en-US"/>
            </a:br>
            <a:r>
              <a:rPr lang="en-US" b="0" i="0" err="1">
                <a:solidFill>
                  <a:srgbClr val="202124"/>
                </a:solidFill>
                <a:effectLst/>
                <a:highlight>
                  <a:srgbClr val="FFFFFF"/>
                </a:highlight>
                <a:latin typeface="Roboto" panose="02000000000000000000" pitchFamily="2" charset="0"/>
              </a:rPr>
              <a:t>Samples</a:t>
            </a:r>
            <a:r>
              <a:rPr lang="en-US" b="0" i="0">
                <a:solidFill>
                  <a:srgbClr val="202124"/>
                </a:solidFill>
                <a:effectLst/>
                <a:highlight>
                  <a:srgbClr val="FFFFFF"/>
                </a:highlight>
                <a:latin typeface="Roboto" panose="02000000000000000000" pitchFamily="2" charset="0"/>
              </a:rPr>
              <a:t> composed of at least 60% tumor nuclei</a:t>
            </a:r>
          </a:p>
          <a:p>
            <a:pPr marL="0" indent="0">
              <a:buFont typeface="Arial" panose="020B0604020202020204" pitchFamily="34" charset="0"/>
              <a:buNone/>
            </a:pPr>
            <a:r>
              <a:rPr lang="de-DE"/>
              <a:t>C </a:t>
            </a:r>
            <a:r>
              <a:rPr lang="de-DE" err="1"/>
              <a:t>is</a:t>
            </a:r>
            <a:r>
              <a:rPr lang="de-DE"/>
              <a:t> </a:t>
            </a:r>
            <a:r>
              <a:rPr lang="de-DE" err="1"/>
              <a:t>converted</a:t>
            </a:r>
            <a:r>
              <a:rPr lang="de-DE"/>
              <a:t> </a:t>
            </a:r>
            <a:r>
              <a:rPr lang="de-DE" err="1"/>
              <a:t>to</a:t>
            </a:r>
            <a:r>
              <a:rPr lang="de-DE"/>
              <a:t> U, </a:t>
            </a:r>
            <a:r>
              <a:rPr lang="de-DE" err="1"/>
              <a:t>which</a:t>
            </a:r>
            <a:r>
              <a:rPr lang="de-DE"/>
              <a:t> </a:t>
            </a:r>
            <a:r>
              <a:rPr lang="de-DE" err="1"/>
              <a:t>is</a:t>
            </a:r>
            <a:r>
              <a:rPr lang="de-DE"/>
              <a:t> </a:t>
            </a:r>
            <a:r>
              <a:rPr lang="de-DE" err="1"/>
              <a:t>replaced</a:t>
            </a:r>
            <a:r>
              <a:rPr lang="de-DE"/>
              <a:t> </a:t>
            </a:r>
            <a:r>
              <a:rPr lang="de-DE" err="1"/>
              <a:t>by</a:t>
            </a:r>
            <a:r>
              <a:rPr lang="de-DE"/>
              <a:t> T in a PCR via </a:t>
            </a:r>
            <a:r>
              <a:rPr lang="de-DE" err="1"/>
              <a:t>bisulphite</a:t>
            </a:r>
            <a:r>
              <a:rPr lang="de-DE"/>
              <a:t> </a:t>
            </a:r>
            <a:r>
              <a:rPr lang="de-DE" err="1"/>
              <a:t>treatment</a:t>
            </a:r>
            <a:r>
              <a:rPr lang="de-DE"/>
              <a:t>. 5mC </a:t>
            </a:r>
            <a:r>
              <a:rPr lang="de-DE" err="1"/>
              <a:t>is</a:t>
            </a:r>
            <a:r>
              <a:rPr lang="de-DE"/>
              <a:t> </a:t>
            </a:r>
            <a:r>
              <a:rPr lang="de-DE" err="1"/>
              <a:t>unaffected</a:t>
            </a:r>
            <a:r>
              <a:rPr lang="de-DE"/>
              <a:t>.</a:t>
            </a:r>
          </a:p>
          <a:p>
            <a:pPr marL="0" indent="0">
              <a:buFont typeface="Arial" panose="020B0604020202020204" pitchFamily="34" charset="0"/>
              <a:buNone/>
            </a:pPr>
            <a:r>
              <a:rPr lang="de-DE"/>
              <a:t>A </a:t>
            </a:r>
            <a:r>
              <a:rPr lang="de-DE" err="1"/>
              <a:t>bead</a:t>
            </a:r>
            <a:r>
              <a:rPr lang="de-DE"/>
              <a:t> </a:t>
            </a:r>
            <a:r>
              <a:rPr lang="de-DE" err="1"/>
              <a:t>can</a:t>
            </a:r>
            <a:r>
              <a:rPr lang="de-DE"/>
              <a:t> bind </a:t>
            </a:r>
            <a:r>
              <a:rPr lang="de-DE" err="1"/>
              <a:t>to</a:t>
            </a:r>
            <a:r>
              <a:rPr lang="de-DE"/>
              <a:t> </a:t>
            </a:r>
            <a:r>
              <a:rPr lang="de-DE" err="1"/>
              <a:t>these</a:t>
            </a:r>
            <a:r>
              <a:rPr lang="de-DE"/>
              <a:t> DNA </a:t>
            </a:r>
            <a:r>
              <a:rPr lang="de-DE" err="1"/>
              <a:t>fragments</a:t>
            </a:r>
            <a:r>
              <a:rPr lang="de-DE"/>
              <a:t> and </a:t>
            </a:r>
            <a:r>
              <a:rPr lang="de-DE" err="1"/>
              <a:t>depending</a:t>
            </a:r>
            <a:r>
              <a:rPr lang="de-DE"/>
              <a:t> on </a:t>
            </a:r>
            <a:r>
              <a:rPr lang="de-DE" err="1"/>
              <a:t>wether</a:t>
            </a:r>
            <a:r>
              <a:rPr lang="de-DE"/>
              <a:t> </a:t>
            </a:r>
            <a:r>
              <a:rPr lang="de-DE" err="1"/>
              <a:t>the</a:t>
            </a:r>
            <a:r>
              <a:rPr lang="de-DE"/>
              <a:t> </a:t>
            </a:r>
            <a:r>
              <a:rPr lang="de-DE" err="1"/>
              <a:t>CpG</a:t>
            </a:r>
            <a:r>
              <a:rPr lang="de-DE"/>
              <a:t> was </a:t>
            </a:r>
            <a:r>
              <a:rPr lang="de-DE" err="1"/>
              <a:t>converted</a:t>
            </a:r>
            <a:r>
              <a:rPr lang="de-DE"/>
              <a:t> </a:t>
            </a:r>
            <a:r>
              <a:rPr lang="de-DE" err="1"/>
              <a:t>or</a:t>
            </a:r>
            <a:r>
              <a:rPr lang="de-DE"/>
              <a:t> not, </a:t>
            </a:r>
            <a:r>
              <a:rPr lang="de-DE" err="1"/>
              <a:t>it</a:t>
            </a:r>
            <a:r>
              <a:rPr lang="de-DE"/>
              <a:t> will </a:t>
            </a:r>
            <a:r>
              <a:rPr lang="de-DE" err="1"/>
              <a:t>show</a:t>
            </a:r>
            <a:r>
              <a:rPr lang="de-DE"/>
              <a:t> </a:t>
            </a:r>
            <a:r>
              <a:rPr lang="de-DE" err="1"/>
              <a:t>up</a:t>
            </a:r>
            <a:r>
              <a:rPr lang="de-DE"/>
              <a:t> </a:t>
            </a:r>
            <a:r>
              <a:rPr lang="de-DE" err="1"/>
              <a:t>differently</a:t>
            </a:r>
            <a:r>
              <a:rPr lang="de-DE"/>
              <a:t> </a:t>
            </a:r>
            <a:r>
              <a:rPr lang="de-DE" err="1"/>
              <a:t>photometrically</a:t>
            </a:r>
            <a:r>
              <a:rPr lang="de-DE"/>
              <a:t>.</a:t>
            </a:r>
          </a:p>
          <a:p>
            <a:pPr marL="0" indent="0">
              <a:buFont typeface="Arial" panose="020B0604020202020204" pitchFamily="34" charset="0"/>
              <a:buNone/>
            </a:pPr>
            <a:r>
              <a:rPr lang="de-DE"/>
              <a:t>These </a:t>
            </a:r>
            <a:r>
              <a:rPr lang="de-DE" err="1"/>
              <a:t>is</a:t>
            </a:r>
            <a:r>
              <a:rPr lang="de-DE"/>
              <a:t> also a </a:t>
            </a:r>
            <a:r>
              <a:rPr lang="de-DE" err="1"/>
              <a:t>Bead</a:t>
            </a:r>
            <a:r>
              <a:rPr lang="de-DE"/>
              <a:t> </a:t>
            </a:r>
            <a:r>
              <a:rPr lang="de-DE" err="1"/>
              <a:t>Tpe</a:t>
            </a:r>
            <a:r>
              <a:rPr lang="de-DE"/>
              <a:t> I, but </a:t>
            </a:r>
            <a:r>
              <a:rPr lang="de-DE" err="1"/>
              <a:t>thats</a:t>
            </a:r>
            <a:r>
              <a:rPr lang="de-DE"/>
              <a:t> </a:t>
            </a:r>
            <a:r>
              <a:rPr lang="de-DE" err="1"/>
              <a:t>too</a:t>
            </a:r>
            <a:r>
              <a:rPr lang="de-DE"/>
              <a:t> </a:t>
            </a:r>
            <a:r>
              <a:rPr lang="de-DE" err="1"/>
              <a:t>complicated</a:t>
            </a:r>
            <a:r>
              <a:rPr lang="de-DE"/>
              <a:t> </a:t>
            </a:r>
            <a:r>
              <a:rPr lang="de-DE" err="1"/>
              <a:t>for</a:t>
            </a:r>
            <a:r>
              <a:rPr lang="de-DE"/>
              <a:t> </a:t>
            </a:r>
            <a:r>
              <a:rPr lang="de-DE" err="1"/>
              <a:t>now</a:t>
            </a:r>
            <a:endParaRPr lang="de-DE"/>
          </a:p>
        </p:txBody>
      </p:sp>
      <p:sp>
        <p:nvSpPr>
          <p:cNvPr id="4" name="Foliennummernplatzhalter 3"/>
          <p:cNvSpPr>
            <a:spLocks noGrp="1"/>
          </p:cNvSpPr>
          <p:nvPr>
            <p:ph type="sldNum" sz="quarter" idx="5"/>
          </p:nvPr>
        </p:nvSpPr>
        <p:spPr/>
        <p:txBody>
          <a:bodyPr/>
          <a:lstStyle/>
          <a:p>
            <a:fld id="{CCFEEF56-19F4-43EA-BED7-94DDD331E95E}" type="slidenum">
              <a:rPr lang="de-DE" smtClean="0"/>
              <a:t>20</a:t>
            </a:fld>
            <a:endParaRPr lang="de-DE"/>
          </a:p>
        </p:txBody>
      </p:sp>
    </p:spTree>
    <p:extLst>
      <p:ext uri="{BB962C8B-B14F-4D97-AF65-F5344CB8AC3E}">
        <p14:creationId xmlns:p14="http://schemas.microsoft.com/office/powerpoint/2010/main" val="14964733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indent="0">
              <a:buFont typeface="Arial" panose="020B0604020202020204" pitchFamily="34" charset="0"/>
              <a:buNone/>
            </a:pPr>
            <a:r>
              <a:rPr lang="en-US" b="0" i="0">
                <a:solidFill>
                  <a:srgbClr val="202124"/>
                </a:solidFill>
                <a:effectLst/>
                <a:highlight>
                  <a:srgbClr val="FFFFFF"/>
                </a:highlight>
                <a:latin typeface="Roboto" panose="02000000000000000000" pitchFamily="2" charset="0"/>
              </a:rPr>
              <a:t>We have 28 Million </a:t>
            </a:r>
            <a:r>
              <a:rPr lang="en-US" b="0" i="0" err="1">
                <a:solidFill>
                  <a:srgbClr val="202124"/>
                </a:solidFill>
                <a:effectLst/>
                <a:highlight>
                  <a:srgbClr val="FFFFFF"/>
                </a:highlight>
                <a:latin typeface="Roboto" panose="02000000000000000000" pitchFamily="2" charset="0"/>
              </a:rPr>
              <a:t>CpGs</a:t>
            </a:r>
            <a:r>
              <a:rPr lang="en-US" b="0" i="0">
                <a:solidFill>
                  <a:srgbClr val="202124"/>
                </a:solidFill>
                <a:effectLst/>
                <a:highlight>
                  <a:srgbClr val="FFFFFF"/>
                </a:highlight>
                <a:latin typeface="Roboto" panose="02000000000000000000" pitchFamily="2" charset="0"/>
              </a:rPr>
              <a:t>, but they focus on around 450k: </a:t>
            </a:r>
            <a:endParaRPr lang="de-DE"/>
          </a:p>
          <a:p>
            <a:pPr marL="0" indent="0">
              <a:buFont typeface="Arial" panose="020B0604020202020204" pitchFamily="34" charset="0"/>
              <a:buNone/>
            </a:pPr>
            <a:r>
              <a:rPr lang="en-US" b="0" i="0">
                <a:solidFill>
                  <a:srgbClr val="202124"/>
                </a:solidFill>
                <a:effectLst/>
                <a:highlight>
                  <a:srgbClr val="FFFFFF"/>
                </a:highlight>
                <a:latin typeface="Roboto" panose="02000000000000000000" pitchFamily="2" charset="0"/>
              </a:rPr>
              <a:t>CpG islands, the 5′UTR, 3′UTR, the MHC region and some enhancer regions.</a:t>
            </a:r>
          </a:p>
          <a:p>
            <a:pPr marL="0" indent="0">
              <a:buFont typeface="Arial" panose="020B0604020202020204" pitchFamily="34" charset="0"/>
              <a:buNone/>
            </a:pPr>
            <a:r>
              <a:rPr lang="en-US"/>
              <a:t>Type I probes have two separate probe sequences per CpG site (one each for methylated and unmethylated </a:t>
            </a:r>
            <a:r>
              <a:rPr lang="en-US" err="1"/>
              <a:t>CpGs</a:t>
            </a:r>
            <a:r>
              <a:rPr lang="en-US"/>
              <a:t>), whereas Type II probes have just one probe sequence per CpG site. This means that, per CpG site assayed, Type II probes use half the physical space on the </a:t>
            </a:r>
            <a:r>
              <a:rPr lang="en-US" err="1"/>
              <a:t>BeadChip</a:t>
            </a:r>
            <a:r>
              <a:rPr lang="en-US"/>
              <a:t> compared with Type I. However, Type I probes are still necessary as their design characteristics mean they can measure methylation at more CpG dense regions than Type II probes</a:t>
            </a:r>
            <a:endParaRPr lang="de-DE"/>
          </a:p>
        </p:txBody>
      </p:sp>
      <p:sp>
        <p:nvSpPr>
          <p:cNvPr id="4" name="Foliennummernplatzhalter 3"/>
          <p:cNvSpPr>
            <a:spLocks noGrp="1"/>
          </p:cNvSpPr>
          <p:nvPr>
            <p:ph type="sldNum" sz="quarter" idx="5"/>
          </p:nvPr>
        </p:nvSpPr>
        <p:spPr/>
        <p:txBody>
          <a:bodyPr/>
          <a:lstStyle/>
          <a:p>
            <a:fld id="{CCFEEF56-19F4-43EA-BED7-94DDD331E95E}" type="slidenum">
              <a:rPr lang="de-DE" smtClean="0"/>
              <a:t>21</a:t>
            </a:fld>
            <a:endParaRPr lang="de-DE"/>
          </a:p>
        </p:txBody>
      </p:sp>
    </p:spTree>
    <p:extLst>
      <p:ext uri="{BB962C8B-B14F-4D97-AF65-F5344CB8AC3E}">
        <p14:creationId xmlns:p14="http://schemas.microsoft.com/office/powerpoint/2010/main" val="5764864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pPr>
            <a:r>
              <a:rPr lang="de-DE"/>
              <a:t>The </a:t>
            </a:r>
            <a:r>
              <a:rPr lang="de-DE" err="1"/>
              <a:t>intensity</a:t>
            </a:r>
            <a:r>
              <a:rPr lang="de-DE"/>
              <a:t> </a:t>
            </a:r>
            <a:r>
              <a:rPr lang="de-DE" err="1"/>
              <a:t>can</a:t>
            </a:r>
            <a:r>
              <a:rPr lang="de-DE"/>
              <a:t> </a:t>
            </a:r>
            <a:r>
              <a:rPr lang="de-DE" err="1"/>
              <a:t>be</a:t>
            </a:r>
            <a:r>
              <a:rPr lang="de-DE"/>
              <a:t> </a:t>
            </a:r>
            <a:r>
              <a:rPr lang="de-DE" err="1"/>
              <a:t>measured</a:t>
            </a:r>
            <a:r>
              <a:rPr lang="de-DE"/>
              <a:t> </a:t>
            </a:r>
            <a:r>
              <a:rPr lang="de-DE" err="1"/>
              <a:t>photmetrically</a:t>
            </a:r>
            <a:r>
              <a:rPr lang="de-DE"/>
              <a:t> and </a:t>
            </a:r>
            <a:r>
              <a:rPr lang="de-DE" err="1"/>
              <a:t>compared</a:t>
            </a:r>
            <a:r>
              <a:rPr lang="de-DE"/>
              <a:t> </a:t>
            </a:r>
            <a:r>
              <a:rPr lang="de-DE" err="1"/>
              <a:t>to</a:t>
            </a:r>
            <a:r>
              <a:rPr lang="de-DE"/>
              <a:t> </a:t>
            </a:r>
            <a:r>
              <a:rPr lang="de-DE" err="1"/>
              <a:t>the</a:t>
            </a:r>
            <a:r>
              <a:rPr lang="de-DE"/>
              <a:t> </a:t>
            </a:r>
            <a:r>
              <a:rPr lang="de-DE" err="1"/>
              <a:t>unmethylated</a:t>
            </a:r>
            <a:r>
              <a:rPr lang="de-DE"/>
              <a:t> and </a:t>
            </a:r>
            <a:r>
              <a:rPr lang="de-DE" err="1"/>
              <a:t>methylated</a:t>
            </a:r>
            <a:r>
              <a:rPr lang="de-DE"/>
              <a:t> </a:t>
            </a:r>
            <a:r>
              <a:rPr lang="de-DE" err="1"/>
              <a:t>signal</a:t>
            </a:r>
            <a:r>
              <a:rPr lang="de-DE"/>
              <a:t>. This </a:t>
            </a:r>
            <a:r>
              <a:rPr lang="de-DE" err="1"/>
              <a:t>allows</a:t>
            </a:r>
            <a:r>
              <a:rPr lang="de-DE"/>
              <a:t> </a:t>
            </a:r>
            <a:r>
              <a:rPr lang="de-DE" err="1"/>
              <a:t>for</a:t>
            </a:r>
            <a:r>
              <a:rPr lang="de-DE"/>
              <a:t> </a:t>
            </a:r>
            <a:r>
              <a:rPr lang="de-DE" err="1"/>
              <a:t>inference</a:t>
            </a:r>
            <a:r>
              <a:rPr lang="de-DE"/>
              <a:t> </a:t>
            </a:r>
            <a:r>
              <a:rPr lang="de-DE" err="1"/>
              <a:t>of</a:t>
            </a:r>
            <a:r>
              <a:rPr lang="de-DE"/>
              <a:t> </a:t>
            </a:r>
            <a:r>
              <a:rPr lang="de-DE" err="1"/>
              <a:t>methylated</a:t>
            </a:r>
            <a:r>
              <a:rPr lang="de-DE"/>
              <a:t> </a:t>
            </a:r>
            <a:r>
              <a:rPr lang="de-DE" err="1"/>
              <a:t>portion</a:t>
            </a:r>
            <a:r>
              <a:rPr lang="de-DE"/>
              <a:t> </a:t>
            </a:r>
            <a:r>
              <a:rPr lang="de-DE" err="1"/>
              <a:t>of</a:t>
            </a:r>
            <a:r>
              <a:rPr lang="de-DE"/>
              <a:t> DNA – but </a:t>
            </a:r>
            <a:r>
              <a:rPr lang="de-DE" err="1"/>
              <a:t>confounding</a:t>
            </a:r>
            <a:r>
              <a:rPr lang="de-DE"/>
              <a:t> </a:t>
            </a:r>
            <a:r>
              <a:rPr lang="de-DE" err="1"/>
              <a:t>factors</a:t>
            </a:r>
            <a:r>
              <a:rPr lang="de-DE"/>
              <a:t> matter, </a:t>
            </a:r>
            <a:r>
              <a:rPr lang="de-DE" err="1"/>
              <a:t>the</a:t>
            </a:r>
            <a:r>
              <a:rPr lang="de-DE"/>
              <a:t> </a:t>
            </a:r>
            <a:r>
              <a:rPr lang="de-DE" err="1"/>
              <a:t>tissue</a:t>
            </a:r>
            <a:r>
              <a:rPr lang="de-DE"/>
              <a:t> sample </a:t>
            </a:r>
            <a:r>
              <a:rPr lang="de-DE" err="1"/>
              <a:t>wasnt</a:t>
            </a:r>
            <a:r>
              <a:rPr lang="de-DE"/>
              <a:t> </a:t>
            </a:r>
            <a:r>
              <a:rPr lang="de-DE" err="1"/>
              <a:t>perfect</a:t>
            </a:r>
            <a:r>
              <a:rPr lang="de-DE"/>
              <a:t>.</a:t>
            </a:r>
          </a:p>
          <a:p>
            <a:pPr marL="171450" indent="-171450">
              <a:buFont typeface="Arial" panose="020B0604020202020204" pitchFamily="34" charset="0"/>
              <a:buChar char="•"/>
            </a:pPr>
            <a:r>
              <a:rPr lang="de-DE" err="1"/>
              <a:t>We</a:t>
            </a:r>
            <a:r>
              <a:rPr lang="de-DE"/>
              <a:t> also </a:t>
            </a:r>
            <a:r>
              <a:rPr lang="de-DE" err="1"/>
              <a:t>have</a:t>
            </a:r>
            <a:r>
              <a:rPr lang="de-DE"/>
              <a:t> </a:t>
            </a:r>
            <a:r>
              <a:rPr lang="de-DE" err="1"/>
              <a:t>general</a:t>
            </a:r>
            <a:r>
              <a:rPr lang="de-DE"/>
              <a:t> </a:t>
            </a:r>
            <a:r>
              <a:rPr lang="de-DE" err="1"/>
              <a:t>informatin</a:t>
            </a:r>
            <a:r>
              <a:rPr lang="de-DE"/>
              <a:t> on </a:t>
            </a:r>
            <a:r>
              <a:rPr lang="de-DE" err="1"/>
              <a:t>the</a:t>
            </a:r>
            <a:r>
              <a:rPr lang="de-DE"/>
              <a:t> </a:t>
            </a:r>
            <a:r>
              <a:rPr lang="de-DE" err="1"/>
              <a:t>patients</a:t>
            </a:r>
            <a:r>
              <a:rPr lang="de-DE"/>
              <a:t> such </a:t>
            </a:r>
            <a:r>
              <a:rPr lang="de-DE" err="1"/>
              <a:t>as</a:t>
            </a:r>
            <a:r>
              <a:rPr lang="de-DE"/>
              <a:t> </a:t>
            </a:r>
            <a:r>
              <a:rPr lang="de-DE" err="1"/>
              <a:t>age</a:t>
            </a:r>
            <a:r>
              <a:rPr lang="de-DE"/>
              <a:t>, </a:t>
            </a:r>
            <a:r>
              <a:rPr lang="de-DE" err="1"/>
              <a:t>gender</a:t>
            </a:r>
            <a:r>
              <a:rPr lang="de-DE"/>
              <a:t> and </a:t>
            </a:r>
            <a:r>
              <a:rPr lang="de-DE" err="1"/>
              <a:t>race</a:t>
            </a:r>
            <a:r>
              <a:rPr lang="de-DE"/>
              <a:t>.</a:t>
            </a:r>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de-DE"/>
          </a:p>
          <a:p>
            <a:pPr marL="171450" indent="-171450">
              <a:buFont typeface="Arial" panose="020B0604020202020204" pitchFamily="34" charset="0"/>
              <a:buChar char="•"/>
            </a:pPr>
            <a:endParaRPr lang="de-DE"/>
          </a:p>
        </p:txBody>
      </p:sp>
      <p:sp>
        <p:nvSpPr>
          <p:cNvPr id="4" name="Foliennummernplatzhalter 3"/>
          <p:cNvSpPr>
            <a:spLocks noGrp="1"/>
          </p:cNvSpPr>
          <p:nvPr>
            <p:ph type="sldNum" sz="quarter" idx="5"/>
          </p:nvPr>
        </p:nvSpPr>
        <p:spPr/>
        <p:txBody>
          <a:bodyPr/>
          <a:lstStyle/>
          <a:p>
            <a:fld id="{CCFEEF56-19F4-43EA-BED7-94DDD331E95E}" type="slidenum">
              <a:rPr lang="de-DE" smtClean="0"/>
              <a:t>22</a:t>
            </a:fld>
            <a:endParaRPr lang="de-DE"/>
          </a:p>
        </p:txBody>
      </p:sp>
    </p:spTree>
    <p:extLst>
      <p:ext uri="{BB962C8B-B14F-4D97-AF65-F5344CB8AC3E}">
        <p14:creationId xmlns:p14="http://schemas.microsoft.com/office/powerpoint/2010/main" val="34406117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397B9-E3EE-7A24-800E-BF510998B12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4475271-43FD-02C1-0333-7FA3AA7893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6C5929D-25E8-D721-9DBC-148F187AB08B}"/>
              </a:ext>
            </a:extLst>
          </p:cNvPr>
          <p:cNvSpPr>
            <a:spLocks noGrp="1"/>
          </p:cNvSpPr>
          <p:nvPr>
            <p:ph type="body" idx="1"/>
          </p:nvPr>
        </p:nvSpPr>
        <p:spPr/>
        <p:txBody>
          <a:bodyPr/>
          <a:lstStyle/>
          <a:p>
            <a:r>
              <a:rPr lang="en-GB" b="1"/>
              <a:t>Introduction</a:t>
            </a:r>
            <a:r>
              <a:rPr lang="en-GB"/>
              <a:t>: </a:t>
            </a:r>
          </a:p>
          <a:p>
            <a:pPr marL="171450" indent="-171450">
              <a:buFontTx/>
              <a:buChar char="-"/>
            </a:pPr>
            <a:r>
              <a:rPr lang="en-GB"/>
              <a:t>First did Data Visualization -&gt; started with the patients  -&gt; wanted to define trends in patient subgroups  -&gt; divided them into subgroups according to the given annotation data frame </a:t>
            </a:r>
          </a:p>
          <a:p>
            <a:pPr marL="171450" indent="-171450">
              <a:buFontTx/>
              <a:buChar char="-"/>
            </a:pPr>
            <a:r>
              <a:rPr lang="en-GB"/>
              <a:t>We focused on the </a:t>
            </a:r>
            <a:r>
              <a:rPr lang="en-GB" err="1"/>
              <a:t>Tumor</a:t>
            </a:r>
            <a:r>
              <a:rPr lang="en-GB"/>
              <a:t> Type: Primary Solid </a:t>
            </a:r>
            <a:r>
              <a:rPr lang="en-GB" err="1"/>
              <a:t>Tumor</a:t>
            </a:r>
            <a:r>
              <a:rPr lang="en-GB"/>
              <a:t> and Solid tissue normal</a:t>
            </a:r>
          </a:p>
          <a:p>
            <a:pPr marL="171450" indent="-171450">
              <a:buFontTx/>
              <a:buChar char="-"/>
            </a:pPr>
            <a:r>
              <a:rPr lang="en-GB"/>
              <a:t>Let’s have a look at the distribution of </a:t>
            </a:r>
            <a:r>
              <a:rPr lang="en-GB" err="1"/>
              <a:t>ß</a:t>
            </a:r>
            <a:r>
              <a:rPr lang="en-GB"/>
              <a:t>-Values and the density </a:t>
            </a:r>
          </a:p>
          <a:p>
            <a:pPr marL="171450" indent="-171450">
              <a:buFontTx/>
              <a:buChar char="-"/>
            </a:pPr>
            <a:r>
              <a:rPr lang="en-GB"/>
              <a:t>We can observe 2 things: highest density are either at </a:t>
            </a:r>
            <a:r>
              <a:rPr lang="en-GB" err="1"/>
              <a:t>ß</a:t>
            </a:r>
            <a:r>
              <a:rPr lang="en-GB"/>
              <a:t>-Value = 0 or </a:t>
            </a:r>
            <a:r>
              <a:rPr lang="en-GB" err="1"/>
              <a:t>ß</a:t>
            </a:r>
            <a:r>
              <a:rPr lang="en-GB"/>
              <a:t>-Value = 1 -&gt;  which is expected:</a:t>
            </a:r>
          </a:p>
          <a:p>
            <a:pPr marL="171450" indent="-171450">
              <a:buFontTx/>
              <a:buChar char="-"/>
            </a:pPr>
            <a:r>
              <a:rPr lang="en-GB"/>
              <a:t>We either have no methylation or methylation </a:t>
            </a:r>
          </a:p>
          <a:p>
            <a:pPr marL="171450" indent="-171450">
              <a:buFontTx/>
              <a:buChar char="-"/>
            </a:pPr>
            <a:r>
              <a:rPr lang="en-GB"/>
              <a:t>Second thing: there is no big difference between the two groups </a:t>
            </a:r>
          </a:p>
          <a:p>
            <a:r>
              <a:rPr lang="en-GB"/>
              <a:t>(Bimodal distribution)</a:t>
            </a:r>
          </a:p>
          <a:p>
            <a:endParaRPr lang="en-GB"/>
          </a:p>
          <a:p>
            <a:r>
              <a:rPr lang="en-GB" i="1">
                <a:solidFill>
                  <a:schemeClr val="accent2">
                    <a:lumMod val="40000"/>
                    <a:lumOff val="60000"/>
                  </a:schemeClr>
                </a:solidFill>
              </a:rPr>
              <a:t>Code: </a:t>
            </a:r>
          </a:p>
          <a:p>
            <a:pPr marL="171450" indent="-171450">
              <a:buFontTx/>
              <a:buChar char="-"/>
            </a:pPr>
            <a:r>
              <a:rPr lang="en-GB" i="1">
                <a:solidFill>
                  <a:schemeClr val="accent2">
                    <a:lumMod val="40000"/>
                    <a:lumOff val="60000"/>
                  </a:schemeClr>
                </a:solidFill>
              </a:rPr>
              <a:t>ggplot2</a:t>
            </a:r>
          </a:p>
          <a:p>
            <a:pPr marL="171450" indent="-171450">
              <a:buFontTx/>
              <a:buChar char="-"/>
            </a:pPr>
            <a:r>
              <a:rPr lang="en-GB" i="1">
                <a:solidFill>
                  <a:schemeClr val="accent2">
                    <a:lumMod val="40000"/>
                    <a:lumOff val="60000"/>
                  </a:schemeClr>
                </a:solidFill>
              </a:rPr>
              <a:t>We did two density plots for each patient group (with the function density) and then combined the plots with the </a:t>
            </a:r>
            <a:r>
              <a:rPr lang="en-GB" i="1" err="1">
                <a:solidFill>
                  <a:schemeClr val="accent2">
                    <a:lumMod val="40000"/>
                    <a:lumOff val="60000"/>
                  </a:schemeClr>
                </a:solidFill>
              </a:rPr>
              <a:t>ggplot</a:t>
            </a:r>
            <a:r>
              <a:rPr lang="en-GB" i="1">
                <a:solidFill>
                  <a:schemeClr val="accent2">
                    <a:lumMod val="40000"/>
                    <a:lumOff val="60000"/>
                  </a:schemeClr>
                </a:solidFill>
              </a:rPr>
              <a:t> function </a:t>
            </a:r>
          </a:p>
          <a:p>
            <a:pPr marL="171450" indent="-171450">
              <a:buFontTx/>
              <a:buChar char="-"/>
            </a:pPr>
            <a:endParaRPr lang="en-GB"/>
          </a:p>
          <a:p>
            <a:pPr marL="171450" indent="-171450">
              <a:buFontTx/>
              <a:buChar char="-"/>
            </a:pPr>
            <a:endParaRPr lang="en-GB"/>
          </a:p>
          <a:p>
            <a:pPr marL="171450" indent="-171450">
              <a:buFontTx/>
              <a:buChar char="-"/>
            </a:pPr>
            <a:endParaRPr lang="en-GB"/>
          </a:p>
        </p:txBody>
      </p:sp>
      <p:sp>
        <p:nvSpPr>
          <p:cNvPr id="4" name="Foliennummernplatzhalter 3">
            <a:extLst>
              <a:ext uri="{FF2B5EF4-FFF2-40B4-BE49-F238E27FC236}">
                <a16:creationId xmlns:a16="http://schemas.microsoft.com/office/drawing/2014/main" id="{585DA2A8-B7A5-1F05-858B-EF190EB1D568}"/>
              </a:ext>
            </a:extLst>
          </p:cNvPr>
          <p:cNvSpPr>
            <a:spLocks noGrp="1"/>
          </p:cNvSpPr>
          <p:nvPr>
            <p:ph type="sldNum" sz="quarter" idx="5"/>
          </p:nvPr>
        </p:nvSpPr>
        <p:spPr/>
        <p:txBody>
          <a:bodyPr/>
          <a:lstStyle/>
          <a:p>
            <a:fld id="{391042D6-1119-7B40-96F1-05C6B84075A2}" type="slidenum">
              <a:rPr lang="en-DE" smtClean="0"/>
              <a:t>26</a:t>
            </a:fld>
            <a:endParaRPr lang="en-DE"/>
          </a:p>
        </p:txBody>
      </p:sp>
    </p:spTree>
    <p:extLst>
      <p:ext uri="{BB962C8B-B14F-4D97-AF65-F5344CB8AC3E}">
        <p14:creationId xmlns:p14="http://schemas.microsoft.com/office/powerpoint/2010/main" val="8704924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3113E-E27E-E35E-06C3-6FC44DFCE1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BC5AF5-E372-C3B8-E5E4-C9F6286153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59D636-C9F9-9239-6723-9DE525088A12}"/>
              </a:ext>
            </a:extLst>
          </p:cNvPr>
          <p:cNvSpPr>
            <a:spLocks noGrp="1"/>
          </p:cNvSpPr>
          <p:nvPr>
            <p:ph type="body" idx="1"/>
          </p:nvPr>
        </p:nvSpPr>
        <p:spPr/>
        <p:txBody>
          <a:bodyPr/>
          <a:lstStyle/>
          <a:p>
            <a:pPr marL="171450" indent="-171450">
              <a:buFontTx/>
              <a:buChar char="-"/>
            </a:pPr>
            <a:r>
              <a:rPr lang="en-DE"/>
              <a:t>Dimension Reduction -&gt; the data set is high dimensional -&gt; we used a PCA</a:t>
            </a:r>
          </a:p>
          <a:p>
            <a:pPr marL="171450" indent="-171450">
              <a:buFontTx/>
              <a:buChar char="-"/>
            </a:pPr>
            <a:r>
              <a:rPr lang="en-GB"/>
              <a:t>H</a:t>
            </a:r>
            <a:r>
              <a:rPr lang="en-DE"/>
              <a:t>ere we can see the principle components and the proportion of variance they explain </a:t>
            </a:r>
          </a:p>
          <a:p>
            <a:pPr marL="171450" indent="-171450">
              <a:buFontTx/>
              <a:buChar char="-"/>
            </a:pPr>
            <a:r>
              <a:rPr lang="en-DE"/>
              <a:t>PC1 and PC2 together. </a:t>
            </a:r>
            <a:r>
              <a:rPr lang="en-GB"/>
              <a:t>E</a:t>
            </a:r>
            <a:r>
              <a:rPr lang="en-DE"/>
              <a:t>xplain about 38 % of Variance of the Dataset</a:t>
            </a:r>
          </a:p>
          <a:p>
            <a:pPr marL="171450" indent="-171450">
              <a:buFontTx/>
              <a:buChar char="-"/>
            </a:pPr>
            <a:r>
              <a:rPr lang="en-DE"/>
              <a:t>Biplot for the first two PC </a:t>
            </a:r>
          </a:p>
          <a:p>
            <a:pPr marL="171450" indent="-171450">
              <a:buFontTx/>
              <a:buChar char="-"/>
            </a:pPr>
            <a:r>
              <a:rPr lang="en-GB"/>
              <a:t>O</a:t>
            </a:r>
            <a:r>
              <a:rPr lang="en-DE"/>
              <a:t>bserve 2 things:</a:t>
            </a:r>
          </a:p>
          <a:p>
            <a:pPr marL="171450" indent="-171450">
              <a:buFontTx/>
              <a:buChar char="-"/>
            </a:pPr>
            <a:r>
              <a:rPr lang="en-GB"/>
              <a:t>T</a:t>
            </a:r>
            <a:r>
              <a:rPr lang="en-DE"/>
              <a:t>here is a difference between the two groups -&gt; show clusters</a:t>
            </a:r>
          </a:p>
          <a:p>
            <a:pPr marL="171450" indent="-171450">
              <a:buFontTx/>
              <a:buChar char="-"/>
            </a:pPr>
            <a:r>
              <a:rPr lang="en-GB"/>
              <a:t>G</a:t>
            </a:r>
            <a:r>
              <a:rPr lang="en-DE"/>
              <a:t>roup for Solid Tissue Normal is clusterd more tighly than the other group </a:t>
            </a:r>
          </a:p>
          <a:p>
            <a:pPr marL="171450" indent="-171450">
              <a:buFontTx/>
              <a:buChar char="-"/>
            </a:pPr>
            <a:endParaRPr lang="en-DE"/>
          </a:p>
          <a:p>
            <a:pPr marL="171450" indent="-171450">
              <a:buFontTx/>
              <a:buChar char="-"/>
            </a:pPr>
            <a:endParaRPr lang="en-DE"/>
          </a:p>
        </p:txBody>
      </p:sp>
      <p:sp>
        <p:nvSpPr>
          <p:cNvPr id="4" name="Slide Number Placeholder 3">
            <a:extLst>
              <a:ext uri="{FF2B5EF4-FFF2-40B4-BE49-F238E27FC236}">
                <a16:creationId xmlns:a16="http://schemas.microsoft.com/office/drawing/2014/main" id="{679451EE-8567-C129-323B-9A31C8C36477}"/>
              </a:ext>
            </a:extLst>
          </p:cNvPr>
          <p:cNvSpPr>
            <a:spLocks noGrp="1"/>
          </p:cNvSpPr>
          <p:nvPr>
            <p:ph type="sldNum" sz="quarter" idx="5"/>
          </p:nvPr>
        </p:nvSpPr>
        <p:spPr/>
        <p:txBody>
          <a:bodyPr/>
          <a:lstStyle/>
          <a:p>
            <a:fld id="{391042D6-1119-7B40-96F1-05C6B84075A2}" type="slidenum">
              <a:rPr lang="en-DE" smtClean="0"/>
              <a:t>27</a:t>
            </a:fld>
            <a:endParaRPr lang="en-DE"/>
          </a:p>
        </p:txBody>
      </p:sp>
    </p:spTree>
    <p:extLst>
      <p:ext uri="{BB962C8B-B14F-4D97-AF65-F5344CB8AC3E}">
        <p14:creationId xmlns:p14="http://schemas.microsoft.com/office/powerpoint/2010/main" val="22286518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AD486-3666-03B9-BCA5-6ADA6EC2E5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C1DDD-62A8-AB95-4689-FA46564F51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C9E3-CE2A-D834-7956-8659CB557791}"/>
              </a:ext>
            </a:extLst>
          </p:cNvPr>
          <p:cNvSpPr>
            <a:spLocks noGrp="1"/>
          </p:cNvSpPr>
          <p:nvPr>
            <p:ph type="body" idx="1"/>
          </p:nvPr>
        </p:nvSpPr>
        <p:spPr/>
        <p:txBody>
          <a:bodyPr/>
          <a:lstStyle/>
          <a:p>
            <a:pPr marL="171450" indent="-171450">
              <a:buFontTx/>
              <a:buChar char="-"/>
            </a:pPr>
            <a:r>
              <a:rPr lang="en-GB"/>
              <a:t>W</a:t>
            </a:r>
            <a:r>
              <a:rPr lang="en-DE"/>
              <a:t>e also looked at the Pearson Correlation between the patients and visulaised it with a heatmap which can be seen here</a:t>
            </a:r>
          </a:p>
          <a:p>
            <a:pPr marL="171450" indent="-171450">
              <a:buFontTx/>
              <a:buChar char="-"/>
            </a:pPr>
            <a:r>
              <a:rPr lang="en-GB"/>
              <a:t>High correlation in this area in the Solid Tissue Normal group </a:t>
            </a:r>
          </a:p>
          <a:p>
            <a:pPr marL="171450" indent="-171450">
              <a:buFontTx/>
              <a:buChar char="-"/>
            </a:pPr>
            <a:r>
              <a:rPr lang="en-GB"/>
              <a:t>Compared to the Primary solid </a:t>
            </a:r>
            <a:r>
              <a:rPr lang="en-GB" err="1"/>
              <a:t>Tumor</a:t>
            </a:r>
            <a:r>
              <a:rPr lang="en-GB"/>
              <a:t> group with lower correlation </a:t>
            </a:r>
          </a:p>
          <a:p>
            <a:pPr marL="171450" indent="-171450">
              <a:buFontTx/>
              <a:buChar char="-"/>
            </a:pPr>
            <a:r>
              <a:rPr lang="en-GB"/>
              <a:t>But it is important to say, that even a correlation of 0,8 is relatively high </a:t>
            </a:r>
          </a:p>
          <a:p>
            <a:pPr marL="171450" indent="-171450">
              <a:buFontTx/>
              <a:buChar char="-"/>
            </a:pPr>
            <a:endParaRPr lang="en-DE"/>
          </a:p>
          <a:p>
            <a:pPr marL="171450" indent="-171450">
              <a:buFontTx/>
              <a:buChar char="-"/>
            </a:pPr>
            <a:r>
              <a:rPr lang="en-DE" b="1"/>
              <a:t>Conclusion:</a:t>
            </a:r>
            <a:r>
              <a:rPr lang="en-DE"/>
              <a:t> </a:t>
            </a:r>
          </a:p>
          <a:p>
            <a:pPr marL="171450" indent="-171450">
              <a:buFontTx/>
              <a:buChar char="-"/>
            </a:pPr>
            <a:r>
              <a:rPr lang="en-GB"/>
              <a:t>That was the first part, which covered the data visualization in subgroups in Patients </a:t>
            </a:r>
          </a:p>
          <a:p>
            <a:pPr marL="171450" indent="-171450">
              <a:buFontTx/>
              <a:buChar char="-"/>
            </a:pPr>
            <a:r>
              <a:rPr lang="en-GB"/>
              <a:t>Now its time to look in the future and talk about future project planning </a:t>
            </a:r>
          </a:p>
          <a:p>
            <a:pPr marL="171450" indent="-171450">
              <a:buFontTx/>
              <a:buChar char="-"/>
            </a:pPr>
            <a:endParaRPr lang="en-GB"/>
          </a:p>
          <a:p>
            <a:pPr marL="171450" indent="-171450">
              <a:buFontTx/>
              <a:buChar char="-"/>
            </a:pPr>
            <a:r>
              <a:rPr lang="en-GB"/>
              <a:t>Complete linkage and Euclidian distance </a:t>
            </a:r>
          </a:p>
        </p:txBody>
      </p:sp>
      <p:sp>
        <p:nvSpPr>
          <p:cNvPr id="4" name="Slide Number Placeholder 3">
            <a:extLst>
              <a:ext uri="{FF2B5EF4-FFF2-40B4-BE49-F238E27FC236}">
                <a16:creationId xmlns:a16="http://schemas.microsoft.com/office/drawing/2014/main" id="{72997089-996B-2072-9909-0F8DFF9017F4}"/>
              </a:ext>
            </a:extLst>
          </p:cNvPr>
          <p:cNvSpPr>
            <a:spLocks noGrp="1"/>
          </p:cNvSpPr>
          <p:nvPr>
            <p:ph type="sldNum" sz="quarter" idx="5"/>
          </p:nvPr>
        </p:nvSpPr>
        <p:spPr/>
        <p:txBody>
          <a:bodyPr/>
          <a:lstStyle/>
          <a:p>
            <a:fld id="{391042D6-1119-7B40-96F1-05C6B84075A2}" type="slidenum">
              <a:rPr lang="en-DE" smtClean="0"/>
              <a:t>28</a:t>
            </a:fld>
            <a:endParaRPr lang="en-DE"/>
          </a:p>
        </p:txBody>
      </p:sp>
    </p:spTree>
    <p:extLst>
      <p:ext uri="{BB962C8B-B14F-4D97-AF65-F5344CB8AC3E}">
        <p14:creationId xmlns:p14="http://schemas.microsoft.com/office/powerpoint/2010/main" val="2531037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7CF81-D215-9CF0-C167-EDFB3E124E2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DE"/>
          </a:p>
        </p:txBody>
      </p:sp>
      <p:sp>
        <p:nvSpPr>
          <p:cNvPr id="3" name="Subtitle 2">
            <a:extLst>
              <a:ext uri="{FF2B5EF4-FFF2-40B4-BE49-F238E27FC236}">
                <a16:creationId xmlns:a16="http://schemas.microsoft.com/office/drawing/2014/main" id="{265F677F-9A83-4DFB-C66A-5758C475ED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DE"/>
          </a:p>
        </p:txBody>
      </p:sp>
      <p:sp>
        <p:nvSpPr>
          <p:cNvPr id="4" name="Date Placeholder 3">
            <a:extLst>
              <a:ext uri="{FF2B5EF4-FFF2-40B4-BE49-F238E27FC236}">
                <a16:creationId xmlns:a16="http://schemas.microsoft.com/office/drawing/2014/main" id="{E6C23FD7-B71F-1AF1-C1D3-F21673D89253}"/>
              </a:ext>
            </a:extLst>
          </p:cNvPr>
          <p:cNvSpPr>
            <a:spLocks noGrp="1"/>
          </p:cNvSpPr>
          <p:nvPr>
            <p:ph type="dt" sz="half" idx="10"/>
          </p:nvPr>
        </p:nvSpPr>
        <p:spPr/>
        <p:txBody>
          <a:bodyPr/>
          <a:lstStyle/>
          <a:p>
            <a:fld id="{2E9B985B-38AD-A348-9BF6-63F948069251}" type="datetime1">
              <a:rPr lang="de-DE" smtClean="0"/>
              <a:t>08.07.24</a:t>
            </a:fld>
            <a:endParaRPr lang="en-DE"/>
          </a:p>
        </p:txBody>
      </p:sp>
      <p:sp>
        <p:nvSpPr>
          <p:cNvPr id="5" name="Footer Placeholder 4">
            <a:extLst>
              <a:ext uri="{FF2B5EF4-FFF2-40B4-BE49-F238E27FC236}">
                <a16:creationId xmlns:a16="http://schemas.microsoft.com/office/drawing/2014/main" id="{3C188F80-F184-759F-6695-03C2FCD2154F}"/>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FACA96A1-4CF5-D1A3-3390-77746A794B5A}"/>
              </a:ext>
            </a:extLst>
          </p:cNvPr>
          <p:cNvSpPr>
            <a:spLocks noGrp="1"/>
          </p:cNvSpPr>
          <p:nvPr>
            <p:ph type="sldNum" sz="quarter" idx="12"/>
          </p:nvPr>
        </p:nvSpPr>
        <p:spPr/>
        <p:txBody>
          <a:bodyPr/>
          <a:lstStyle/>
          <a:p>
            <a:fld id="{87CDB63A-4C37-3247-921B-ED7A64B24297}" type="slidenum">
              <a:rPr lang="en-DE" smtClean="0"/>
              <a:t>‹#›</a:t>
            </a:fld>
            <a:endParaRPr lang="en-DE"/>
          </a:p>
        </p:txBody>
      </p:sp>
    </p:spTree>
    <p:extLst>
      <p:ext uri="{BB962C8B-B14F-4D97-AF65-F5344CB8AC3E}">
        <p14:creationId xmlns:p14="http://schemas.microsoft.com/office/powerpoint/2010/main" val="834051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C20CA-C271-E87E-DE9D-B076F7434C02}"/>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721048AB-6BF5-04F8-3243-FDA04D2F332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BB31B809-2763-0B4E-820F-E70A791EBAC4}"/>
              </a:ext>
            </a:extLst>
          </p:cNvPr>
          <p:cNvSpPr>
            <a:spLocks noGrp="1"/>
          </p:cNvSpPr>
          <p:nvPr>
            <p:ph type="dt" sz="half" idx="10"/>
          </p:nvPr>
        </p:nvSpPr>
        <p:spPr/>
        <p:txBody>
          <a:bodyPr/>
          <a:lstStyle/>
          <a:p>
            <a:fld id="{8B81FDAC-61BF-7D48-97B4-A514504A9BED}" type="datetime1">
              <a:rPr lang="de-DE" smtClean="0"/>
              <a:t>08.07.24</a:t>
            </a:fld>
            <a:endParaRPr lang="en-DE"/>
          </a:p>
        </p:txBody>
      </p:sp>
      <p:sp>
        <p:nvSpPr>
          <p:cNvPr id="5" name="Footer Placeholder 4">
            <a:extLst>
              <a:ext uri="{FF2B5EF4-FFF2-40B4-BE49-F238E27FC236}">
                <a16:creationId xmlns:a16="http://schemas.microsoft.com/office/drawing/2014/main" id="{1DBA476C-E03D-0547-CD55-2108C398AE9C}"/>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29115B5C-D1D1-6083-E7C3-CE8B015FD7D6}"/>
              </a:ext>
            </a:extLst>
          </p:cNvPr>
          <p:cNvSpPr>
            <a:spLocks noGrp="1"/>
          </p:cNvSpPr>
          <p:nvPr>
            <p:ph type="sldNum" sz="quarter" idx="12"/>
          </p:nvPr>
        </p:nvSpPr>
        <p:spPr/>
        <p:txBody>
          <a:bodyPr/>
          <a:lstStyle/>
          <a:p>
            <a:fld id="{87CDB63A-4C37-3247-921B-ED7A64B24297}" type="slidenum">
              <a:rPr lang="en-DE" smtClean="0"/>
              <a:t>‹#›</a:t>
            </a:fld>
            <a:endParaRPr lang="en-DE"/>
          </a:p>
        </p:txBody>
      </p:sp>
    </p:spTree>
    <p:extLst>
      <p:ext uri="{BB962C8B-B14F-4D97-AF65-F5344CB8AC3E}">
        <p14:creationId xmlns:p14="http://schemas.microsoft.com/office/powerpoint/2010/main" val="2756713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5B77C-88CC-ACD2-3819-0B7D682E92A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DE"/>
          </a:p>
        </p:txBody>
      </p:sp>
      <p:sp>
        <p:nvSpPr>
          <p:cNvPr id="3" name="Text Placeholder 2">
            <a:extLst>
              <a:ext uri="{FF2B5EF4-FFF2-40B4-BE49-F238E27FC236}">
                <a16:creationId xmlns:a16="http://schemas.microsoft.com/office/drawing/2014/main" id="{D4E95A81-AD1D-10B9-0B70-9262C9AAFD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838AA12-1AAB-FE94-17E5-489DB670ECE4}"/>
              </a:ext>
            </a:extLst>
          </p:cNvPr>
          <p:cNvSpPr>
            <a:spLocks noGrp="1"/>
          </p:cNvSpPr>
          <p:nvPr>
            <p:ph type="dt" sz="half" idx="10"/>
          </p:nvPr>
        </p:nvSpPr>
        <p:spPr/>
        <p:txBody>
          <a:bodyPr/>
          <a:lstStyle/>
          <a:p>
            <a:fld id="{4BFBFEC7-48B1-6C42-BEFB-979A370F22A7}" type="datetime1">
              <a:rPr lang="de-DE" smtClean="0"/>
              <a:t>08.07.24</a:t>
            </a:fld>
            <a:endParaRPr lang="en-DE"/>
          </a:p>
        </p:txBody>
      </p:sp>
      <p:sp>
        <p:nvSpPr>
          <p:cNvPr id="5" name="Footer Placeholder 4">
            <a:extLst>
              <a:ext uri="{FF2B5EF4-FFF2-40B4-BE49-F238E27FC236}">
                <a16:creationId xmlns:a16="http://schemas.microsoft.com/office/drawing/2014/main" id="{1E402369-87FB-D0BC-5FCB-BD8ECA1ABBC1}"/>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14E88227-0EAE-54FD-1F76-9B7F41D42203}"/>
              </a:ext>
            </a:extLst>
          </p:cNvPr>
          <p:cNvSpPr>
            <a:spLocks noGrp="1"/>
          </p:cNvSpPr>
          <p:nvPr>
            <p:ph type="sldNum" sz="quarter" idx="12"/>
          </p:nvPr>
        </p:nvSpPr>
        <p:spPr/>
        <p:txBody>
          <a:bodyPr/>
          <a:lstStyle/>
          <a:p>
            <a:fld id="{87CDB63A-4C37-3247-921B-ED7A64B24297}" type="slidenum">
              <a:rPr lang="en-DE" smtClean="0"/>
              <a:t>‹#›</a:t>
            </a:fld>
            <a:endParaRPr lang="en-DE"/>
          </a:p>
        </p:txBody>
      </p:sp>
    </p:spTree>
    <p:extLst>
      <p:ext uri="{BB962C8B-B14F-4D97-AF65-F5344CB8AC3E}">
        <p14:creationId xmlns:p14="http://schemas.microsoft.com/office/powerpoint/2010/main" val="2952249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C5E39-871D-95F3-1E46-8282DD7C466E}"/>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E022FD2C-804A-07E7-FE51-1E727955755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Content Placeholder 3">
            <a:extLst>
              <a:ext uri="{FF2B5EF4-FFF2-40B4-BE49-F238E27FC236}">
                <a16:creationId xmlns:a16="http://schemas.microsoft.com/office/drawing/2014/main" id="{8D5B2C5A-5E80-F0B7-0D74-861805FA88F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Date Placeholder 4">
            <a:extLst>
              <a:ext uri="{FF2B5EF4-FFF2-40B4-BE49-F238E27FC236}">
                <a16:creationId xmlns:a16="http://schemas.microsoft.com/office/drawing/2014/main" id="{36B55776-EB33-5D53-3846-2B21A0CB5409}"/>
              </a:ext>
            </a:extLst>
          </p:cNvPr>
          <p:cNvSpPr>
            <a:spLocks noGrp="1"/>
          </p:cNvSpPr>
          <p:nvPr>
            <p:ph type="dt" sz="half" idx="10"/>
          </p:nvPr>
        </p:nvSpPr>
        <p:spPr/>
        <p:txBody>
          <a:bodyPr/>
          <a:lstStyle/>
          <a:p>
            <a:fld id="{59663690-B8F8-4546-8AF1-4BC0C670BF62}" type="datetime1">
              <a:rPr lang="de-DE" smtClean="0"/>
              <a:t>08.07.24</a:t>
            </a:fld>
            <a:endParaRPr lang="en-DE"/>
          </a:p>
        </p:txBody>
      </p:sp>
      <p:sp>
        <p:nvSpPr>
          <p:cNvPr id="6" name="Footer Placeholder 5">
            <a:extLst>
              <a:ext uri="{FF2B5EF4-FFF2-40B4-BE49-F238E27FC236}">
                <a16:creationId xmlns:a16="http://schemas.microsoft.com/office/drawing/2014/main" id="{B428BAFD-4A19-75F6-A42C-8C95B998CE32}"/>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643046F8-272E-B8DA-87D2-7F58E4334625}"/>
              </a:ext>
            </a:extLst>
          </p:cNvPr>
          <p:cNvSpPr>
            <a:spLocks noGrp="1"/>
          </p:cNvSpPr>
          <p:nvPr>
            <p:ph type="sldNum" sz="quarter" idx="12"/>
          </p:nvPr>
        </p:nvSpPr>
        <p:spPr/>
        <p:txBody>
          <a:bodyPr/>
          <a:lstStyle/>
          <a:p>
            <a:fld id="{87CDB63A-4C37-3247-921B-ED7A64B24297}" type="slidenum">
              <a:rPr lang="en-DE" smtClean="0"/>
              <a:t>‹#›</a:t>
            </a:fld>
            <a:endParaRPr lang="en-DE"/>
          </a:p>
        </p:txBody>
      </p:sp>
    </p:spTree>
    <p:extLst>
      <p:ext uri="{BB962C8B-B14F-4D97-AF65-F5344CB8AC3E}">
        <p14:creationId xmlns:p14="http://schemas.microsoft.com/office/powerpoint/2010/main" val="1877975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3A79B-5C00-D46D-7516-778870DAD908}"/>
              </a:ext>
            </a:extLst>
          </p:cNvPr>
          <p:cNvSpPr>
            <a:spLocks noGrp="1"/>
          </p:cNvSpPr>
          <p:nvPr>
            <p:ph type="title"/>
          </p:nvPr>
        </p:nvSpPr>
        <p:spPr>
          <a:xfrm>
            <a:off x="839788" y="365125"/>
            <a:ext cx="10515600" cy="1325563"/>
          </a:xfrm>
        </p:spPr>
        <p:txBody>
          <a:bodyPr/>
          <a:lstStyle/>
          <a:p>
            <a:r>
              <a:rPr lang="en-GB"/>
              <a:t>Click to edit Master title style</a:t>
            </a:r>
            <a:endParaRPr lang="en-DE"/>
          </a:p>
        </p:txBody>
      </p:sp>
      <p:sp>
        <p:nvSpPr>
          <p:cNvPr id="3" name="Text Placeholder 2">
            <a:extLst>
              <a:ext uri="{FF2B5EF4-FFF2-40B4-BE49-F238E27FC236}">
                <a16:creationId xmlns:a16="http://schemas.microsoft.com/office/drawing/2014/main" id="{29CEEFF2-0036-F86C-F31A-463226B73C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BB559B3-3987-A4A1-BCA2-1E31D32FCDE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Text Placeholder 4">
            <a:extLst>
              <a:ext uri="{FF2B5EF4-FFF2-40B4-BE49-F238E27FC236}">
                <a16:creationId xmlns:a16="http://schemas.microsoft.com/office/drawing/2014/main" id="{A29369F1-1B9E-FC4A-4B41-BDC2654A0D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E649FFC-8BDD-D207-974E-D29056F5D12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7" name="Date Placeholder 6">
            <a:extLst>
              <a:ext uri="{FF2B5EF4-FFF2-40B4-BE49-F238E27FC236}">
                <a16:creationId xmlns:a16="http://schemas.microsoft.com/office/drawing/2014/main" id="{0B9FAD99-5ECE-594B-0A74-F845659134DA}"/>
              </a:ext>
            </a:extLst>
          </p:cNvPr>
          <p:cNvSpPr>
            <a:spLocks noGrp="1"/>
          </p:cNvSpPr>
          <p:nvPr>
            <p:ph type="dt" sz="half" idx="10"/>
          </p:nvPr>
        </p:nvSpPr>
        <p:spPr/>
        <p:txBody>
          <a:bodyPr/>
          <a:lstStyle/>
          <a:p>
            <a:fld id="{83B2E73F-D26B-F444-8269-CB9C3CDAC002}" type="datetime1">
              <a:rPr lang="de-DE" smtClean="0"/>
              <a:t>08.07.24</a:t>
            </a:fld>
            <a:endParaRPr lang="en-DE"/>
          </a:p>
        </p:txBody>
      </p:sp>
      <p:sp>
        <p:nvSpPr>
          <p:cNvPr id="8" name="Footer Placeholder 7">
            <a:extLst>
              <a:ext uri="{FF2B5EF4-FFF2-40B4-BE49-F238E27FC236}">
                <a16:creationId xmlns:a16="http://schemas.microsoft.com/office/drawing/2014/main" id="{4E9E5A10-5F2A-CA04-1F74-FAC644882068}"/>
              </a:ext>
            </a:extLst>
          </p:cNvPr>
          <p:cNvSpPr>
            <a:spLocks noGrp="1"/>
          </p:cNvSpPr>
          <p:nvPr>
            <p:ph type="ftr" sz="quarter" idx="11"/>
          </p:nvPr>
        </p:nvSpPr>
        <p:spPr/>
        <p:txBody>
          <a:bodyPr/>
          <a:lstStyle/>
          <a:p>
            <a:endParaRPr lang="en-DE"/>
          </a:p>
        </p:txBody>
      </p:sp>
      <p:sp>
        <p:nvSpPr>
          <p:cNvPr id="9" name="Slide Number Placeholder 8">
            <a:extLst>
              <a:ext uri="{FF2B5EF4-FFF2-40B4-BE49-F238E27FC236}">
                <a16:creationId xmlns:a16="http://schemas.microsoft.com/office/drawing/2014/main" id="{CB23A0A2-83BA-7293-9BDE-FCF784C99D55}"/>
              </a:ext>
            </a:extLst>
          </p:cNvPr>
          <p:cNvSpPr>
            <a:spLocks noGrp="1"/>
          </p:cNvSpPr>
          <p:nvPr>
            <p:ph type="sldNum" sz="quarter" idx="12"/>
          </p:nvPr>
        </p:nvSpPr>
        <p:spPr/>
        <p:txBody>
          <a:bodyPr/>
          <a:lstStyle/>
          <a:p>
            <a:fld id="{87CDB63A-4C37-3247-921B-ED7A64B24297}" type="slidenum">
              <a:rPr lang="en-DE" smtClean="0"/>
              <a:t>‹#›</a:t>
            </a:fld>
            <a:endParaRPr lang="en-DE"/>
          </a:p>
        </p:txBody>
      </p:sp>
    </p:spTree>
    <p:extLst>
      <p:ext uri="{BB962C8B-B14F-4D97-AF65-F5344CB8AC3E}">
        <p14:creationId xmlns:p14="http://schemas.microsoft.com/office/powerpoint/2010/main" val="1098778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A6639-8909-9847-948E-E795D5F37F6C}"/>
              </a:ext>
            </a:extLst>
          </p:cNvPr>
          <p:cNvSpPr>
            <a:spLocks noGrp="1"/>
          </p:cNvSpPr>
          <p:nvPr>
            <p:ph type="title"/>
          </p:nvPr>
        </p:nvSpPr>
        <p:spPr/>
        <p:txBody>
          <a:bodyPr/>
          <a:lstStyle/>
          <a:p>
            <a:r>
              <a:rPr lang="en-GB"/>
              <a:t>Click to edit Master title style</a:t>
            </a:r>
            <a:endParaRPr lang="en-DE"/>
          </a:p>
        </p:txBody>
      </p:sp>
      <p:sp>
        <p:nvSpPr>
          <p:cNvPr id="3" name="Date Placeholder 2">
            <a:extLst>
              <a:ext uri="{FF2B5EF4-FFF2-40B4-BE49-F238E27FC236}">
                <a16:creationId xmlns:a16="http://schemas.microsoft.com/office/drawing/2014/main" id="{1295C193-784D-6495-9544-14F0D595D8C0}"/>
              </a:ext>
            </a:extLst>
          </p:cNvPr>
          <p:cNvSpPr>
            <a:spLocks noGrp="1"/>
          </p:cNvSpPr>
          <p:nvPr>
            <p:ph type="dt" sz="half" idx="10"/>
          </p:nvPr>
        </p:nvSpPr>
        <p:spPr/>
        <p:txBody>
          <a:bodyPr/>
          <a:lstStyle/>
          <a:p>
            <a:fld id="{91C57F3E-21AD-B440-975A-4ABAFD3516AF}" type="datetime1">
              <a:rPr lang="de-DE" smtClean="0"/>
              <a:t>08.07.24</a:t>
            </a:fld>
            <a:endParaRPr lang="en-DE"/>
          </a:p>
        </p:txBody>
      </p:sp>
      <p:sp>
        <p:nvSpPr>
          <p:cNvPr id="4" name="Footer Placeholder 3">
            <a:extLst>
              <a:ext uri="{FF2B5EF4-FFF2-40B4-BE49-F238E27FC236}">
                <a16:creationId xmlns:a16="http://schemas.microsoft.com/office/drawing/2014/main" id="{930990AA-E13B-14C4-5895-ADC0AFAEA9DD}"/>
              </a:ext>
            </a:extLst>
          </p:cNvPr>
          <p:cNvSpPr>
            <a:spLocks noGrp="1"/>
          </p:cNvSpPr>
          <p:nvPr>
            <p:ph type="ftr" sz="quarter" idx="11"/>
          </p:nvPr>
        </p:nvSpPr>
        <p:spPr/>
        <p:txBody>
          <a:bodyPr/>
          <a:lstStyle/>
          <a:p>
            <a:endParaRPr lang="en-DE"/>
          </a:p>
        </p:txBody>
      </p:sp>
      <p:sp>
        <p:nvSpPr>
          <p:cNvPr id="5" name="Slide Number Placeholder 4">
            <a:extLst>
              <a:ext uri="{FF2B5EF4-FFF2-40B4-BE49-F238E27FC236}">
                <a16:creationId xmlns:a16="http://schemas.microsoft.com/office/drawing/2014/main" id="{D34C37A8-621D-FA3F-BA37-5B32A6FB73CD}"/>
              </a:ext>
            </a:extLst>
          </p:cNvPr>
          <p:cNvSpPr>
            <a:spLocks noGrp="1"/>
          </p:cNvSpPr>
          <p:nvPr>
            <p:ph type="sldNum" sz="quarter" idx="12"/>
          </p:nvPr>
        </p:nvSpPr>
        <p:spPr/>
        <p:txBody>
          <a:bodyPr/>
          <a:lstStyle/>
          <a:p>
            <a:fld id="{87CDB63A-4C37-3247-921B-ED7A64B24297}" type="slidenum">
              <a:rPr lang="en-DE" smtClean="0"/>
              <a:t>‹#›</a:t>
            </a:fld>
            <a:endParaRPr lang="en-DE"/>
          </a:p>
        </p:txBody>
      </p:sp>
    </p:spTree>
    <p:extLst>
      <p:ext uri="{BB962C8B-B14F-4D97-AF65-F5344CB8AC3E}">
        <p14:creationId xmlns:p14="http://schemas.microsoft.com/office/powerpoint/2010/main" val="1759316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BFBEA8-64C8-86B5-66F8-25209CAE9CB2}"/>
              </a:ext>
            </a:extLst>
          </p:cNvPr>
          <p:cNvSpPr>
            <a:spLocks noGrp="1"/>
          </p:cNvSpPr>
          <p:nvPr>
            <p:ph type="dt" sz="half" idx="10"/>
          </p:nvPr>
        </p:nvSpPr>
        <p:spPr/>
        <p:txBody>
          <a:bodyPr/>
          <a:lstStyle/>
          <a:p>
            <a:fld id="{F4F6E6F6-B6FF-6847-904A-1E1DADC48827}" type="datetime1">
              <a:rPr lang="de-DE" smtClean="0"/>
              <a:t>08.07.24</a:t>
            </a:fld>
            <a:endParaRPr lang="en-DE"/>
          </a:p>
        </p:txBody>
      </p:sp>
      <p:sp>
        <p:nvSpPr>
          <p:cNvPr id="3" name="Footer Placeholder 2">
            <a:extLst>
              <a:ext uri="{FF2B5EF4-FFF2-40B4-BE49-F238E27FC236}">
                <a16:creationId xmlns:a16="http://schemas.microsoft.com/office/drawing/2014/main" id="{0101385F-E6CC-B5A1-6147-E088C11B4D31}"/>
              </a:ext>
            </a:extLst>
          </p:cNvPr>
          <p:cNvSpPr>
            <a:spLocks noGrp="1"/>
          </p:cNvSpPr>
          <p:nvPr>
            <p:ph type="ftr" sz="quarter" idx="11"/>
          </p:nvPr>
        </p:nvSpPr>
        <p:spPr/>
        <p:txBody>
          <a:bodyPr/>
          <a:lstStyle/>
          <a:p>
            <a:endParaRPr lang="en-DE"/>
          </a:p>
        </p:txBody>
      </p:sp>
      <p:sp>
        <p:nvSpPr>
          <p:cNvPr id="4" name="Slide Number Placeholder 3">
            <a:extLst>
              <a:ext uri="{FF2B5EF4-FFF2-40B4-BE49-F238E27FC236}">
                <a16:creationId xmlns:a16="http://schemas.microsoft.com/office/drawing/2014/main" id="{93F75C04-6822-546B-2A16-4F3BF8B7E81D}"/>
              </a:ext>
            </a:extLst>
          </p:cNvPr>
          <p:cNvSpPr>
            <a:spLocks noGrp="1"/>
          </p:cNvSpPr>
          <p:nvPr>
            <p:ph type="sldNum" sz="quarter" idx="12"/>
          </p:nvPr>
        </p:nvSpPr>
        <p:spPr/>
        <p:txBody>
          <a:bodyPr/>
          <a:lstStyle/>
          <a:p>
            <a:fld id="{87CDB63A-4C37-3247-921B-ED7A64B24297}" type="slidenum">
              <a:rPr lang="en-DE" smtClean="0"/>
              <a:t>‹#›</a:t>
            </a:fld>
            <a:endParaRPr lang="en-DE"/>
          </a:p>
        </p:txBody>
      </p:sp>
    </p:spTree>
    <p:extLst>
      <p:ext uri="{BB962C8B-B14F-4D97-AF65-F5344CB8AC3E}">
        <p14:creationId xmlns:p14="http://schemas.microsoft.com/office/powerpoint/2010/main" val="3445512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B0592-1EA9-C6E7-3EB2-78ED8132939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Content Placeholder 2">
            <a:extLst>
              <a:ext uri="{FF2B5EF4-FFF2-40B4-BE49-F238E27FC236}">
                <a16:creationId xmlns:a16="http://schemas.microsoft.com/office/drawing/2014/main" id="{D4B3DF4E-1D46-314F-EFB8-257CD9DB43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Text Placeholder 3">
            <a:extLst>
              <a:ext uri="{FF2B5EF4-FFF2-40B4-BE49-F238E27FC236}">
                <a16:creationId xmlns:a16="http://schemas.microsoft.com/office/drawing/2014/main" id="{83E21C1F-38A4-C358-5D04-481C66060F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21D95CB-9306-CCA0-2DCC-CEF72CAACBE2}"/>
              </a:ext>
            </a:extLst>
          </p:cNvPr>
          <p:cNvSpPr>
            <a:spLocks noGrp="1"/>
          </p:cNvSpPr>
          <p:nvPr>
            <p:ph type="dt" sz="half" idx="10"/>
          </p:nvPr>
        </p:nvSpPr>
        <p:spPr/>
        <p:txBody>
          <a:bodyPr/>
          <a:lstStyle/>
          <a:p>
            <a:fld id="{3C85B52C-9AE8-DD40-B666-4335179C9B90}" type="datetime1">
              <a:rPr lang="de-DE" smtClean="0"/>
              <a:t>08.07.24</a:t>
            </a:fld>
            <a:endParaRPr lang="en-DE"/>
          </a:p>
        </p:txBody>
      </p:sp>
      <p:sp>
        <p:nvSpPr>
          <p:cNvPr id="6" name="Footer Placeholder 5">
            <a:extLst>
              <a:ext uri="{FF2B5EF4-FFF2-40B4-BE49-F238E27FC236}">
                <a16:creationId xmlns:a16="http://schemas.microsoft.com/office/drawing/2014/main" id="{5C23F2DE-F733-A68B-C594-E88C0D089BBA}"/>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F2DD4F1B-8D06-6995-31DC-E66B15A84EFD}"/>
              </a:ext>
            </a:extLst>
          </p:cNvPr>
          <p:cNvSpPr>
            <a:spLocks noGrp="1"/>
          </p:cNvSpPr>
          <p:nvPr>
            <p:ph type="sldNum" sz="quarter" idx="12"/>
          </p:nvPr>
        </p:nvSpPr>
        <p:spPr/>
        <p:txBody>
          <a:bodyPr/>
          <a:lstStyle/>
          <a:p>
            <a:fld id="{87CDB63A-4C37-3247-921B-ED7A64B24297}" type="slidenum">
              <a:rPr lang="en-DE" smtClean="0"/>
              <a:t>‹#›</a:t>
            </a:fld>
            <a:endParaRPr lang="en-DE"/>
          </a:p>
        </p:txBody>
      </p:sp>
    </p:spTree>
    <p:extLst>
      <p:ext uri="{BB962C8B-B14F-4D97-AF65-F5344CB8AC3E}">
        <p14:creationId xmlns:p14="http://schemas.microsoft.com/office/powerpoint/2010/main" val="880015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7D574-0FDD-8601-736E-813CAFF1F7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Picture Placeholder 2">
            <a:extLst>
              <a:ext uri="{FF2B5EF4-FFF2-40B4-BE49-F238E27FC236}">
                <a16:creationId xmlns:a16="http://schemas.microsoft.com/office/drawing/2014/main" id="{7EF0DE1C-CA8E-78CA-EF8F-EF0F14D363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81491078-0AA8-FE92-B43C-69E55C9451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FD9932B-5471-4EC0-D0B2-7B6462986CB2}"/>
              </a:ext>
            </a:extLst>
          </p:cNvPr>
          <p:cNvSpPr>
            <a:spLocks noGrp="1"/>
          </p:cNvSpPr>
          <p:nvPr>
            <p:ph type="dt" sz="half" idx="10"/>
          </p:nvPr>
        </p:nvSpPr>
        <p:spPr/>
        <p:txBody>
          <a:bodyPr/>
          <a:lstStyle/>
          <a:p>
            <a:fld id="{379F8293-30C7-834A-A244-F88B87C51FE1}" type="datetime1">
              <a:rPr lang="de-DE" smtClean="0"/>
              <a:t>08.07.24</a:t>
            </a:fld>
            <a:endParaRPr lang="en-DE"/>
          </a:p>
        </p:txBody>
      </p:sp>
      <p:sp>
        <p:nvSpPr>
          <p:cNvPr id="6" name="Footer Placeholder 5">
            <a:extLst>
              <a:ext uri="{FF2B5EF4-FFF2-40B4-BE49-F238E27FC236}">
                <a16:creationId xmlns:a16="http://schemas.microsoft.com/office/drawing/2014/main" id="{D43C3649-E4CD-3004-491A-2DD21598FF97}"/>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24E197C8-049C-7AA2-78FB-6D511CA19D89}"/>
              </a:ext>
            </a:extLst>
          </p:cNvPr>
          <p:cNvSpPr>
            <a:spLocks noGrp="1"/>
          </p:cNvSpPr>
          <p:nvPr>
            <p:ph type="sldNum" sz="quarter" idx="12"/>
          </p:nvPr>
        </p:nvSpPr>
        <p:spPr/>
        <p:txBody>
          <a:bodyPr/>
          <a:lstStyle/>
          <a:p>
            <a:fld id="{87CDB63A-4C37-3247-921B-ED7A64B24297}" type="slidenum">
              <a:rPr lang="en-DE" smtClean="0"/>
              <a:t>‹#›</a:t>
            </a:fld>
            <a:endParaRPr lang="en-DE"/>
          </a:p>
        </p:txBody>
      </p:sp>
    </p:spTree>
    <p:extLst>
      <p:ext uri="{BB962C8B-B14F-4D97-AF65-F5344CB8AC3E}">
        <p14:creationId xmlns:p14="http://schemas.microsoft.com/office/powerpoint/2010/main" val="3783059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539F8-216A-0DB3-152C-7542CC1B44B0}"/>
              </a:ext>
            </a:extLst>
          </p:cNvPr>
          <p:cNvSpPr>
            <a:spLocks noGrp="1"/>
          </p:cNvSpPr>
          <p:nvPr>
            <p:ph type="title"/>
          </p:nvPr>
        </p:nvSpPr>
        <p:spPr/>
        <p:txBody>
          <a:bodyPr/>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FE3663C7-9D9F-9008-AE67-2B456E6C195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24146BF7-70B0-3208-F395-46DEBCD7279D}"/>
              </a:ext>
            </a:extLst>
          </p:cNvPr>
          <p:cNvSpPr>
            <a:spLocks noGrp="1"/>
          </p:cNvSpPr>
          <p:nvPr>
            <p:ph type="dt" sz="half" idx="10"/>
          </p:nvPr>
        </p:nvSpPr>
        <p:spPr/>
        <p:txBody>
          <a:bodyPr/>
          <a:lstStyle/>
          <a:p>
            <a:fld id="{9343779B-B7A3-CD43-BA41-B8D3C9171C46}" type="datetime1">
              <a:rPr lang="de-DE" smtClean="0"/>
              <a:t>08.07.24</a:t>
            </a:fld>
            <a:endParaRPr lang="en-DE"/>
          </a:p>
        </p:txBody>
      </p:sp>
      <p:sp>
        <p:nvSpPr>
          <p:cNvPr id="5" name="Footer Placeholder 4">
            <a:extLst>
              <a:ext uri="{FF2B5EF4-FFF2-40B4-BE49-F238E27FC236}">
                <a16:creationId xmlns:a16="http://schemas.microsoft.com/office/drawing/2014/main" id="{BE317DCD-467A-857D-66CE-5A72DF156FE6}"/>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DD20E276-D72D-26FA-497D-083692DD990A}"/>
              </a:ext>
            </a:extLst>
          </p:cNvPr>
          <p:cNvSpPr>
            <a:spLocks noGrp="1"/>
          </p:cNvSpPr>
          <p:nvPr>
            <p:ph type="sldNum" sz="quarter" idx="12"/>
          </p:nvPr>
        </p:nvSpPr>
        <p:spPr/>
        <p:txBody>
          <a:bodyPr/>
          <a:lstStyle/>
          <a:p>
            <a:fld id="{87CDB63A-4C37-3247-921B-ED7A64B24297}" type="slidenum">
              <a:rPr lang="en-DE" smtClean="0"/>
              <a:t>‹#›</a:t>
            </a:fld>
            <a:endParaRPr lang="en-DE"/>
          </a:p>
        </p:txBody>
      </p:sp>
    </p:spTree>
    <p:extLst>
      <p:ext uri="{BB962C8B-B14F-4D97-AF65-F5344CB8AC3E}">
        <p14:creationId xmlns:p14="http://schemas.microsoft.com/office/powerpoint/2010/main" val="2361848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E009F4-4DDA-B7FD-5DD7-AD99754B238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923C6132-56CE-C3E8-4520-AEF910A3047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D4A0FF40-6915-8E82-20CB-FBE9D5854CEB}"/>
              </a:ext>
            </a:extLst>
          </p:cNvPr>
          <p:cNvSpPr>
            <a:spLocks noGrp="1"/>
          </p:cNvSpPr>
          <p:nvPr>
            <p:ph type="dt" sz="half" idx="10"/>
          </p:nvPr>
        </p:nvSpPr>
        <p:spPr/>
        <p:txBody>
          <a:bodyPr/>
          <a:lstStyle/>
          <a:p>
            <a:fld id="{E7EBCE54-6A63-BF40-AE8F-FFAC43FFCE5B}" type="datetime1">
              <a:rPr lang="de-DE" smtClean="0"/>
              <a:t>08.07.24</a:t>
            </a:fld>
            <a:endParaRPr lang="en-DE"/>
          </a:p>
        </p:txBody>
      </p:sp>
      <p:sp>
        <p:nvSpPr>
          <p:cNvPr id="5" name="Footer Placeholder 4">
            <a:extLst>
              <a:ext uri="{FF2B5EF4-FFF2-40B4-BE49-F238E27FC236}">
                <a16:creationId xmlns:a16="http://schemas.microsoft.com/office/drawing/2014/main" id="{C8F0FF8B-5704-1880-31E7-3E64C88FD401}"/>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A037DEA4-D44C-5477-4B3B-C9BA72FE7C6B}"/>
              </a:ext>
            </a:extLst>
          </p:cNvPr>
          <p:cNvSpPr>
            <a:spLocks noGrp="1"/>
          </p:cNvSpPr>
          <p:nvPr>
            <p:ph type="sldNum" sz="quarter" idx="12"/>
          </p:nvPr>
        </p:nvSpPr>
        <p:spPr/>
        <p:txBody>
          <a:bodyPr/>
          <a:lstStyle/>
          <a:p>
            <a:fld id="{87CDB63A-4C37-3247-921B-ED7A64B24297}" type="slidenum">
              <a:rPr lang="en-DE" smtClean="0"/>
              <a:t>‹#›</a:t>
            </a:fld>
            <a:endParaRPr lang="en-DE"/>
          </a:p>
        </p:txBody>
      </p:sp>
    </p:spTree>
    <p:extLst>
      <p:ext uri="{BB962C8B-B14F-4D97-AF65-F5344CB8AC3E}">
        <p14:creationId xmlns:p14="http://schemas.microsoft.com/office/powerpoint/2010/main" val="56652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D91143-99EA-8A32-B645-12934657F2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DE"/>
          </a:p>
        </p:txBody>
      </p:sp>
      <p:sp>
        <p:nvSpPr>
          <p:cNvPr id="3" name="Text Placeholder 2">
            <a:extLst>
              <a:ext uri="{FF2B5EF4-FFF2-40B4-BE49-F238E27FC236}">
                <a16:creationId xmlns:a16="http://schemas.microsoft.com/office/drawing/2014/main" id="{8FB384C6-19A3-1379-F5DE-0AEEE0944D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A1A98621-CD4D-51B6-6457-625627A3EB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13FBE44-BCF8-8944-BA9C-772B6743C418}" type="datetime1">
              <a:rPr lang="de-DE" smtClean="0"/>
              <a:t>08.07.24</a:t>
            </a:fld>
            <a:endParaRPr lang="en-DE"/>
          </a:p>
        </p:txBody>
      </p:sp>
      <p:sp>
        <p:nvSpPr>
          <p:cNvPr id="5" name="Footer Placeholder 4">
            <a:extLst>
              <a:ext uri="{FF2B5EF4-FFF2-40B4-BE49-F238E27FC236}">
                <a16:creationId xmlns:a16="http://schemas.microsoft.com/office/drawing/2014/main" id="{67CB10B7-4B97-333E-10CA-11311E1068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E"/>
          </a:p>
        </p:txBody>
      </p:sp>
      <p:sp>
        <p:nvSpPr>
          <p:cNvPr id="6" name="Slide Number Placeholder 5">
            <a:extLst>
              <a:ext uri="{FF2B5EF4-FFF2-40B4-BE49-F238E27FC236}">
                <a16:creationId xmlns:a16="http://schemas.microsoft.com/office/drawing/2014/main" id="{34E7AC48-EAD1-3CFB-57D0-5A33003071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CDB63A-4C37-3247-921B-ED7A64B24297}" type="slidenum">
              <a:rPr lang="en-DE" smtClean="0"/>
              <a:t>‹#›</a:t>
            </a:fld>
            <a:endParaRPr lang="en-DE"/>
          </a:p>
        </p:txBody>
      </p:sp>
    </p:spTree>
    <p:extLst>
      <p:ext uri="{BB962C8B-B14F-4D97-AF65-F5344CB8AC3E}">
        <p14:creationId xmlns:p14="http://schemas.microsoft.com/office/powerpoint/2010/main" val="1393173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1.jpeg"/><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4.sv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EAD1251-1CA6-2D6F-16C0-0FF39E64CE4A}"/>
              </a:ext>
            </a:extLst>
          </p:cNvPr>
          <p:cNvSpPr>
            <a:spLocks noGrp="1"/>
          </p:cNvSpPr>
          <p:nvPr>
            <p:ph type="ctrTitle"/>
          </p:nvPr>
        </p:nvSpPr>
        <p:spPr>
          <a:xfrm>
            <a:off x="1524000" y="2081919"/>
            <a:ext cx="9144000" cy="2387600"/>
          </a:xfrm>
        </p:spPr>
        <p:txBody>
          <a:bodyPr>
            <a:normAutofit fontScale="90000"/>
          </a:bodyPr>
          <a:lstStyle/>
          <a:p>
            <a:r>
              <a:rPr lang="en-US">
                <a:latin typeface="Eras Bold ITC"/>
              </a:rPr>
              <a:t>Studying unique methylation patterns in BRCA pathogenesis</a:t>
            </a:r>
          </a:p>
        </p:txBody>
      </p:sp>
      <p:sp>
        <p:nvSpPr>
          <p:cNvPr id="6" name="Textfeld 5">
            <a:extLst>
              <a:ext uri="{FF2B5EF4-FFF2-40B4-BE49-F238E27FC236}">
                <a16:creationId xmlns:a16="http://schemas.microsoft.com/office/drawing/2014/main" id="{9DB9BDF4-1728-3A32-2327-E1490C160CD0}"/>
              </a:ext>
            </a:extLst>
          </p:cNvPr>
          <p:cNvSpPr txBox="1"/>
          <p:nvPr/>
        </p:nvSpPr>
        <p:spPr>
          <a:xfrm>
            <a:off x="1595304" y="5003938"/>
            <a:ext cx="9144000" cy="338554"/>
          </a:xfrm>
          <a:prstGeom prst="rect">
            <a:avLst/>
          </a:prstGeom>
          <a:noFill/>
        </p:spPr>
        <p:txBody>
          <a:bodyPr wrap="square" rtlCol="0">
            <a:spAutoFit/>
          </a:bodyPr>
          <a:lstStyle/>
          <a:p>
            <a:pPr algn="ctr"/>
            <a:r>
              <a:rPr lang="de-DE" sz="1600">
                <a:latin typeface="Eras Medium ITC" panose="020B0602030504020804" pitchFamily="34" charset="0"/>
              </a:rPr>
              <a:t>By Antonia </a:t>
            </a:r>
            <a:r>
              <a:rPr lang="de-DE" sz="1600" err="1">
                <a:latin typeface="Eras Medium ITC" panose="020B0602030504020804" pitchFamily="34" charset="0"/>
              </a:rPr>
              <a:t>Eisenhofer</a:t>
            </a:r>
            <a:r>
              <a:rPr lang="de-DE" sz="1600">
                <a:latin typeface="Eras Medium ITC" panose="020B0602030504020804" pitchFamily="34" charset="0"/>
              </a:rPr>
              <a:t>, Irena </a:t>
            </a:r>
            <a:r>
              <a:rPr lang="de-DE" sz="1600" err="1">
                <a:latin typeface="Eras Medium ITC" panose="020B0602030504020804" pitchFamily="34" charset="0"/>
              </a:rPr>
              <a:t>Dikic</a:t>
            </a:r>
            <a:r>
              <a:rPr lang="de-DE" sz="1600">
                <a:latin typeface="Eras Medium ITC" panose="020B0602030504020804" pitchFamily="34" charset="0"/>
              </a:rPr>
              <a:t>, Kathrin Kreischer, Marie Sanders </a:t>
            </a:r>
          </a:p>
        </p:txBody>
      </p:sp>
      <p:sp>
        <p:nvSpPr>
          <p:cNvPr id="7" name="Abgerundetes Rechteck 73">
            <a:extLst>
              <a:ext uri="{FF2B5EF4-FFF2-40B4-BE49-F238E27FC236}">
                <a16:creationId xmlns:a16="http://schemas.microsoft.com/office/drawing/2014/main" id="{13174B51-2855-7824-97F3-641DDBDD8D95}"/>
              </a:ext>
            </a:extLst>
          </p:cNvPr>
          <p:cNvSpPr/>
          <p:nvPr/>
        </p:nvSpPr>
        <p:spPr>
          <a:xfrm>
            <a:off x="332362" y="-1749701"/>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8" name="Abgerundetes Rechteck 73">
            <a:extLst>
              <a:ext uri="{FF2B5EF4-FFF2-40B4-BE49-F238E27FC236}">
                <a16:creationId xmlns:a16="http://schemas.microsoft.com/office/drawing/2014/main" id="{735B1849-2299-666D-20A4-A893F1E6900F}"/>
              </a:ext>
            </a:extLst>
          </p:cNvPr>
          <p:cNvSpPr/>
          <p:nvPr/>
        </p:nvSpPr>
        <p:spPr>
          <a:xfrm>
            <a:off x="6476999" y="5606361"/>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 name="Foliennummernplatzhalter 4">
            <a:extLst>
              <a:ext uri="{FF2B5EF4-FFF2-40B4-BE49-F238E27FC236}">
                <a16:creationId xmlns:a16="http://schemas.microsoft.com/office/drawing/2014/main" id="{229B5039-75C9-4030-DCAF-DF2B2C3BCE70}"/>
              </a:ext>
            </a:extLst>
          </p:cNvPr>
          <p:cNvSpPr>
            <a:spLocks noGrp="1"/>
          </p:cNvSpPr>
          <p:nvPr>
            <p:ph type="sldNum" sz="quarter" idx="12"/>
          </p:nvPr>
        </p:nvSpPr>
        <p:spPr/>
        <p:txBody>
          <a:bodyPr/>
          <a:lstStyle/>
          <a:p>
            <a:fld id="{87CDB63A-4C37-3247-921B-ED7A64B24297}" type="slidenum">
              <a:rPr lang="en-DE" smtClean="0"/>
              <a:t>1</a:t>
            </a:fld>
            <a:endParaRPr lang="en-DE"/>
          </a:p>
        </p:txBody>
      </p:sp>
    </p:spTree>
    <p:extLst>
      <p:ext uri="{BB962C8B-B14F-4D97-AF65-F5344CB8AC3E}">
        <p14:creationId xmlns:p14="http://schemas.microsoft.com/office/powerpoint/2010/main" val="4285498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bgerundetes Rechteck 73">
            <a:extLst>
              <a:ext uri="{FF2B5EF4-FFF2-40B4-BE49-F238E27FC236}">
                <a16:creationId xmlns:a16="http://schemas.microsoft.com/office/drawing/2014/main" id="{A9C9AF54-FCCE-D7B3-E896-8DEB7BEB4962}"/>
              </a:ext>
            </a:extLst>
          </p:cNvPr>
          <p:cNvSpPr/>
          <p:nvPr/>
        </p:nvSpPr>
        <p:spPr>
          <a:xfrm>
            <a:off x="332362" y="-1749701"/>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pic>
        <p:nvPicPr>
          <p:cNvPr id="7" name="Grafik 6" descr="Ein Bild, das Kreis, Dunkelheit, Grafiken, Screenshot enthält.&#10;&#10;Automatisch generierte Beschreibung">
            <a:extLst>
              <a:ext uri="{FF2B5EF4-FFF2-40B4-BE49-F238E27FC236}">
                <a16:creationId xmlns:a16="http://schemas.microsoft.com/office/drawing/2014/main" id="{ACE53165-3453-339A-39E5-E09DD90D2C2F}"/>
              </a:ext>
            </a:extLst>
          </p:cNvPr>
          <p:cNvPicPr>
            <a:picLocks noChangeAspect="1"/>
          </p:cNvPicPr>
          <p:nvPr/>
        </p:nvPicPr>
        <p:blipFill>
          <a:blip r:embed="rId3"/>
          <a:stretch>
            <a:fillRect/>
          </a:stretch>
        </p:blipFill>
        <p:spPr>
          <a:xfrm>
            <a:off x="7122752" y="227490"/>
            <a:ext cx="3910989" cy="2239653"/>
          </a:xfrm>
          <a:prstGeom prst="rect">
            <a:avLst/>
          </a:prstGeom>
        </p:spPr>
      </p:pic>
      <p:sp>
        <p:nvSpPr>
          <p:cNvPr id="11" name="Textfeld 10">
            <a:extLst>
              <a:ext uri="{FF2B5EF4-FFF2-40B4-BE49-F238E27FC236}">
                <a16:creationId xmlns:a16="http://schemas.microsoft.com/office/drawing/2014/main" id="{1C4A39FF-10FD-1EE2-4436-D4EF1B1A237F}"/>
              </a:ext>
            </a:extLst>
          </p:cNvPr>
          <p:cNvSpPr txBox="1"/>
          <p:nvPr/>
        </p:nvSpPr>
        <p:spPr>
          <a:xfrm>
            <a:off x="6552283" y="6596390"/>
            <a:ext cx="6097836" cy="246221"/>
          </a:xfrm>
          <a:prstGeom prst="rect">
            <a:avLst/>
          </a:prstGeom>
          <a:noFill/>
        </p:spPr>
        <p:txBody>
          <a:bodyPr wrap="square">
            <a:spAutoFit/>
          </a:bodyPr>
          <a:lstStyle/>
          <a:p>
            <a:r>
              <a:rPr lang="de-DE" sz="1000">
                <a:solidFill>
                  <a:schemeClr val="bg2">
                    <a:lumMod val="25000"/>
                  </a:schemeClr>
                </a:solidFill>
                <a:latin typeface="Eras Medium ITC" panose="020B0602030504020804" pitchFamily="34" charset="0"/>
              </a:rPr>
              <a:t>life-epigenetics-methylprep.readthedocs</a:t>
            </a:r>
          </a:p>
        </p:txBody>
      </p:sp>
      <p:sp>
        <p:nvSpPr>
          <p:cNvPr id="12" name="Textfeld 11">
            <a:extLst>
              <a:ext uri="{FF2B5EF4-FFF2-40B4-BE49-F238E27FC236}">
                <a16:creationId xmlns:a16="http://schemas.microsoft.com/office/drawing/2014/main" id="{B325D552-A43C-9D66-1238-7226363894A7}"/>
              </a:ext>
            </a:extLst>
          </p:cNvPr>
          <p:cNvSpPr txBox="1"/>
          <p:nvPr/>
        </p:nvSpPr>
        <p:spPr>
          <a:xfrm>
            <a:off x="6572480" y="6387070"/>
            <a:ext cx="6097836" cy="246221"/>
          </a:xfrm>
          <a:prstGeom prst="rect">
            <a:avLst/>
          </a:prstGeom>
          <a:noFill/>
        </p:spPr>
        <p:txBody>
          <a:bodyPr wrap="square">
            <a:spAutoFit/>
          </a:bodyPr>
          <a:lstStyle/>
          <a:p>
            <a:r>
              <a:rPr lang="de-DE" sz="1000">
                <a:solidFill>
                  <a:schemeClr val="bg2">
                    <a:lumMod val="25000"/>
                  </a:schemeClr>
                </a:solidFill>
                <a:latin typeface="Eras Medium ITC" panose="020B0602030504020804" pitchFamily="34" charset="0"/>
              </a:rPr>
              <a:t>Lisa D Moore et all, </a:t>
            </a:r>
            <a:r>
              <a:rPr lang="en-US" sz="1000">
                <a:solidFill>
                  <a:schemeClr val="bg2">
                    <a:lumMod val="25000"/>
                  </a:schemeClr>
                </a:solidFill>
                <a:latin typeface="Eras Medium ITC" panose="020B0602030504020804" pitchFamily="34" charset="0"/>
              </a:rPr>
              <a:t>DNA Methylation and Its Basic Function 2013</a:t>
            </a:r>
            <a:endParaRPr lang="de-DE" sz="1000">
              <a:solidFill>
                <a:schemeClr val="bg2">
                  <a:lumMod val="25000"/>
                </a:schemeClr>
              </a:solidFill>
              <a:latin typeface="Eras Medium ITC" panose="020B0602030504020804" pitchFamily="34" charset="0"/>
            </a:endParaRPr>
          </a:p>
        </p:txBody>
      </p:sp>
      <p:sp>
        <p:nvSpPr>
          <p:cNvPr id="15" name="Textfeld 14">
            <a:extLst>
              <a:ext uri="{FF2B5EF4-FFF2-40B4-BE49-F238E27FC236}">
                <a16:creationId xmlns:a16="http://schemas.microsoft.com/office/drawing/2014/main" id="{A8346E34-0869-E856-54D4-98BF7652E063}"/>
              </a:ext>
            </a:extLst>
          </p:cNvPr>
          <p:cNvSpPr txBox="1"/>
          <p:nvPr/>
        </p:nvSpPr>
        <p:spPr>
          <a:xfrm>
            <a:off x="506776" y="1894901"/>
            <a:ext cx="5056742" cy="3785652"/>
          </a:xfrm>
          <a:prstGeom prst="rect">
            <a:avLst/>
          </a:prstGeom>
          <a:noFill/>
        </p:spPr>
        <p:txBody>
          <a:bodyPr wrap="square" rtlCol="0">
            <a:spAutoFit/>
          </a:bodyPr>
          <a:lstStyle/>
          <a:p>
            <a:pPr marL="285750" indent="-285750">
              <a:buFont typeface="Arial" panose="020B0604020202020204" pitchFamily="34" charset="0"/>
              <a:buChar char="•"/>
            </a:pPr>
            <a:r>
              <a:rPr lang="en-US" sz="2400">
                <a:effectLst/>
                <a:latin typeface="Eras Medium ITC" panose="020B0602030504020804" pitchFamily="34" charset="0"/>
                <a:ea typeface="Calibri" panose="020F0502020204030204" pitchFamily="34" charset="0"/>
                <a:cs typeface="Times New Roman" panose="02020603050405020304" pitchFamily="18" charset="0"/>
              </a:rPr>
              <a:t>epigenetic mechanism</a:t>
            </a:r>
          </a:p>
          <a:p>
            <a:endParaRPr lang="en-US" sz="2400">
              <a:effectLst/>
              <a:latin typeface="Eras Medium ITC" panose="020B06020305040208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2400">
                <a:effectLst/>
                <a:latin typeface="Eras Medium ITC" panose="020B0602030504020804" pitchFamily="34" charset="0"/>
                <a:ea typeface="Calibri" panose="020F0502020204030204" pitchFamily="34" charset="0"/>
                <a:cs typeface="Times New Roman" panose="02020603050405020304" pitchFamily="18" charset="0"/>
              </a:rPr>
              <a:t>addition of a methyl group to carbon 5 of the cytosine</a:t>
            </a:r>
          </a:p>
          <a:p>
            <a:endParaRPr lang="en-US" sz="2400">
              <a:effectLst/>
              <a:latin typeface="Eras Medium ITC" panose="020B06020305040208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2400">
                <a:effectLst/>
                <a:latin typeface="Eras Medium ITC" panose="020B0602030504020804" pitchFamily="34" charset="0"/>
                <a:ea typeface="Calibri" panose="020F0502020204030204" pitchFamily="34" charset="0"/>
                <a:cs typeface="Times New Roman" panose="02020603050405020304" pitchFamily="18" charset="0"/>
              </a:rPr>
              <a:t>catalyzed by                              DNA methyltransferase </a:t>
            </a:r>
          </a:p>
          <a:p>
            <a:pPr marL="285750" indent="-285750">
              <a:buFont typeface="Arial" panose="020B0604020202020204" pitchFamily="34" charset="0"/>
              <a:buChar char="•"/>
            </a:pPr>
            <a:endParaRPr lang="en-US" sz="2400">
              <a:latin typeface="Eras Medium ITC" panose="020B06020305040208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2400">
                <a:effectLst/>
                <a:latin typeface="Eras Medium ITC" panose="020B0602030504020804" pitchFamily="34" charset="0"/>
                <a:ea typeface="Calibri" panose="020F0502020204030204" pitchFamily="34" charset="0"/>
                <a:cs typeface="Times New Roman" panose="02020603050405020304" pitchFamily="18" charset="0"/>
              </a:rPr>
              <a:t>CpG Islands: higher CpG density </a:t>
            </a:r>
          </a:p>
          <a:p>
            <a:pPr marL="285750" indent="-285750">
              <a:buFont typeface="Arial" panose="020B0604020202020204" pitchFamily="34" charset="0"/>
              <a:buChar char="•"/>
            </a:pPr>
            <a:endParaRPr lang="de-DE" sz="2400">
              <a:latin typeface="Eras Medium ITC" panose="020B0602030504020804" pitchFamily="34" charset="0"/>
            </a:endParaRPr>
          </a:p>
        </p:txBody>
      </p:sp>
      <p:sp>
        <p:nvSpPr>
          <p:cNvPr id="3" name="Title 1">
            <a:extLst>
              <a:ext uri="{FF2B5EF4-FFF2-40B4-BE49-F238E27FC236}">
                <a16:creationId xmlns:a16="http://schemas.microsoft.com/office/drawing/2014/main" id="{AA826D9A-D929-2E24-866D-0F2D9CF981B4}"/>
              </a:ext>
            </a:extLst>
          </p:cNvPr>
          <p:cNvSpPr txBox="1">
            <a:spLocks/>
          </p:cNvSpPr>
          <p:nvPr/>
        </p:nvSpPr>
        <p:spPr>
          <a:xfrm>
            <a:off x="332362" y="0"/>
            <a:ext cx="5400000" cy="1260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4400">
                <a:latin typeface="Eras Bold ITC" panose="020B0907030504020204" pitchFamily="34" charset="0"/>
              </a:rPr>
              <a:t>DNA </a:t>
            </a:r>
            <a:r>
              <a:rPr lang="de-DE" err="1">
                <a:latin typeface="Eras Bold ITC" panose="020B0907030504020204" pitchFamily="34" charset="0"/>
              </a:rPr>
              <a:t>M</a:t>
            </a:r>
            <a:r>
              <a:rPr lang="de-DE" sz="4400" err="1">
                <a:latin typeface="Eras Bold ITC" panose="020B0907030504020204" pitchFamily="34" charset="0"/>
              </a:rPr>
              <a:t>ethylation</a:t>
            </a:r>
            <a:endParaRPr lang="en-DE" sz="4400">
              <a:latin typeface="Eras Bold ITC" panose="020B0907030504020204" pitchFamily="34" charset="0"/>
            </a:endParaRPr>
          </a:p>
        </p:txBody>
      </p:sp>
      <p:sp>
        <p:nvSpPr>
          <p:cNvPr id="9" name="Foliennummernplatzhalter 8">
            <a:extLst>
              <a:ext uri="{FF2B5EF4-FFF2-40B4-BE49-F238E27FC236}">
                <a16:creationId xmlns:a16="http://schemas.microsoft.com/office/drawing/2014/main" id="{E178FAD6-BAAA-3C96-6541-E979404D4756}"/>
              </a:ext>
            </a:extLst>
          </p:cNvPr>
          <p:cNvSpPr>
            <a:spLocks noGrp="1"/>
          </p:cNvSpPr>
          <p:nvPr>
            <p:ph type="sldNum" sz="quarter" idx="12"/>
          </p:nvPr>
        </p:nvSpPr>
        <p:spPr/>
        <p:txBody>
          <a:bodyPr/>
          <a:lstStyle/>
          <a:p>
            <a:fld id="{87CDB63A-4C37-3247-921B-ED7A64B24297}" type="slidenum">
              <a:rPr lang="en-DE" smtClean="0"/>
              <a:t>2</a:t>
            </a:fld>
            <a:endParaRPr lang="en-DE"/>
          </a:p>
        </p:txBody>
      </p:sp>
      <p:pic>
        <p:nvPicPr>
          <p:cNvPr id="6" name="Grafik 5">
            <a:extLst>
              <a:ext uri="{FF2B5EF4-FFF2-40B4-BE49-F238E27FC236}">
                <a16:creationId xmlns:a16="http://schemas.microsoft.com/office/drawing/2014/main" id="{ADF3A664-667D-0122-6442-D2B776608519}"/>
              </a:ext>
            </a:extLst>
          </p:cNvPr>
          <p:cNvPicPr>
            <a:picLocks noChangeAspect="1"/>
          </p:cNvPicPr>
          <p:nvPr/>
        </p:nvPicPr>
        <p:blipFill>
          <a:blip r:embed="rId4"/>
          <a:stretch>
            <a:fillRect/>
          </a:stretch>
        </p:blipFill>
        <p:spPr>
          <a:xfrm>
            <a:off x="9596213" y="2509633"/>
            <a:ext cx="2311519" cy="3626036"/>
          </a:xfrm>
          <a:prstGeom prst="rect">
            <a:avLst/>
          </a:prstGeom>
        </p:spPr>
      </p:pic>
      <p:pic>
        <p:nvPicPr>
          <p:cNvPr id="10" name="Grafik 9">
            <a:extLst>
              <a:ext uri="{FF2B5EF4-FFF2-40B4-BE49-F238E27FC236}">
                <a16:creationId xmlns:a16="http://schemas.microsoft.com/office/drawing/2014/main" id="{8A67EE15-B38C-E9A4-5322-BC9B7AD7640E}"/>
              </a:ext>
            </a:extLst>
          </p:cNvPr>
          <p:cNvPicPr>
            <a:picLocks noChangeAspect="1"/>
          </p:cNvPicPr>
          <p:nvPr/>
        </p:nvPicPr>
        <p:blipFill>
          <a:blip r:embed="rId5"/>
          <a:stretch>
            <a:fillRect/>
          </a:stretch>
        </p:blipFill>
        <p:spPr>
          <a:xfrm>
            <a:off x="5776368" y="2405635"/>
            <a:ext cx="2578233" cy="3721291"/>
          </a:xfrm>
          <a:prstGeom prst="rect">
            <a:avLst/>
          </a:prstGeom>
        </p:spPr>
      </p:pic>
      <p:cxnSp>
        <p:nvCxnSpPr>
          <p:cNvPr id="14" name="Gerade Verbindung mit Pfeil 13">
            <a:extLst>
              <a:ext uri="{FF2B5EF4-FFF2-40B4-BE49-F238E27FC236}">
                <a16:creationId xmlns:a16="http://schemas.microsoft.com/office/drawing/2014/main" id="{93A451A9-27EA-4455-B33A-E4A118A0BEB9}"/>
              </a:ext>
            </a:extLst>
          </p:cNvPr>
          <p:cNvCxnSpPr>
            <a:cxnSpLocks/>
          </p:cNvCxnSpPr>
          <p:nvPr/>
        </p:nvCxnSpPr>
        <p:spPr>
          <a:xfrm>
            <a:off x="7667740" y="4461831"/>
            <a:ext cx="17406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 name="Textfeld 18">
            <a:extLst>
              <a:ext uri="{FF2B5EF4-FFF2-40B4-BE49-F238E27FC236}">
                <a16:creationId xmlns:a16="http://schemas.microsoft.com/office/drawing/2014/main" id="{20FFC512-1ADF-4F06-7464-050B9FFBF19D}"/>
              </a:ext>
            </a:extLst>
          </p:cNvPr>
          <p:cNvSpPr txBox="1"/>
          <p:nvPr/>
        </p:nvSpPr>
        <p:spPr>
          <a:xfrm>
            <a:off x="7640197" y="4142342"/>
            <a:ext cx="1834309" cy="276999"/>
          </a:xfrm>
          <a:prstGeom prst="rect">
            <a:avLst/>
          </a:prstGeom>
          <a:noFill/>
        </p:spPr>
        <p:txBody>
          <a:bodyPr wrap="square">
            <a:spAutoFit/>
          </a:bodyPr>
          <a:lstStyle/>
          <a:p>
            <a:r>
              <a:rPr lang="en-US" sz="1200" b="1">
                <a:effectLst/>
                <a:latin typeface="Eras Medium ITC" panose="020B0602030504020804" pitchFamily="34" charset="0"/>
                <a:ea typeface="Calibri" panose="020F0502020204030204" pitchFamily="34" charset="0"/>
                <a:cs typeface="Times New Roman" panose="02020603050405020304" pitchFamily="18" charset="0"/>
              </a:rPr>
              <a:t>DNA methyltransferase </a:t>
            </a:r>
            <a:endParaRPr lang="de-DE" sz="1200" b="1"/>
          </a:p>
        </p:txBody>
      </p:sp>
    </p:spTree>
    <p:extLst>
      <p:ext uri="{BB962C8B-B14F-4D97-AF65-F5344CB8AC3E}">
        <p14:creationId xmlns:p14="http://schemas.microsoft.com/office/powerpoint/2010/main" val="514721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feld 11">
            <a:extLst>
              <a:ext uri="{FF2B5EF4-FFF2-40B4-BE49-F238E27FC236}">
                <a16:creationId xmlns:a16="http://schemas.microsoft.com/office/drawing/2014/main" id="{B325D552-A43C-9D66-1238-7226363894A7}"/>
              </a:ext>
            </a:extLst>
          </p:cNvPr>
          <p:cNvSpPr txBox="1"/>
          <p:nvPr/>
        </p:nvSpPr>
        <p:spPr>
          <a:xfrm>
            <a:off x="6538299" y="6223426"/>
            <a:ext cx="4163529" cy="261610"/>
          </a:xfrm>
          <a:prstGeom prst="rect">
            <a:avLst/>
          </a:prstGeom>
          <a:noFill/>
        </p:spPr>
        <p:txBody>
          <a:bodyPr wrap="square">
            <a:spAutoFit/>
          </a:bodyPr>
          <a:lstStyle/>
          <a:p>
            <a:r>
              <a:rPr lang="de-DE" sz="1100">
                <a:solidFill>
                  <a:schemeClr val="bg2">
                    <a:lumMod val="50000"/>
                  </a:schemeClr>
                </a:solidFill>
                <a:latin typeface="Eras Medium ITC" panose="020B0602030504020804" pitchFamily="34" charset="0"/>
              </a:rPr>
              <a:t>Alberts B., </a:t>
            </a:r>
            <a:r>
              <a:rPr lang="de-DE" sz="1100" err="1">
                <a:solidFill>
                  <a:schemeClr val="bg2">
                    <a:lumMod val="50000"/>
                  </a:schemeClr>
                </a:solidFill>
                <a:latin typeface="Eras Medium ITC" panose="020B0602030504020804" pitchFamily="34" charset="0"/>
              </a:rPr>
              <a:t>Molecular</a:t>
            </a:r>
            <a:r>
              <a:rPr lang="de-DE" sz="1100">
                <a:solidFill>
                  <a:schemeClr val="bg2">
                    <a:lumMod val="50000"/>
                  </a:schemeClr>
                </a:solidFill>
                <a:latin typeface="Eras Medium ITC" panose="020B0602030504020804" pitchFamily="34" charset="0"/>
              </a:rPr>
              <a:t> </a:t>
            </a:r>
            <a:r>
              <a:rPr lang="de-DE" sz="1100" err="1">
                <a:solidFill>
                  <a:schemeClr val="bg2">
                    <a:lumMod val="50000"/>
                  </a:schemeClr>
                </a:solidFill>
                <a:latin typeface="Eras Medium ITC" panose="020B0602030504020804" pitchFamily="34" charset="0"/>
              </a:rPr>
              <a:t>biology</a:t>
            </a:r>
            <a:r>
              <a:rPr lang="de-DE" sz="1100">
                <a:solidFill>
                  <a:schemeClr val="bg2">
                    <a:lumMod val="50000"/>
                  </a:schemeClr>
                </a:solidFill>
                <a:latin typeface="Eras Medium ITC" panose="020B0602030504020804" pitchFamily="34" charset="0"/>
              </a:rPr>
              <a:t> </a:t>
            </a:r>
            <a:r>
              <a:rPr lang="de-DE" sz="1100" err="1">
                <a:solidFill>
                  <a:schemeClr val="bg2">
                    <a:lumMod val="50000"/>
                  </a:schemeClr>
                </a:solidFill>
                <a:latin typeface="Eras Medium ITC" panose="020B0602030504020804" pitchFamily="34" charset="0"/>
              </a:rPr>
              <a:t>of</a:t>
            </a:r>
            <a:r>
              <a:rPr lang="de-DE" sz="1100">
                <a:solidFill>
                  <a:schemeClr val="bg2">
                    <a:lumMod val="50000"/>
                  </a:schemeClr>
                </a:solidFill>
                <a:latin typeface="Eras Medium ITC" panose="020B0602030504020804" pitchFamily="34" charset="0"/>
              </a:rPr>
              <a:t> </a:t>
            </a:r>
            <a:r>
              <a:rPr lang="de-DE" sz="1100" err="1">
                <a:solidFill>
                  <a:schemeClr val="bg2">
                    <a:lumMod val="50000"/>
                  </a:schemeClr>
                </a:solidFill>
                <a:latin typeface="Eras Medium ITC" panose="020B0602030504020804" pitchFamily="34" charset="0"/>
              </a:rPr>
              <a:t>the</a:t>
            </a:r>
            <a:r>
              <a:rPr lang="de-DE" sz="1100">
                <a:solidFill>
                  <a:schemeClr val="bg2">
                    <a:lumMod val="50000"/>
                  </a:schemeClr>
                </a:solidFill>
                <a:latin typeface="Eras Medium ITC" panose="020B0602030504020804" pitchFamily="34" charset="0"/>
              </a:rPr>
              <a:t> </a:t>
            </a:r>
            <a:r>
              <a:rPr lang="de-DE" sz="1100" err="1">
                <a:solidFill>
                  <a:schemeClr val="bg2">
                    <a:lumMod val="50000"/>
                  </a:schemeClr>
                </a:solidFill>
                <a:latin typeface="Eras Medium ITC" panose="020B0602030504020804" pitchFamily="34" charset="0"/>
              </a:rPr>
              <a:t>cell</a:t>
            </a:r>
            <a:r>
              <a:rPr lang="de-DE" sz="1100">
                <a:solidFill>
                  <a:schemeClr val="bg2">
                    <a:lumMod val="50000"/>
                  </a:schemeClr>
                </a:solidFill>
                <a:latin typeface="Eras Medium ITC" panose="020B0602030504020804" pitchFamily="34" charset="0"/>
              </a:rPr>
              <a:t>, 6th </a:t>
            </a:r>
            <a:r>
              <a:rPr lang="de-DE" sz="1100" err="1">
                <a:solidFill>
                  <a:schemeClr val="bg2">
                    <a:lumMod val="50000"/>
                  </a:schemeClr>
                </a:solidFill>
                <a:latin typeface="Eras Medium ITC" panose="020B0602030504020804" pitchFamily="34" charset="0"/>
              </a:rPr>
              <a:t>edition</a:t>
            </a:r>
            <a:r>
              <a:rPr lang="de-DE" sz="1100">
                <a:solidFill>
                  <a:schemeClr val="bg2">
                    <a:lumMod val="50000"/>
                  </a:schemeClr>
                </a:solidFill>
                <a:latin typeface="Eras Medium ITC" panose="020B0602030504020804" pitchFamily="34" charset="0"/>
              </a:rPr>
              <a:t> 2015 </a:t>
            </a:r>
          </a:p>
        </p:txBody>
      </p:sp>
      <p:sp>
        <p:nvSpPr>
          <p:cNvPr id="6" name="Textfeld 5">
            <a:extLst>
              <a:ext uri="{FF2B5EF4-FFF2-40B4-BE49-F238E27FC236}">
                <a16:creationId xmlns:a16="http://schemas.microsoft.com/office/drawing/2014/main" id="{1F56A1E0-664D-E907-625D-91AC615F7120}"/>
              </a:ext>
            </a:extLst>
          </p:cNvPr>
          <p:cNvSpPr txBox="1"/>
          <p:nvPr/>
        </p:nvSpPr>
        <p:spPr>
          <a:xfrm>
            <a:off x="506776" y="1894901"/>
            <a:ext cx="4972076" cy="526297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2400">
                <a:latin typeface="Eras Medium ITC"/>
              </a:rPr>
              <a:t>DNA methylation necessary for gene regulation</a:t>
            </a:r>
            <a:endParaRPr lang="en-US" sz="2400">
              <a:latin typeface="Eras Medium ITC" panose="020B0602030504020804" pitchFamily="34" charset="0"/>
            </a:endParaRPr>
          </a:p>
          <a:p>
            <a:pPr marL="285750" indent="-285750">
              <a:buFont typeface="Arial" panose="020B0604020202020204" pitchFamily="34" charset="0"/>
              <a:buChar char="•"/>
            </a:pPr>
            <a:endParaRPr lang="en-US" sz="2400">
              <a:latin typeface="Eras Medium ITC"/>
            </a:endParaRPr>
          </a:p>
          <a:p>
            <a:pPr marL="285750" indent="-285750">
              <a:buFont typeface="Arial" panose="020B0604020202020204" pitchFamily="34" charset="0"/>
              <a:buChar char="•"/>
            </a:pPr>
            <a:endParaRPr lang="en-US" sz="2400">
              <a:latin typeface="Eras Medium ITC"/>
            </a:endParaRPr>
          </a:p>
          <a:p>
            <a:pPr marL="285750" indent="-285750">
              <a:buFont typeface="Arial" panose="020B0604020202020204" pitchFamily="34" charset="0"/>
              <a:buChar char="•"/>
            </a:pPr>
            <a:r>
              <a:rPr lang="en-US" sz="2400">
                <a:latin typeface="Eras Medium ITC"/>
              </a:rPr>
              <a:t>Hypermethylation of promotor</a:t>
            </a:r>
            <a:endParaRPr lang="en-US" sz="2400" b="1">
              <a:latin typeface="Eras Medium ITC"/>
            </a:endParaRPr>
          </a:p>
          <a:p>
            <a:r>
              <a:rPr lang="en-US" sz="2400">
                <a:latin typeface="Eras Medium ITC"/>
                <a:sym typeface="Wingdings" panose="05000000000000000000" pitchFamily="2" charset="2"/>
              </a:rPr>
              <a:t>     </a:t>
            </a:r>
            <a:r>
              <a:rPr lang="en-US" sz="2400" b="1">
                <a:latin typeface="Eras Medium ITC"/>
                <a:sym typeface="Wingdings" panose="05000000000000000000" pitchFamily="2" charset="2"/>
              </a:rPr>
              <a:t>gene silencing</a:t>
            </a:r>
            <a:endParaRPr lang="en-US" sz="2400" b="1" err="1">
              <a:latin typeface="Eras Medium ITC"/>
            </a:endParaRPr>
          </a:p>
          <a:p>
            <a:pPr marL="342900" indent="-342900">
              <a:buFont typeface="Arial,Sans-Serif"/>
              <a:buChar char="•"/>
            </a:pPr>
            <a:r>
              <a:rPr lang="en-US" sz="2400">
                <a:latin typeface="Eras Medium ITC"/>
                <a:sym typeface="Wingdings" panose="05000000000000000000" pitchFamily="2" charset="2"/>
              </a:rPr>
              <a:t>Genome-wide Hypomethylation </a:t>
            </a:r>
            <a:endParaRPr lang="en-US"/>
          </a:p>
          <a:p>
            <a:r>
              <a:rPr lang="en-US" sz="2400">
                <a:latin typeface="Eras Medium ITC"/>
                <a:sym typeface="Wingdings" panose="05000000000000000000" pitchFamily="2" charset="2"/>
              </a:rPr>
              <a:t>     </a:t>
            </a:r>
            <a:r>
              <a:rPr lang="en-US" sz="2400" b="1">
                <a:latin typeface="Eras Medium ITC"/>
                <a:sym typeface="Wingdings" panose="05000000000000000000" pitchFamily="2" charset="2"/>
              </a:rPr>
              <a:t>chromosomal instability</a:t>
            </a:r>
            <a:endParaRPr lang="en-US" b="1"/>
          </a:p>
          <a:p>
            <a:pPr lvl="1"/>
            <a:endParaRPr lang="en-US" sz="2400" b="1">
              <a:latin typeface="Eras Medium ITC" panose="020B0602030504020804" pitchFamily="34" charset="0"/>
            </a:endParaRPr>
          </a:p>
          <a:p>
            <a:pPr lvl="1"/>
            <a:endParaRPr lang="en-US" sz="2400" b="1">
              <a:latin typeface="Eras Medium ITC"/>
            </a:endParaRPr>
          </a:p>
          <a:p>
            <a:pPr marL="342900" indent="-342900">
              <a:buFont typeface="Arial,Sans-Serif"/>
              <a:buChar char="•"/>
            </a:pPr>
            <a:r>
              <a:rPr lang="en-US" sz="2400">
                <a:latin typeface="Eras Medium ITC"/>
              </a:rPr>
              <a:t>Alterations of DNA methylation</a:t>
            </a:r>
            <a:endParaRPr lang="en-US"/>
          </a:p>
          <a:p>
            <a:pPr lvl="1"/>
            <a:r>
              <a:rPr lang="en-US" sz="2400" b="1">
                <a:latin typeface="Eras Medium ITC"/>
              </a:rPr>
              <a:t>cancer development</a:t>
            </a:r>
            <a:endParaRPr lang="de-DE">
              <a:latin typeface="Eras Medium ITC"/>
            </a:endParaRPr>
          </a:p>
          <a:p>
            <a:pPr marL="285750" indent="-285750">
              <a:buFont typeface="Arial" panose="020B0604020202020204" pitchFamily="34" charset="0"/>
              <a:buChar char="•"/>
            </a:pPr>
            <a:endParaRPr lang="de-DE" sz="2400">
              <a:latin typeface="Eras Medium ITC" panose="020B0602030504020804" pitchFamily="34" charset="0"/>
              <a:cs typeface="Times New Roman" panose="02020603050405020304" pitchFamily="18" charset="0"/>
            </a:endParaRPr>
          </a:p>
          <a:p>
            <a:pPr marL="285750" indent="-285750">
              <a:buFont typeface="Arial" panose="020B0604020202020204" pitchFamily="34" charset="0"/>
              <a:buChar char="•"/>
            </a:pPr>
            <a:endParaRPr lang="en-US" sz="2400">
              <a:effectLst/>
              <a:latin typeface="Eras Medium ITC" panose="020B0602030504020804" pitchFamily="34" charset="0"/>
              <a:ea typeface="Calibri" panose="020F0502020204030204" pitchFamily="34" charset="0"/>
              <a:cs typeface="Times New Roman" panose="02020603050405020304" pitchFamily="18" charset="0"/>
            </a:endParaRPr>
          </a:p>
        </p:txBody>
      </p:sp>
      <p:sp>
        <p:nvSpPr>
          <p:cNvPr id="2" name="Abgerundetes Rechteck 73">
            <a:extLst>
              <a:ext uri="{FF2B5EF4-FFF2-40B4-BE49-F238E27FC236}">
                <a16:creationId xmlns:a16="http://schemas.microsoft.com/office/drawing/2014/main" id="{9DF912A7-FD5D-A542-CD4D-092348F68FA9}"/>
              </a:ext>
            </a:extLst>
          </p:cNvPr>
          <p:cNvSpPr/>
          <p:nvPr/>
        </p:nvSpPr>
        <p:spPr>
          <a:xfrm>
            <a:off x="332362" y="-1749701"/>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 name="Title 1">
            <a:extLst>
              <a:ext uri="{FF2B5EF4-FFF2-40B4-BE49-F238E27FC236}">
                <a16:creationId xmlns:a16="http://schemas.microsoft.com/office/drawing/2014/main" id="{6D47E911-5A21-640C-DF5B-5491EFADF7A8}"/>
              </a:ext>
            </a:extLst>
          </p:cNvPr>
          <p:cNvSpPr txBox="1">
            <a:spLocks/>
          </p:cNvSpPr>
          <p:nvPr/>
        </p:nvSpPr>
        <p:spPr>
          <a:xfrm>
            <a:off x="332362" y="0"/>
            <a:ext cx="5400000" cy="1260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4400">
                <a:latin typeface="Eras Bold ITC" panose="020B0907030504020204" pitchFamily="34" charset="0"/>
              </a:rPr>
              <a:t>Function</a:t>
            </a:r>
            <a:endParaRPr lang="en-DE" sz="4400">
              <a:latin typeface="Eras Bold ITC" panose="020B0907030504020204" pitchFamily="34" charset="0"/>
            </a:endParaRPr>
          </a:p>
        </p:txBody>
      </p:sp>
      <p:sp>
        <p:nvSpPr>
          <p:cNvPr id="3" name="Slide Number Placeholder 2">
            <a:extLst>
              <a:ext uri="{FF2B5EF4-FFF2-40B4-BE49-F238E27FC236}">
                <a16:creationId xmlns:a16="http://schemas.microsoft.com/office/drawing/2014/main" id="{3E5E306C-ED16-0ACB-BE31-E109FF1C3BEC}"/>
              </a:ext>
            </a:extLst>
          </p:cNvPr>
          <p:cNvSpPr>
            <a:spLocks noGrp="1"/>
          </p:cNvSpPr>
          <p:nvPr>
            <p:ph type="sldNum" sz="quarter" idx="12"/>
          </p:nvPr>
        </p:nvSpPr>
        <p:spPr/>
        <p:txBody>
          <a:bodyPr/>
          <a:lstStyle/>
          <a:p>
            <a:fld id="{87CDB63A-4C37-3247-921B-ED7A64B24297}" type="slidenum">
              <a:rPr lang="en-DE" smtClean="0"/>
              <a:t>3</a:t>
            </a:fld>
            <a:endParaRPr lang="en-DE"/>
          </a:p>
        </p:txBody>
      </p:sp>
      <p:pic>
        <p:nvPicPr>
          <p:cNvPr id="8" name="New picture" descr="Ein Bild, das Text, Screenshot, Diagramm, Schrift enthält.&#10;&#10;Beschreibung automatisch generiert.">
            <a:extLst>
              <a:ext uri="{FF2B5EF4-FFF2-40B4-BE49-F238E27FC236}">
                <a16:creationId xmlns:a16="http://schemas.microsoft.com/office/drawing/2014/main" id="{F6B2D599-3A7B-5A49-41F9-4F04EBBE98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1477" y="2057172"/>
            <a:ext cx="4818821" cy="3580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pic>
    </p:spTree>
    <p:extLst>
      <p:ext uri="{BB962C8B-B14F-4D97-AF65-F5344CB8AC3E}">
        <p14:creationId xmlns:p14="http://schemas.microsoft.com/office/powerpoint/2010/main" val="318194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bgerundetes Rechteck 73">
            <a:extLst>
              <a:ext uri="{FF2B5EF4-FFF2-40B4-BE49-F238E27FC236}">
                <a16:creationId xmlns:a16="http://schemas.microsoft.com/office/drawing/2014/main" id="{D9404314-CE89-5E09-6520-7DA95A9E7AE3}"/>
              </a:ext>
            </a:extLst>
          </p:cNvPr>
          <p:cNvSpPr/>
          <p:nvPr/>
        </p:nvSpPr>
        <p:spPr>
          <a:xfrm>
            <a:off x="332362" y="-1749701"/>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5" name="Textfeld 14">
            <a:extLst>
              <a:ext uri="{FF2B5EF4-FFF2-40B4-BE49-F238E27FC236}">
                <a16:creationId xmlns:a16="http://schemas.microsoft.com/office/drawing/2014/main" id="{A8346E34-0869-E856-54D4-98BF7652E063}"/>
              </a:ext>
            </a:extLst>
          </p:cNvPr>
          <p:cNvSpPr txBox="1"/>
          <p:nvPr/>
        </p:nvSpPr>
        <p:spPr>
          <a:xfrm>
            <a:off x="633777" y="1866679"/>
            <a:ext cx="5088128" cy="3847207"/>
          </a:xfrm>
          <a:prstGeom prst="rect">
            <a:avLst/>
          </a:prstGeom>
          <a:noFill/>
        </p:spPr>
        <p:txBody>
          <a:bodyPr wrap="square" lIns="91440" tIns="45720" rIns="91440" bIns="45720" rtlCol="0" anchor="t">
            <a:spAutoFit/>
          </a:bodyPr>
          <a:lstStyle/>
          <a:p>
            <a:endParaRPr lang="en-US" sz="2200" b="1">
              <a:latin typeface="Eras Medium ITC" panose="020B06020305040208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US" sz="2200">
                <a:latin typeface="Eras Medium ITC"/>
                <a:ea typeface="Calibri" panose="020F0502020204030204" pitchFamily="34" charset="0"/>
                <a:cs typeface="Times New Roman"/>
              </a:rPr>
              <a:t>30 BRCA patients, 30 normal patients, </a:t>
            </a:r>
          </a:p>
          <a:p>
            <a:r>
              <a:rPr lang="en-US" sz="2200">
                <a:latin typeface="Eras Medium ITC"/>
                <a:ea typeface="Calibri" panose="020F0502020204030204" pitchFamily="34" charset="0"/>
                <a:cs typeface="Times New Roman"/>
              </a:rPr>
              <a:t>  ca. 450,000 CpG sites</a:t>
            </a:r>
          </a:p>
          <a:p>
            <a:pPr marL="342900" indent="-342900">
              <a:buFont typeface="Arial" panose="020B0604020202020204" pitchFamily="34" charset="0"/>
              <a:buChar char="•"/>
            </a:pPr>
            <a:endParaRPr lang="en-US" sz="2200">
              <a:latin typeface="Eras Medium ITC"/>
              <a:ea typeface="Calibri" panose="020F0502020204030204" pitchFamily="34" charset="0"/>
              <a:cs typeface="Times New Roman"/>
            </a:endParaRPr>
          </a:p>
          <a:p>
            <a:pPr marL="342900" indent="-342900">
              <a:buFont typeface="Arial" panose="020B0604020202020204" pitchFamily="34" charset="0"/>
              <a:buChar char="•"/>
            </a:pPr>
            <a:r>
              <a:rPr lang="en-US" sz="2200">
                <a:latin typeface="Eras Medium ITC"/>
                <a:ea typeface="Calibri" panose="020F0502020204030204" pitchFamily="34" charset="0"/>
                <a:cs typeface="Times New Roman"/>
              </a:rPr>
              <a:t>Methylation analysis via </a:t>
            </a:r>
            <a:r>
              <a:rPr lang="en-US" sz="2200" b="1">
                <a:latin typeface="Eras Medium ITC"/>
                <a:ea typeface="Calibri" panose="020F0502020204030204" pitchFamily="34" charset="0"/>
                <a:cs typeface="Times New Roman"/>
              </a:rPr>
              <a:t>Illumina </a:t>
            </a:r>
            <a:r>
              <a:rPr lang="de-DE" sz="2200" b="1">
                <a:latin typeface="Eras Medium ITC"/>
              </a:rPr>
              <a:t>HumanMethylation450 </a:t>
            </a:r>
            <a:r>
              <a:rPr lang="de-DE" sz="2200" b="1" err="1">
                <a:latin typeface="Eras Medium ITC"/>
              </a:rPr>
              <a:t>BeadChip</a:t>
            </a:r>
            <a:endParaRPr lang="en-US" sz="2200" b="1">
              <a:latin typeface="Eras Medium ITC"/>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endParaRPr lang="de-DE" sz="2200">
              <a:effectLst/>
              <a:latin typeface="Eras Medium ITC" panose="020B06020305040208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US" sz="2200" b="1">
                <a:latin typeface="Eras Medium ITC"/>
                <a:ea typeface="Calibri" panose="020F0502020204030204" pitchFamily="34" charset="0"/>
                <a:cs typeface="Times New Roman"/>
              </a:rPr>
              <a:t>ß-value</a:t>
            </a:r>
            <a:r>
              <a:rPr lang="en-US" sz="2200">
                <a:latin typeface="Eras Medium ITC"/>
                <a:ea typeface="Calibri" panose="020F0502020204030204" pitchFamily="34" charset="0"/>
                <a:cs typeface="Times New Roman"/>
              </a:rPr>
              <a:t>: Proportion of DNA methylation at particular CpG site</a:t>
            </a:r>
            <a:endParaRPr lang="de-DE" sz="2200">
              <a:latin typeface="Eras Medium ITC"/>
              <a:ea typeface="Calibri" panose="020F0502020204030204" pitchFamily="34" charset="0"/>
              <a:cs typeface="Times New Roman"/>
            </a:endParaRPr>
          </a:p>
          <a:p>
            <a:pPr marL="285750" indent="-285750">
              <a:buFont typeface="Arial" panose="020B0604020202020204" pitchFamily="34" charset="0"/>
              <a:buChar char="•"/>
            </a:pPr>
            <a:endParaRPr lang="en-US" sz="2400">
              <a:latin typeface="Eras Medium ITC" panose="020B0602030504020804" pitchFamily="34" charset="0"/>
              <a:ea typeface="Calibri" panose="020F0502020204030204" pitchFamily="34" charset="0"/>
              <a:cs typeface="Times New Roman" panose="02020603050405020304" pitchFamily="18" charset="0"/>
            </a:endParaRPr>
          </a:p>
        </p:txBody>
      </p:sp>
      <p:sp>
        <p:nvSpPr>
          <p:cNvPr id="4" name="Title 1">
            <a:extLst>
              <a:ext uri="{FF2B5EF4-FFF2-40B4-BE49-F238E27FC236}">
                <a16:creationId xmlns:a16="http://schemas.microsoft.com/office/drawing/2014/main" id="{373C6767-2700-1D4C-B699-26AEB6445D51}"/>
              </a:ext>
            </a:extLst>
          </p:cNvPr>
          <p:cNvSpPr txBox="1">
            <a:spLocks/>
          </p:cNvSpPr>
          <p:nvPr/>
        </p:nvSpPr>
        <p:spPr>
          <a:xfrm>
            <a:off x="332362" y="0"/>
            <a:ext cx="5400000" cy="1260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a:latin typeface="Eras Bold ITC" panose="020B0907030504020204" pitchFamily="34" charset="0"/>
              </a:rPr>
              <a:t>TCGA - The Cancer Genome Atlas</a:t>
            </a:r>
            <a:endParaRPr lang="en-DE" sz="8800">
              <a:latin typeface="Eras Bold ITC" panose="020B0907030504020204" pitchFamily="34" charset="0"/>
            </a:endParaRPr>
          </a:p>
        </p:txBody>
      </p:sp>
      <p:sp>
        <p:nvSpPr>
          <p:cNvPr id="3" name="Slide Number Placeholder 2">
            <a:extLst>
              <a:ext uri="{FF2B5EF4-FFF2-40B4-BE49-F238E27FC236}">
                <a16:creationId xmlns:a16="http://schemas.microsoft.com/office/drawing/2014/main" id="{3BB7F383-2BCA-F656-FF85-06C86C6C8C75}"/>
              </a:ext>
            </a:extLst>
          </p:cNvPr>
          <p:cNvSpPr>
            <a:spLocks noGrp="1"/>
          </p:cNvSpPr>
          <p:nvPr>
            <p:ph type="sldNum" sz="quarter" idx="12"/>
          </p:nvPr>
        </p:nvSpPr>
        <p:spPr/>
        <p:txBody>
          <a:bodyPr/>
          <a:lstStyle/>
          <a:p>
            <a:fld id="{87CDB63A-4C37-3247-921B-ED7A64B24297}" type="slidenum">
              <a:rPr lang="en-DE" smtClean="0"/>
              <a:t>4</a:t>
            </a:fld>
            <a:endParaRPr lang="en-DE"/>
          </a:p>
        </p:txBody>
      </p:sp>
      <p:pic>
        <p:nvPicPr>
          <p:cNvPr id="6" name="Grafik 5" descr="Ein Bild, das Text, Screenshot, Schrift, Zahl enthält.&#10;&#10;Beschreibung automatisch generiert.">
            <a:extLst>
              <a:ext uri="{FF2B5EF4-FFF2-40B4-BE49-F238E27FC236}">
                <a16:creationId xmlns:a16="http://schemas.microsoft.com/office/drawing/2014/main" id="{28574392-E28F-F46E-E9B4-E25B68AA6354}"/>
              </a:ext>
            </a:extLst>
          </p:cNvPr>
          <p:cNvPicPr>
            <a:picLocks noChangeAspect="1"/>
          </p:cNvPicPr>
          <p:nvPr/>
        </p:nvPicPr>
        <p:blipFill rotWithShape="1">
          <a:blip r:embed="rId3"/>
          <a:srcRect l="417" r="24308" b="1270"/>
          <a:stretch/>
        </p:blipFill>
        <p:spPr>
          <a:xfrm>
            <a:off x="6088184" y="4131766"/>
            <a:ext cx="5797236" cy="1368287"/>
          </a:xfrm>
          <a:prstGeom prst="rect">
            <a:avLst/>
          </a:prstGeom>
        </p:spPr>
      </p:pic>
      <p:pic>
        <p:nvPicPr>
          <p:cNvPr id="8" name="Grafik 7" descr="Ein Bild, das Text, Screenshot, Schrift, Zahl enthält.&#10;&#10;Beschreibung automatisch generiert.">
            <a:extLst>
              <a:ext uri="{FF2B5EF4-FFF2-40B4-BE49-F238E27FC236}">
                <a16:creationId xmlns:a16="http://schemas.microsoft.com/office/drawing/2014/main" id="{DC5BF2B0-873F-BE03-77E0-E7FF18F19777}"/>
              </a:ext>
            </a:extLst>
          </p:cNvPr>
          <p:cNvPicPr>
            <a:picLocks noChangeAspect="1"/>
          </p:cNvPicPr>
          <p:nvPr/>
        </p:nvPicPr>
        <p:blipFill rotWithShape="1">
          <a:blip r:embed="rId4"/>
          <a:srcRect l="2439" t="-1717" r="-87"/>
          <a:stretch/>
        </p:blipFill>
        <p:spPr>
          <a:xfrm>
            <a:off x="6081888" y="2048152"/>
            <a:ext cx="5800976" cy="1550183"/>
          </a:xfrm>
          <a:prstGeom prst="rect">
            <a:avLst/>
          </a:prstGeom>
        </p:spPr>
      </p:pic>
      <p:sp>
        <p:nvSpPr>
          <p:cNvPr id="9" name="Textfeld 8">
            <a:extLst>
              <a:ext uri="{FF2B5EF4-FFF2-40B4-BE49-F238E27FC236}">
                <a16:creationId xmlns:a16="http://schemas.microsoft.com/office/drawing/2014/main" id="{D9ACEC16-E395-B12A-E1F5-A9A61ECF0E03}"/>
              </a:ext>
            </a:extLst>
          </p:cNvPr>
          <p:cNvSpPr txBox="1"/>
          <p:nvPr/>
        </p:nvSpPr>
        <p:spPr>
          <a:xfrm>
            <a:off x="6108088" y="1703043"/>
            <a:ext cx="370535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Eras Medium ITC"/>
              </a:rPr>
              <a:t>Methylation data</a:t>
            </a:r>
            <a:endParaRPr lang="de-DE" sz="1600" b="1"/>
          </a:p>
        </p:txBody>
      </p:sp>
      <p:sp>
        <p:nvSpPr>
          <p:cNvPr id="10" name="Textfeld 9">
            <a:extLst>
              <a:ext uri="{FF2B5EF4-FFF2-40B4-BE49-F238E27FC236}">
                <a16:creationId xmlns:a16="http://schemas.microsoft.com/office/drawing/2014/main" id="{9A6ECCE3-9291-65DC-2AC7-E31364EDC6B7}"/>
              </a:ext>
            </a:extLst>
          </p:cNvPr>
          <p:cNvSpPr txBox="1"/>
          <p:nvPr/>
        </p:nvSpPr>
        <p:spPr>
          <a:xfrm>
            <a:off x="6108088" y="3791487"/>
            <a:ext cx="370535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Eras Medium ITC"/>
              </a:rPr>
              <a:t>Annotation sheet</a:t>
            </a:r>
            <a:endParaRPr lang="de-DE" sz="1600" b="1"/>
          </a:p>
        </p:txBody>
      </p:sp>
    </p:spTree>
    <p:extLst>
      <p:ext uri="{BB962C8B-B14F-4D97-AF65-F5344CB8AC3E}">
        <p14:creationId xmlns:p14="http://schemas.microsoft.com/office/powerpoint/2010/main" val="1442173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99E72-6300-2AC9-873F-B461FB9D06F5}"/>
            </a:ext>
          </a:extLst>
        </p:cNvPr>
        <p:cNvGrpSpPr/>
        <p:nvPr/>
      </p:nvGrpSpPr>
      <p:grpSpPr>
        <a:xfrm>
          <a:off x="0" y="0"/>
          <a:ext cx="0" cy="0"/>
          <a:chOff x="0" y="0"/>
          <a:chExt cx="0" cy="0"/>
        </a:xfrm>
      </p:grpSpPr>
      <p:sp>
        <p:nvSpPr>
          <p:cNvPr id="2" name="Abgerundetes Rechteck 73">
            <a:extLst>
              <a:ext uri="{FF2B5EF4-FFF2-40B4-BE49-F238E27FC236}">
                <a16:creationId xmlns:a16="http://schemas.microsoft.com/office/drawing/2014/main" id="{70BC0A83-C2F4-E824-06D0-A60589D3F6D9}"/>
              </a:ext>
            </a:extLst>
          </p:cNvPr>
          <p:cNvSpPr/>
          <p:nvPr/>
        </p:nvSpPr>
        <p:spPr>
          <a:xfrm>
            <a:off x="332362" y="-1749701"/>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F0E225E1-AB28-EB39-7D41-5DB4BEDA7859}"/>
              </a:ext>
            </a:extLst>
          </p:cNvPr>
          <p:cNvSpPr txBox="1">
            <a:spLocks/>
          </p:cNvSpPr>
          <p:nvPr/>
        </p:nvSpPr>
        <p:spPr>
          <a:xfrm>
            <a:off x="699251" y="0"/>
            <a:ext cx="5400000" cy="1260000"/>
          </a:xfrm>
          <a:prstGeom prst="rect">
            <a:avLst/>
          </a:prstGeom>
        </p:spPr>
        <p:txBody>
          <a:bodyPr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err="1">
                <a:latin typeface="Eras Bold ITC"/>
              </a:rPr>
              <a:t>Overview</a:t>
            </a:r>
            <a:endParaRPr lang="de-DE" sz="4400" err="1">
              <a:latin typeface="Eras Bold ITC" panose="020B0907030504020204" pitchFamily="34" charset="0"/>
            </a:endParaRPr>
          </a:p>
        </p:txBody>
      </p:sp>
      <p:sp>
        <p:nvSpPr>
          <p:cNvPr id="9" name="Foliennummernplatzhalter 8">
            <a:extLst>
              <a:ext uri="{FF2B5EF4-FFF2-40B4-BE49-F238E27FC236}">
                <a16:creationId xmlns:a16="http://schemas.microsoft.com/office/drawing/2014/main" id="{93FF4986-6567-AAE8-E31C-D9C052DF250B}"/>
              </a:ext>
            </a:extLst>
          </p:cNvPr>
          <p:cNvSpPr>
            <a:spLocks noGrp="1"/>
          </p:cNvSpPr>
          <p:nvPr>
            <p:ph type="sldNum" sz="quarter" idx="12"/>
          </p:nvPr>
        </p:nvSpPr>
        <p:spPr/>
        <p:txBody>
          <a:bodyPr/>
          <a:lstStyle/>
          <a:p>
            <a:fld id="{87CDB63A-4C37-3247-921B-ED7A64B24297}" type="slidenum">
              <a:rPr lang="en-DE" smtClean="0"/>
              <a:t>5</a:t>
            </a:fld>
            <a:endParaRPr lang="en-DE"/>
          </a:p>
        </p:txBody>
      </p:sp>
      <p:graphicFrame>
        <p:nvGraphicFramePr>
          <p:cNvPr id="4" name="Diagramm 3">
            <a:extLst>
              <a:ext uri="{FF2B5EF4-FFF2-40B4-BE49-F238E27FC236}">
                <a16:creationId xmlns:a16="http://schemas.microsoft.com/office/drawing/2014/main" id="{2EA7AE57-0015-14E7-CF89-2AF157F877CD}"/>
              </a:ext>
            </a:extLst>
          </p:cNvPr>
          <p:cNvGraphicFramePr/>
          <p:nvPr>
            <p:extLst>
              <p:ext uri="{D42A27DB-BD31-4B8C-83A1-F6EECF244321}">
                <p14:modId xmlns:p14="http://schemas.microsoft.com/office/powerpoint/2010/main" val="257376340"/>
              </p:ext>
            </p:extLst>
          </p:nvPr>
        </p:nvGraphicFramePr>
        <p:xfrm>
          <a:off x="844712" y="1740876"/>
          <a:ext cx="10486943" cy="46188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69652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52621-03FB-F71E-C81B-4F8C9EA6CCC7}"/>
            </a:ext>
          </a:extLst>
        </p:cNvPr>
        <p:cNvGrpSpPr/>
        <p:nvPr/>
      </p:nvGrpSpPr>
      <p:grpSpPr>
        <a:xfrm>
          <a:off x="0" y="0"/>
          <a:ext cx="0" cy="0"/>
          <a:chOff x="0" y="0"/>
          <a:chExt cx="0" cy="0"/>
        </a:xfrm>
      </p:grpSpPr>
      <p:sp>
        <p:nvSpPr>
          <p:cNvPr id="2" name="Abgerundetes Rechteck 73">
            <a:extLst>
              <a:ext uri="{FF2B5EF4-FFF2-40B4-BE49-F238E27FC236}">
                <a16:creationId xmlns:a16="http://schemas.microsoft.com/office/drawing/2014/main" id="{799AACBB-C22B-3C0C-E467-90EF916765D8}"/>
              </a:ext>
            </a:extLst>
          </p:cNvPr>
          <p:cNvSpPr/>
          <p:nvPr/>
        </p:nvSpPr>
        <p:spPr>
          <a:xfrm>
            <a:off x="332362" y="-1749701"/>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B8B7867B-CA2E-5840-415A-285796D6C289}"/>
              </a:ext>
            </a:extLst>
          </p:cNvPr>
          <p:cNvSpPr txBox="1">
            <a:spLocks/>
          </p:cNvSpPr>
          <p:nvPr/>
        </p:nvSpPr>
        <p:spPr>
          <a:xfrm>
            <a:off x="332362" y="0"/>
            <a:ext cx="5400000" cy="1260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4400">
                <a:latin typeface="Eras Bold ITC" panose="020B0907030504020204" pitchFamily="34" charset="0"/>
              </a:rPr>
              <a:t>DMA - minfi</a:t>
            </a:r>
            <a:endParaRPr lang="en-DE" sz="4400">
              <a:latin typeface="Eras Bold ITC" panose="020B0907030504020204" pitchFamily="34" charset="0"/>
            </a:endParaRPr>
          </a:p>
        </p:txBody>
      </p:sp>
      <p:sp>
        <p:nvSpPr>
          <p:cNvPr id="9" name="Foliennummernplatzhalter 8">
            <a:extLst>
              <a:ext uri="{FF2B5EF4-FFF2-40B4-BE49-F238E27FC236}">
                <a16:creationId xmlns:a16="http://schemas.microsoft.com/office/drawing/2014/main" id="{770A9163-73F2-0F96-4C92-D079A57E7E03}"/>
              </a:ext>
            </a:extLst>
          </p:cNvPr>
          <p:cNvSpPr>
            <a:spLocks noGrp="1"/>
          </p:cNvSpPr>
          <p:nvPr>
            <p:ph type="sldNum" sz="quarter" idx="12"/>
          </p:nvPr>
        </p:nvSpPr>
        <p:spPr/>
        <p:txBody>
          <a:bodyPr/>
          <a:lstStyle/>
          <a:p>
            <a:fld id="{87CDB63A-4C37-3247-921B-ED7A64B24297}" type="slidenum">
              <a:rPr lang="en-DE" smtClean="0"/>
              <a:t>6</a:t>
            </a:fld>
            <a:endParaRPr lang="en-DE"/>
          </a:p>
        </p:txBody>
      </p:sp>
    </p:spTree>
    <p:extLst>
      <p:ext uri="{BB962C8B-B14F-4D97-AF65-F5344CB8AC3E}">
        <p14:creationId xmlns:p14="http://schemas.microsoft.com/office/powerpoint/2010/main" val="3555019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99E72-6300-2AC9-873F-B461FB9D06F5}"/>
            </a:ext>
          </a:extLst>
        </p:cNvPr>
        <p:cNvGrpSpPr/>
        <p:nvPr/>
      </p:nvGrpSpPr>
      <p:grpSpPr>
        <a:xfrm>
          <a:off x="0" y="0"/>
          <a:ext cx="0" cy="0"/>
          <a:chOff x="0" y="0"/>
          <a:chExt cx="0" cy="0"/>
        </a:xfrm>
      </p:grpSpPr>
      <p:sp>
        <p:nvSpPr>
          <p:cNvPr id="2" name="Abgerundetes Rechteck 73">
            <a:extLst>
              <a:ext uri="{FF2B5EF4-FFF2-40B4-BE49-F238E27FC236}">
                <a16:creationId xmlns:a16="http://schemas.microsoft.com/office/drawing/2014/main" id="{70BC0A83-C2F4-E824-06D0-A60589D3F6D9}"/>
              </a:ext>
            </a:extLst>
          </p:cNvPr>
          <p:cNvSpPr/>
          <p:nvPr/>
        </p:nvSpPr>
        <p:spPr>
          <a:xfrm>
            <a:off x="332362" y="-1749701"/>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F0E225E1-AB28-EB39-7D41-5DB4BEDA7859}"/>
              </a:ext>
            </a:extLst>
          </p:cNvPr>
          <p:cNvSpPr txBox="1">
            <a:spLocks/>
          </p:cNvSpPr>
          <p:nvPr/>
        </p:nvSpPr>
        <p:spPr>
          <a:xfrm>
            <a:off x="332362" y="0"/>
            <a:ext cx="5400000" cy="1260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4400">
                <a:latin typeface="Eras Bold ITC" panose="020B0907030504020204" pitchFamily="34" charset="0"/>
              </a:rPr>
              <a:t>DMA - </a:t>
            </a:r>
            <a:r>
              <a:rPr lang="de-DE" sz="4400" err="1">
                <a:latin typeface="Eras Bold ITC" panose="020B0907030504020204" pitchFamily="34" charset="0"/>
              </a:rPr>
              <a:t>limma</a:t>
            </a:r>
            <a:endParaRPr lang="en-DE" sz="4400">
              <a:latin typeface="Eras Bold ITC" panose="020B0907030504020204" pitchFamily="34" charset="0"/>
            </a:endParaRPr>
          </a:p>
        </p:txBody>
      </p:sp>
      <p:sp>
        <p:nvSpPr>
          <p:cNvPr id="9" name="Foliennummernplatzhalter 8">
            <a:extLst>
              <a:ext uri="{FF2B5EF4-FFF2-40B4-BE49-F238E27FC236}">
                <a16:creationId xmlns:a16="http://schemas.microsoft.com/office/drawing/2014/main" id="{93FF4986-6567-AAE8-E31C-D9C052DF250B}"/>
              </a:ext>
            </a:extLst>
          </p:cNvPr>
          <p:cNvSpPr>
            <a:spLocks noGrp="1"/>
          </p:cNvSpPr>
          <p:nvPr>
            <p:ph type="sldNum" sz="quarter" idx="12"/>
          </p:nvPr>
        </p:nvSpPr>
        <p:spPr/>
        <p:txBody>
          <a:bodyPr/>
          <a:lstStyle/>
          <a:p>
            <a:fld id="{87CDB63A-4C37-3247-921B-ED7A64B24297}" type="slidenum">
              <a:rPr lang="en-DE" smtClean="0"/>
              <a:t>7</a:t>
            </a:fld>
            <a:endParaRPr lang="en-DE"/>
          </a:p>
        </p:txBody>
      </p:sp>
      <p:pic>
        <p:nvPicPr>
          <p:cNvPr id="5" name="Grafik 4" descr="Ein Bild, das Text, Diagramm, Reihe, Screenshot enthält.&#10;&#10;Beschreibung automatisch generiert.">
            <a:extLst>
              <a:ext uri="{FF2B5EF4-FFF2-40B4-BE49-F238E27FC236}">
                <a16:creationId xmlns:a16="http://schemas.microsoft.com/office/drawing/2014/main" id="{720CAB97-826E-CC82-8663-6454AF0A3B79}"/>
              </a:ext>
            </a:extLst>
          </p:cNvPr>
          <p:cNvPicPr>
            <a:picLocks noChangeAspect="1"/>
          </p:cNvPicPr>
          <p:nvPr/>
        </p:nvPicPr>
        <p:blipFill>
          <a:blip r:embed="rId3"/>
          <a:stretch>
            <a:fillRect/>
          </a:stretch>
        </p:blipFill>
        <p:spPr>
          <a:xfrm>
            <a:off x="962025" y="1471613"/>
            <a:ext cx="10267950" cy="3914775"/>
          </a:xfrm>
          <a:prstGeom prst="rect">
            <a:avLst/>
          </a:prstGeom>
        </p:spPr>
      </p:pic>
    </p:spTree>
    <p:extLst>
      <p:ext uri="{BB962C8B-B14F-4D97-AF65-F5344CB8AC3E}">
        <p14:creationId xmlns:p14="http://schemas.microsoft.com/office/powerpoint/2010/main" val="1856004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32234-60BC-4638-9D51-72B94D98A32F}"/>
            </a:ext>
          </a:extLst>
        </p:cNvPr>
        <p:cNvGrpSpPr/>
        <p:nvPr/>
      </p:nvGrpSpPr>
      <p:grpSpPr>
        <a:xfrm>
          <a:off x="0" y="0"/>
          <a:ext cx="0" cy="0"/>
          <a:chOff x="0" y="0"/>
          <a:chExt cx="0" cy="0"/>
        </a:xfrm>
      </p:grpSpPr>
      <p:sp>
        <p:nvSpPr>
          <p:cNvPr id="2" name="Abgerundetes Rechteck 73">
            <a:extLst>
              <a:ext uri="{FF2B5EF4-FFF2-40B4-BE49-F238E27FC236}">
                <a16:creationId xmlns:a16="http://schemas.microsoft.com/office/drawing/2014/main" id="{D8E94117-09DA-129E-4190-8E72C9500170}"/>
              </a:ext>
            </a:extLst>
          </p:cNvPr>
          <p:cNvSpPr/>
          <p:nvPr/>
        </p:nvSpPr>
        <p:spPr>
          <a:xfrm>
            <a:off x="332362" y="-1749701"/>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FB48D113-4660-A188-5560-1AB7C407C642}"/>
              </a:ext>
            </a:extLst>
          </p:cNvPr>
          <p:cNvSpPr txBox="1">
            <a:spLocks/>
          </p:cNvSpPr>
          <p:nvPr/>
        </p:nvSpPr>
        <p:spPr>
          <a:xfrm>
            <a:off x="332362" y="0"/>
            <a:ext cx="5400000" cy="1260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4400">
                <a:latin typeface="Eras Bold ITC" panose="020B0907030504020204" pitchFamily="34" charset="0"/>
              </a:rPr>
              <a:t>DMA </a:t>
            </a:r>
            <a:r>
              <a:rPr lang="de-DE" sz="4400" err="1">
                <a:latin typeface="Eras Bold ITC" panose="020B0907030504020204" pitchFamily="34" charset="0"/>
              </a:rPr>
              <a:t>visualization</a:t>
            </a:r>
            <a:endParaRPr lang="en-DE" sz="4400">
              <a:latin typeface="Eras Bold ITC" panose="020B0907030504020204" pitchFamily="34" charset="0"/>
            </a:endParaRPr>
          </a:p>
        </p:txBody>
      </p:sp>
      <p:sp>
        <p:nvSpPr>
          <p:cNvPr id="9" name="Foliennummernplatzhalter 8">
            <a:extLst>
              <a:ext uri="{FF2B5EF4-FFF2-40B4-BE49-F238E27FC236}">
                <a16:creationId xmlns:a16="http://schemas.microsoft.com/office/drawing/2014/main" id="{D7A931DA-45AD-0B94-8030-AF5B04C713F2}"/>
              </a:ext>
            </a:extLst>
          </p:cNvPr>
          <p:cNvSpPr>
            <a:spLocks noGrp="1"/>
          </p:cNvSpPr>
          <p:nvPr>
            <p:ph type="sldNum" sz="quarter" idx="12"/>
          </p:nvPr>
        </p:nvSpPr>
        <p:spPr/>
        <p:txBody>
          <a:bodyPr/>
          <a:lstStyle/>
          <a:p>
            <a:fld id="{87CDB63A-4C37-3247-921B-ED7A64B24297}" type="slidenum">
              <a:rPr lang="en-DE" smtClean="0"/>
              <a:t>8</a:t>
            </a:fld>
            <a:endParaRPr lang="en-DE"/>
          </a:p>
        </p:txBody>
      </p:sp>
      <p:pic>
        <p:nvPicPr>
          <p:cNvPr id="4" name="Grafik 3">
            <a:extLst>
              <a:ext uri="{FF2B5EF4-FFF2-40B4-BE49-F238E27FC236}">
                <a16:creationId xmlns:a16="http://schemas.microsoft.com/office/drawing/2014/main" id="{2E363271-3865-0C4B-4821-04FC114F1A99}"/>
              </a:ext>
            </a:extLst>
          </p:cNvPr>
          <p:cNvPicPr>
            <a:picLocks noChangeAspect="1"/>
          </p:cNvPicPr>
          <p:nvPr/>
        </p:nvPicPr>
        <p:blipFill>
          <a:blip r:embed="rId3"/>
          <a:stretch>
            <a:fillRect/>
          </a:stretch>
        </p:blipFill>
        <p:spPr>
          <a:xfrm>
            <a:off x="708147" y="1437542"/>
            <a:ext cx="9744075" cy="5295900"/>
          </a:xfrm>
          <a:prstGeom prst="rect">
            <a:avLst/>
          </a:prstGeom>
        </p:spPr>
      </p:pic>
    </p:spTree>
    <p:extLst>
      <p:ext uri="{BB962C8B-B14F-4D97-AF65-F5344CB8AC3E}">
        <p14:creationId xmlns:p14="http://schemas.microsoft.com/office/powerpoint/2010/main" val="3264471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32234-60BC-4638-9D51-72B94D98A32F}"/>
            </a:ext>
          </a:extLst>
        </p:cNvPr>
        <p:cNvGrpSpPr/>
        <p:nvPr/>
      </p:nvGrpSpPr>
      <p:grpSpPr>
        <a:xfrm>
          <a:off x="0" y="0"/>
          <a:ext cx="0" cy="0"/>
          <a:chOff x="0" y="0"/>
          <a:chExt cx="0" cy="0"/>
        </a:xfrm>
      </p:grpSpPr>
      <p:sp>
        <p:nvSpPr>
          <p:cNvPr id="2" name="Abgerundetes Rechteck 73">
            <a:extLst>
              <a:ext uri="{FF2B5EF4-FFF2-40B4-BE49-F238E27FC236}">
                <a16:creationId xmlns:a16="http://schemas.microsoft.com/office/drawing/2014/main" id="{D8E94117-09DA-129E-4190-8E72C9500170}"/>
              </a:ext>
            </a:extLst>
          </p:cNvPr>
          <p:cNvSpPr/>
          <p:nvPr/>
        </p:nvSpPr>
        <p:spPr>
          <a:xfrm>
            <a:off x="332362" y="-1749701"/>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FB48D113-4660-A188-5560-1AB7C407C642}"/>
              </a:ext>
            </a:extLst>
          </p:cNvPr>
          <p:cNvSpPr txBox="1">
            <a:spLocks/>
          </p:cNvSpPr>
          <p:nvPr/>
        </p:nvSpPr>
        <p:spPr>
          <a:xfrm>
            <a:off x="332362" y="0"/>
            <a:ext cx="5400000" cy="1260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4400">
                <a:latin typeface="Eras Bold ITC" panose="020B0907030504020204" pitchFamily="34" charset="0"/>
              </a:rPr>
              <a:t>DMA </a:t>
            </a:r>
            <a:r>
              <a:rPr lang="de-DE" sz="4400" err="1">
                <a:latin typeface="Eras Bold ITC" panose="020B0907030504020204" pitchFamily="34" charset="0"/>
              </a:rPr>
              <a:t>visualization</a:t>
            </a:r>
            <a:endParaRPr lang="en-DE" sz="4400">
              <a:latin typeface="Eras Bold ITC" panose="020B0907030504020204" pitchFamily="34" charset="0"/>
            </a:endParaRPr>
          </a:p>
        </p:txBody>
      </p:sp>
      <p:sp>
        <p:nvSpPr>
          <p:cNvPr id="9" name="Foliennummernplatzhalter 8">
            <a:extLst>
              <a:ext uri="{FF2B5EF4-FFF2-40B4-BE49-F238E27FC236}">
                <a16:creationId xmlns:a16="http://schemas.microsoft.com/office/drawing/2014/main" id="{D7A931DA-45AD-0B94-8030-AF5B04C713F2}"/>
              </a:ext>
            </a:extLst>
          </p:cNvPr>
          <p:cNvSpPr>
            <a:spLocks noGrp="1"/>
          </p:cNvSpPr>
          <p:nvPr>
            <p:ph type="sldNum" sz="quarter" idx="12"/>
          </p:nvPr>
        </p:nvSpPr>
        <p:spPr/>
        <p:txBody>
          <a:bodyPr/>
          <a:lstStyle/>
          <a:p>
            <a:fld id="{87CDB63A-4C37-3247-921B-ED7A64B24297}" type="slidenum">
              <a:rPr lang="en-DE" smtClean="0"/>
              <a:t>9</a:t>
            </a:fld>
            <a:endParaRPr lang="en-DE"/>
          </a:p>
        </p:txBody>
      </p:sp>
      <p:pic>
        <p:nvPicPr>
          <p:cNvPr id="5" name="Grafik 4" descr="Ein Bild, das Text, Screenshot, Diagramm, Reihe enthält.&#10;&#10;Beschreibung automatisch generiert.">
            <a:extLst>
              <a:ext uri="{FF2B5EF4-FFF2-40B4-BE49-F238E27FC236}">
                <a16:creationId xmlns:a16="http://schemas.microsoft.com/office/drawing/2014/main" id="{92E3E844-B1E7-79E5-24B7-3F8554977F21}"/>
              </a:ext>
            </a:extLst>
          </p:cNvPr>
          <p:cNvPicPr>
            <a:picLocks noChangeAspect="1"/>
          </p:cNvPicPr>
          <p:nvPr/>
        </p:nvPicPr>
        <p:blipFill>
          <a:blip r:embed="rId3"/>
          <a:stretch>
            <a:fillRect/>
          </a:stretch>
        </p:blipFill>
        <p:spPr>
          <a:xfrm>
            <a:off x="698147" y="1718381"/>
            <a:ext cx="5010150" cy="4324350"/>
          </a:xfrm>
          <a:prstGeom prst="rect">
            <a:avLst/>
          </a:prstGeom>
        </p:spPr>
      </p:pic>
      <p:pic>
        <p:nvPicPr>
          <p:cNvPr id="6" name="Grafik 5" descr="Ein Bild, das Screenshot, Text, Diagramm, Reihe enthält.&#10;&#10;Beschreibung automatisch generiert.">
            <a:extLst>
              <a:ext uri="{FF2B5EF4-FFF2-40B4-BE49-F238E27FC236}">
                <a16:creationId xmlns:a16="http://schemas.microsoft.com/office/drawing/2014/main" id="{EBD811BA-022C-296A-D066-A0121675A4D1}"/>
              </a:ext>
            </a:extLst>
          </p:cNvPr>
          <p:cNvPicPr>
            <a:picLocks noChangeAspect="1"/>
          </p:cNvPicPr>
          <p:nvPr/>
        </p:nvPicPr>
        <p:blipFill>
          <a:blip r:embed="rId4"/>
          <a:stretch>
            <a:fillRect/>
          </a:stretch>
        </p:blipFill>
        <p:spPr>
          <a:xfrm>
            <a:off x="6344003" y="1718204"/>
            <a:ext cx="5035550" cy="4522259"/>
          </a:xfrm>
          <a:prstGeom prst="rect">
            <a:avLst/>
          </a:prstGeom>
        </p:spPr>
      </p:pic>
    </p:spTree>
    <p:extLst>
      <p:ext uri="{BB962C8B-B14F-4D97-AF65-F5344CB8AC3E}">
        <p14:creationId xmlns:p14="http://schemas.microsoft.com/office/powerpoint/2010/main" val="2292861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DEEB1-7650-7637-03CC-C03A2B46E0D7}"/>
            </a:ext>
          </a:extLst>
        </p:cNvPr>
        <p:cNvGrpSpPr/>
        <p:nvPr/>
      </p:nvGrpSpPr>
      <p:grpSpPr>
        <a:xfrm>
          <a:off x="0" y="0"/>
          <a:ext cx="0" cy="0"/>
          <a:chOff x="0" y="0"/>
          <a:chExt cx="0" cy="0"/>
        </a:xfrm>
      </p:grpSpPr>
      <p:sp>
        <p:nvSpPr>
          <p:cNvPr id="2" name="Abgerundetes Rechteck 73">
            <a:extLst>
              <a:ext uri="{FF2B5EF4-FFF2-40B4-BE49-F238E27FC236}">
                <a16:creationId xmlns:a16="http://schemas.microsoft.com/office/drawing/2014/main" id="{DE2BD802-76A5-2F36-2366-F23111E9B772}"/>
              </a:ext>
            </a:extLst>
          </p:cNvPr>
          <p:cNvSpPr/>
          <p:nvPr/>
        </p:nvSpPr>
        <p:spPr>
          <a:xfrm>
            <a:off x="332362" y="-1749701"/>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527A6E2E-C602-A535-A855-55643BFB6730}"/>
              </a:ext>
            </a:extLst>
          </p:cNvPr>
          <p:cNvSpPr txBox="1">
            <a:spLocks/>
          </p:cNvSpPr>
          <p:nvPr/>
        </p:nvSpPr>
        <p:spPr>
          <a:xfrm>
            <a:off x="332362" y="0"/>
            <a:ext cx="5400000" cy="1260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4400">
                <a:latin typeface="Eras Bold ITC" panose="020B0907030504020204" pitchFamily="34" charset="0"/>
              </a:rPr>
              <a:t>DMA </a:t>
            </a:r>
            <a:r>
              <a:rPr lang="de-DE" sz="4400" err="1">
                <a:latin typeface="Eras Bold ITC" panose="020B0907030504020204" pitchFamily="34" charset="0"/>
              </a:rPr>
              <a:t>visualization</a:t>
            </a:r>
            <a:endParaRPr lang="en-DE" sz="4400">
              <a:latin typeface="Eras Bold ITC" panose="020B0907030504020204" pitchFamily="34" charset="0"/>
            </a:endParaRPr>
          </a:p>
        </p:txBody>
      </p:sp>
      <p:sp>
        <p:nvSpPr>
          <p:cNvPr id="9" name="Foliennummernplatzhalter 8">
            <a:extLst>
              <a:ext uri="{FF2B5EF4-FFF2-40B4-BE49-F238E27FC236}">
                <a16:creationId xmlns:a16="http://schemas.microsoft.com/office/drawing/2014/main" id="{EB6238BE-61E4-BD04-92F0-949088436DBA}"/>
              </a:ext>
            </a:extLst>
          </p:cNvPr>
          <p:cNvSpPr>
            <a:spLocks noGrp="1"/>
          </p:cNvSpPr>
          <p:nvPr>
            <p:ph type="sldNum" sz="quarter" idx="12"/>
          </p:nvPr>
        </p:nvSpPr>
        <p:spPr/>
        <p:txBody>
          <a:bodyPr/>
          <a:lstStyle/>
          <a:p>
            <a:fld id="{87CDB63A-4C37-3247-921B-ED7A64B24297}" type="slidenum">
              <a:rPr lang="en-DE" smtClean="0"/>
              <a:t>10</a:t>
            </a:fld>
            <a:endParaRPr lang="en-DE"/>
          </a:p>
        </p:txBody>
      </p:sp>
      <p:pic>
        <p:nvPicPr>
          <p:cNvPr id="5" name="Grafik 4">
            <a:extLst>
              <a:ext uri="{FF2B5EF4-FFF2-40B4-BE49-F238E27FC236}">
                <a16:creationId xmlns:a16="http://schemas.microsoft.com/office/drawing/2014/main" id="{B06E8EBA-7110-7648-1CB2-538F5947CF1B}"/>
              </a:ext>
            </a:extLst>
          </p:cNvPr>
          <p:cNvPicPr>
            <a:picLocks noChangeAspect="1"/>
          </p:cNvPicPr>
          <p:nvPr/>
        </p:nvPicPr>
        <p:blipFill>
          <a:blip r:embed="rId3"/>
          <a:stretch>
            <a:fillRect/>
          </a:stretch>
        </p:blipFill>
        <p:spPr>
          <a:xfrm>
            <a:off x="474785" y="1252538"/>
            <a:ext cx="10515600" cy="5572125"/>
          </a:xfrm>
          <a:prstGeom prst="rect">
            <a:avLst/>
          </a:prstGeom>
        </p:spPr>
      </p:pic>
    </p:spTree>
    <p:extLst>
      <p:ext uri="{BB962C8B-B14F-4D97-AF65-F5344CB8AC3E}">
        <p14:creationId xmlns:p14="http://schemas.microsoft.com/office/powerpoint/2010/main" val="3550549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1EAE0-750D-9339-6662-4A293E815A0B}"/>
            </a:ext>
          </a:extLst>
        </p:cNvPr>
        <p:cNvGrpSpPr/>
        <p:nvPr/>
      </p:nvGrpSpPr>
      <p:grpSpPr>
        <a:xfrm>
          <a:off x="0" y="0"/>
          <a:ext cx="0" cy="0"/>
          <a:chOff x="0" y="0"/>
          <a:chExt cx="0" cy="0"/>
        </a:xfrm>
      </p:grpSpPr>
      <p:sp>
        <p:nvSpPr>
          <p:cNvPr id="2" name="Abgerundetes Rechteck 73">
            <a:extLst>
              <a:ext uri="{FF2B5EF4-FFF2-40B4-BE49-F238E27FC236}">
                <a16:creationId xmlns:a16="http://schemas.microsoft.com/office/drawing/2014/main" id="{9091BCB1-EA07-8E38-89D9-A733E3966A9E}"/>
              </a:ext>
            </a:extLst>
          </p:cNvPr>
          <p:cNvSpPr/>
          <p:nvPr/>
        </p:nvSpPr>
        <p:spPr>
          <a:xfrm>
            <a:off x="332362" y="-1749701"/>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BFDF167B-105B-A9E5-DB11-EED94A88E0FC}"/>
              </a:ext>
            </a:extLst>
          </p:cNvPr>
          <p:cNvSpPr txBox="1">
            <a:spLocks/>
          </p:cNvSpPr>
          <p:nvPr/>
        </p:nvSpPr>
        <p:spPr>
          <a:xfrm>
            <a:off x="332362" y="0"/>
            <a:ext cx="5400000" cy="1260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4400">
                <a:latin typeface="Eras Bold ITC" panose="020B0907030504020204" pitchFamily="34" charset="0"/>
              </a:rPr>
              <a:t>DMR</a:t>
            </a:r>
            <a:endParaRPr lang="en-DE" sz="4400">
              <a:latin typeface="Eras Bold ITC" panose="020B0907030504020204" pitchFamily="34" charset="0"/>
            </a:endParaRPr>
          </a:p>
        </p:txBody>
      </p:sp>
      <p:sp>
        <p:nvSpPr>
          <p:cNvPr id="9" name="Foliennummernplatzhalter 8">
            <a:extLst>
              <a:ext uri="{FF2B5EF4-FFF2-40B4-BE49-F238E27FC236}">
                <a16:creationId xmlns:a16="http://schemas.microsoft.com/office/drawing/2014/main" id="{0F9E6FE3-CFF5-00C1-492B-D0A2E2A09C94}"/>
              </a:ext>
            </a:extLst>
          </p:cNvPr>
          <p:cNvSpPr>
            <a:spLocks noGrp="1"/>
          </p:cNvSpPr>
          <p:nvPr>
            <p:ph type="sldNum" sz="quarter" idx="12"/>
          </p:nvPr>
        </p:nvSpPr>
        <p:spPr/>
        <p:txBody>
          <a:bodyPr/>
          <a:lstStyle/>
          <a:p>
            <a:fld id="{87CDB63A-4C37-3247-921B-ED7A64B24297}" type="slidenum">
              <a:rPr lang="en-DE" smtClean="0"/>
              <a:t>11</a:t>
            </a:fld>
            <a:endParaRPr lang="en-DE"/>
          </a:p>
        </p:txBody>
      </p:sp>
      <p:pic>
        <p:nvPicPr>
          <p:cNvPr id="4" name="Grafik 3" descr="Ein Bild, das Text, Diagramm, Screenshot, Reihe enthält.&#10;&#10;Beschreibung automatisch generiert.">
            <a:extLst>
              <a:ext uri="{FF2B5EF4-FFF2-40B4-BE49-F238E27FC236}">
                <a16:creationId xmlns:a16="http://schemas.microsoft.com/office/drawing/2014/main" id="{6CDF4E94-0E67-BF65-EBE3-AC23FB00818E}"/>
              </a:ext>
            </a:extLst>
          </p:cNvPr>
          <p:cNvPicPr>
            <a:picLocks noChangeAspect="1"/>
          </p:cNvPicPr>
          <p:nvPr/>
        </p:nvPicPr>
        <p:blipFill>
          <a:blip r:embed="rId3"/>
          <a:stretch>
            <a:fillRect/>
          </a:stretch>
        </p:blipFill>
        <p:spPr>
          <a:xfrm>
            <a:off x="4466492" y="1588238"/>
            <a:ext cx="7549663" cy="3716694"/>
          </a:xfrm>
          <a:prstGeom prst="rect">
            <a:avLst/>
          </a:prstGeom>
        </p:spPr>
      </p:pic>
      <p:sp>
        <p:nvSpPr>
          <p:cNvPr id="5" name="Textfeld 4">
            <a:extLst>
              <a:ext uri="{FF2B5EF4-FFF2-40B4-BE49-F238E27FC236}">
                <a16:creationId xmlns:a16="http://schemas.microsoft.com/office/drawing/2014/main" id="{E4814766-5FE6-2706-6C5F-C791DF0E015F}"/>
              </a:ext>
            </a:extLst>
          </p:cNvPr>
          <p:cNvSpPr txBox="1"/>
          <p:nvPr/>
        </p:nvSpPr>
        <p:spPr>
          <a:xfrm>
            <a:off x="504092" y="1582615"/>
            <a:ext cx="3001108"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err="1">
                <a:latin typeface="Eras Medium ITC"/>
                <a:ea typeface="+mn-lt"/>
                <a:cs typeface="+mn-lt"/>
              </a:rPr>
              <a:t>DMRcate</a:t>
            </a:r>
            <a:r>
              <a:rPr lang="en-US">
                <a:latin typeface="Eras Medium ITC"/>
                <a:ea typeface="+mn-lt"/>
                <a:cs typeface="+mn-lt"/>
              </a:rPr>
              <a:t> package</a:t>
            </a:r>
            <a:endParaRPr lang="de-DE"/>
          </a:p>
          <a:p>
            <a:endParaRPr lang="en-US">
              <a:latin typeface="Eras Medium ITC"/>
              <a:ea typeface="+mn-lt"/>
              <a:cs typeface="+mn-lt"/>
            </a:endParaRPr>
          </a:p>
          <a:p>
            <a:pPr marL="285750" indent="-285750">
              <a:buFont typeface="Arial"/>
              <a:buChar char="•"/>
            </a:pPr>
            <a:r>
              <a:rPr lang="en-US" b="1" err="1">
                <a:latin typeface="Eras Medium ITC"/>
                <a:ea typeface="+mn-lt"/>
                <a:cs typeface="+mn-lt"/>
              </a:rPr>
              <a:t>GenomeAxisTrack</a:t>
            </a:r>
            <a:r>
              <a:rPr lang="en-US" b="1">
                <a:latin typeface="Eras Medium ITC"/>
                <a:ea typeface="+mn-lt"/>
                <a:cs typeface="+mn-lt"/>
              </a:rPr>
              <a:t> </a:t>
            </a:r>
            <a:r>
              <a:rPr lang="en-US">
                <a:latin typeface="Eras Medium ITC"/>
                <a:ea typeface="+mn-lt"/>
                <a:cs typeface="+mn-lt"/>
              </a:rPr>
              <a:t>and  </a:t>
            </a:r>
            <a:r>
              <a:rPr lang="en-US" b="1" err="1">
                <a:latin typeface="Eras Medium ITC"/>
                <a:ea typeface="+mn-lt"/>
                <a:cs typeface="+mn-lt"/>
              </a:rPr>
              <a:t>IdeogramTrack</a:t>
            </a:r>
            <a:r>
              <a:rPr lang="en-US">
                <a:latin typeface="Eras Medium ITC"/>
                <a:ea typeface="+mn-lt"/>
                <a:cs typeface="+mn-lt"/>
              </a:rPr>
              <a:t> to reference the genomic location on a </a:t>
            </a:r>
            <a:r>
              <a:rPr lang="en-US" err="1">
                <a:latin typeface="Eras Medium ITC"/>
                <a:ea typeface="+mn-lt"/>
                <a:cs typeface="+mn-lt"/>
              </a:rPr>
              <a:t>chromosom</a:t>
            </a:r>
            <a:endParaRPr lang="en-US">
              <a:latin typeface="Eras Medium ITC"/>
              <a:ea typeface="+mn-lt"/>
              <a:cs typeface="+mn-lt"/>
            </a:endParaRPr>
          </a:p>
          <a:p>
            <a:endParaRPr lang="en-US">
              <a:latin typeface="Eras Medium ITC"/>
              <a:ea typeface="+mn-lt"/>
              <a:cs typeface="+mn-lt"/>
            </a:endParaRPr>
          </a:p>
          <a:p>
            <a:pPr marL="342900" indent="-342900">
              <a:buFont typeface="Arial"/>
              <a:buChar char="•"/>
            </a:pPr>
            <a:r>
              <a:rPr lang="en-US">
                <a:latin typeface="Eras Medium ITC"/>
                <a:ea typeface="+mn-lt"/>
                <a:cs typeface="+mn-lt"/>
              </a:rPr>
              <a:t>op 5000 CpG sites --&gt;642 significant regions</a:t>
            </a:r>
            <a:endParaRPr lang="en-US">
              <a:latin typeface="Eras Medium ITC"/>
            </a:endParaRPr>
          </a:p>
          <a:p>
            <a:pPr marL="342900" indent="-342900">
              <a:buFont typeface="Arial"/>
              <a:buChar char="•"/>
            </a:pPr>
            <a:endParaRPr lang="en-US">
              <a:latin typeface="Eras Medium ITC"/>
            </a:endParaRPr>
          </a:p>
          <a:p>
            <a:pPr marL="342900" indent="-342900">
              <a:buFont typeface="Arial"/>
              <a:buChar char="•"/>
            </a:pPr>
            <a:r>
              <a:rPr lang="en-US">
                <a:latin typeface="Eras Medium ITC"/>
              </a:rPr>
              <a:t> visualization of the most significant DMR</a:t>
            </a:r>
            <a:endParaRPr lang="de-DE"/>
          </a:p>
        </p:txBody>
      </p:sp>
    </p:spTree>
    <p:extLst>
      <p:ext uri="{BB962C8B-B14F-4D97-AF65-F5344CB8AC3E}">
        <p14:creationId xmlns:p14="http://schemas.microsoft.com/office/powerpoint/2010/main" val="1349687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bgerundetes Rechteck 73">
            <a:extLst>
              <a:ext uri="{FF2B5EF4-FFF2-40B4-BE49-F238E27FC236}">
                <a16:creationId xmlns:a16="http://schemas.microsoft.com/office/drawing/2014/main" id="{B11785EC-3895-0D51-1987-21EB7CCE85FA}"/>
              </a:ext>
            </a:extLst>
          </p:cNvPr>
          <p:cNvSpPr/>
          <p:nvPr/>
        </p:nvSpPr>
        <p:spPr>
          <a:xfrm>
            <a:off x="251589" y="-1749701"/>
            <a:ext cx="7920841"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285750" indent="-285750" algn="ctr">
              <a:buFont typeface="Arial" panose="020B0604020202020204" pitchFamily="34" charset="0"/>
              <a:buChar char="•"/>
            </a:pPr>
            <a:endParaRPr lang="en-US"/>
          </a:p>
        </p:txBody>
      </p:sp>
      <p:sp>
        <p:nvSpPr>
          <p:cNvPr id="8" name="Slide Number Placeholder 7">
            <a:extLst>
              <a:ext uri="{FF2B5EF4-FFF2-40B4-BE49-F238E27FC236}">
                <a16:creationId xmlns:a16="http://schemas.microsoft.com/office/drawing/2014/main" id="{EB88A6BB-87FE-3B31-9E17-173FFF485A6B}"/>
              </a:ext>
            </a:extLst>
          </p:cNvPr>
          <p:cNvSpPr>
            <a:spLocks noGrp="1"/>
          </p:cNvSpPr>
          <p:nvPr>
            <p:ph type="sldNum" sz="quarter" idx="12"/>
          </p:nvPr>
        </p:nvSpPr>
        <p:spPr/>
        <p:txBody>
          <a:bodyPr/>
          <a:lstStyle/>
          <a:p>
            <a:fld id="{87CDB63A-4C37-3247-921B-ED7A64B24297}" type="slidenum">
              <a:rPr lang="en-DE" smtClean="0"/>
              <a:t>12</a:t>
            </a:fld>
            <a:endParaRPr lang="en-DE"/>
          </a:p>
        </p:txBody>
      </p:sp>
      <p:sp>
        <p:nvSpPr>
          <p:cNvPr id="11" name="Title 1">
            <a:extLst>
              <a:ext uri="{FF2B5EF4-FFF2-40B4-BE49-F238E27FC236}">
                <a16:creationId xmlns:a16="http://schemas.microsoft.com/office/drawing/2014/main" id="{CFB7708F-D82B-84F7-C451-3A36AE4FA2FF}"/>
              </a:ext>
            </a:extLst>
          </p:cNvPr>
          <p:cNvSpPr txBox="1">
            <a:spLocks/>
          </p:cNvSpPr>
          <p:nvPr/>
        </p:nvSpPr>
        <p:spPr>
          <a:xfrm>
            <a:off x="599845" y="140677"/>
            <a:ext cx="7220333" cy="1274111"/>
          </a:xfrm>
          <a:prstGeom prst="rect">
            <a:avLst/>
          </a:prstGeom>
        </p:spPr>
        <p:txBody>
          <a:bodyPr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a:latin typeface="Eras Bold ITC"/>
              </a:rPr>
              <a:t>Diagnostic markers identified by Zhang at el</a:t>
            </a:r>
            <a:r>
              <a:rPr lang="en-US" sz="3600">
                <a:latin typeface="Eras Bold ITC"/>
                <a:ea typeface="+mj-lt"/>
                <a:cs typeface="+mj-lt"/>
              </a:rPr>
              <a:t>.</a:t>
            </a:r>
            <a:endParaRPr lang="de-DE" sz="3600">
              <a:latin typeface="Eras Bold ITC"/>
              <a:ea typeface="+mj-lt"/>
              <a:cs typeface="+mj-lt"/>
            </a:endParaRPr>
          </a:p>
          <a:p>
            <a:endParaRPr lang="en-US" sz="2400">
              <a:latin typeface="Aptos Display"/>
            </a:endParaRPr>
          </a:p>
        </p:txBody>
      </p:sp>
      <p:pic>
        <p:nvPicPr>
          <p:cNvPr id="4" name="Grafik 3" descr="Ein Bild, das Text, Diagramm, Screenshot, Reihe enthält.&#10;&#10;Beschreibung automatisch generiert.">
            <a:extLst>
              <a:ext uri="{FF2B5EF4-FFF2-40B4-BE49-F238E27FC236}">
                <a16:creationId xmlns:a16="http://schemas.microsoft.com/office/drawing/2014/main" id="{54C03075-74D1-A157-5908-FDE9021095E2}"/>
              </a:ext>
            </a:extLst>
          </p:cNvPr>
          <p:cNvPicPr>
            <a:picLocks noChangeAspect="1"/>
          </p:cNvPicPr>
          <p:nvPr/>
        </p:nvPicPr>
        <p:blipFill rotWithShape="1">
          <a:blip r:embed="rId3"/>
          <a:srcRect r="1033" b="375"/>
          <a:stretch/>
        </p:blipFill>
        <p:spPr>
          <a:xfrm>
            <a:off x="8315357" y="3433007"/>
            <a:ext cx="3049165" cy="2563499"/>
          </a:xfrm>
          <a:prstGeom prst="rect">
            <a:avLst/>
          </a:prstGeom>
        </p:spPr>
      </p:pic>
      <p:sp>
        <p:nvSpPr>
          <p:cNvPr id="6" name="Textfeld 5">
            <a:extLst>
              <a:ext uri="{FF2B5EF4-FFF2-40B4-BE49-F238E27FC236}">
                <a16:creationId xmlns:a16="http://schemas.microsoft.com/office/drawing/2014/main" id="{A838FC8B-2307-D2A6-EBAD-AF6B2C9D20E1}"/>
              </a:ext>
            </a:extLst>
          </p:cNvPr>
          <p:cNvSpPr txBox="1"/>
          <p:nvPr/>
        </p:nvSpPr>
        <p:spPr>
          <a:xfrm>
            <a:off x="692516" y="1419482"/>
            <a:ext cx="7919544"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000">
                <a:latin typeface="Eras Medium ITC"/>
              </a:rPr>
              <a:t>High significance and high correlation</a:t>
            </a:r>
          </a:p>
          <a:p>
            <a:pPr marL="342900" indent="-342900">
              <a:buFont typeface="Arial"/>
              <a:buChar char="•"/>
            </a:pPr>
            <a:endParaRPr lang="en-US" sz="2000">
              <a:latin typeface="Eras Medium ITC"/>
            </a:endParaRPr>
          </a:p>
          <a:p>
            <a:pPr marL="342900" indent="-342900">
              <a:buFont typeface="Arial"/>
              <a:buChar char="•"/>
            </a:pPr>
            <a:r>
              <a:rPr lang="en-US" sz="2000">
                <a:latin typeface="Eras Medium ITC"/>
              </a:rPr>
              <a:t>Results align with existing literature reinforce and validate given data </a:t>
            </a:r>
          </a:p>
          <a:p>
            <a:pPr marL="342900" indent="-342900">
              <a:buFont typeface="Arial"/>
              <a:buChar char="•"/>
            </a:pPr>
            <a:endParaRPr lang="en-US" sz="2000">
              <a:latin typeface="Eras Medium ITC"/>
              <a:ea typeface="+mn-lt"/>
              <a:cs typeface="+mn-lt"/>
            </a:endParaRPr>
          </a:p>
          <a:p>
            <a:pPr marL="342900" indent="-342900">
              <a:buFont typeface="Arial"/>
              <a:buChar char="•"/>
            </a:pPr>
            <a:r>
              <a:rPr lang="en-US" sz="2000">
                <a:latin typeface="Eras Medium ITC"/>
                <a:ea typeface="+mn-lt"/>
                <a:cs typeface="+mn-lt"/>
              </a:rPr>
              <a:t>Correlation could indicate  influence BRCA pathogenesis</a:t>
            </a:r>
            <a:endParaRPr lang="en-US" sz="2000">
              <a:ea typeface="+mn-lt"/>
              <a:cs typeface="+mn-lt"/>
            </a:endParaRPr>
          </a:p>
        </p:txBody>
      </p:sp>
      <p:pic>
        <p:nvPicPr>
          <p:cNvPr id="2" name="Grafik 1" descr="Ein Bild, das Text, Diagramm, Reihe, Screenshot enthält.&#10;&#10;Beschreibung automatisch generiert.">
            <a:extLst>
              <a:ext uri="{FF2B5EF4-FFF2-40B4-BE49-F238E27FC236}">
                <a16:creationId xmlns:a16="http://schemas.microsoft.com/office/drawing/2014/main" id="{6D6C6D98-9508-59D3-0912-9B77DAED0CE8}"/>
              </a:ext>
            </a:extLst>
          </p:cNvPr>
          <p:cNvPicPr>
            <a:picLocks noChangeAspect="1"/>
          </p:cNvPicPr>
          <p:nvPr/>
        </p:nvPicPr>
        <p:blipFill>
          <a:blip r:embed="rId4"/>
          <a:stretch>
            <a:fillRect/>
          </a:stretch>
        </p:blipFill>
        <p:spPr>
          <a:xfrm>
            <a:off x="606778" y="3355105"/>
            <a:ext cx="7704667" cy="3026456"/>
          </a:xfrm>
          <a:prstGeom prst="rect">
            <a:avLst/>
          </a:prstGeom>
        </p:spPr>
      </p:pic>
    </p:spTree>
    <p:extLst>
      <p:ext uri="{BB962C8B-B14F-4D97-AF65-F5344CB8AC3E}">
        <p14:creationId xmlns:p14="http://schemas.microsoft.com/office/powerpoint/2010/main" val="2425397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bgerundetes Rechteck 73">
            <a:extLst>
              <a:ext uri="{FF2B5EF4-FFF2-40B4-BE49-F238E27FC236}">
                <a16:creationId xmlns:a16="http://schemas.microsoft.com/office/drawing/2014/main" id="{B11785EC-3895-0D51-1987-21EB7CCE85FA}"/>
              </a:ext>
            </a:extLst>
          </p:cNvPr>
          <p:cNvSpPr/>
          <p:nvPr/>
        </p:nvSpPr>
        <p:spPr>
          <a:xfrm>
            <a:off x="251589" y="-1749701"/>
            <a:ext cx="8202195"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285750" indent="-285750" algn="ctr">
              <a:buFont typeface="Arial" panose="020B0604020202020204" pitchFamily="34" charset="0"/>
              <a:buChar char="•"/>
            </a:pPr>
            <a:endParaRPr lang="en-US"/>
          </a:p>
        </p:txBody>
      </p:sp>
      <p:sp>
        <p:nvSpPr>
          <p:cNvPr id="8" name="Slide Number Placeholder 7">
            <a:extLst>
              <a:ext uri="{FF2B5EF4-FFF2-40B4-BE49-F238E27FC236}">
                <a16:creationId xmlns:a16="http://schemas.microsoft.com/office/drawing/2014/main" id="{EB88A6BB-87FE-3B31-9E17-173FFF485A6B}"/>
              </a:ext>
            </a:extLst>
          </p:cNvPr>
          <p:cNvSpPr>
            <a:spLocks noGrp="1"/>
          </p:cNvSpPr>
          <p:nvPr>
            <p:ph type="sldNum" sz="quarter" idx="12"/>
          </p:nvPr>
        </p:nvSpPr>
        <p:spPr/>
        <p:txBody>
          <a:bodyPr/>
          <a:lstStyle/>
          <a:p>
            <a:fld id="{87CDB63A-4C37-3247-921B-ED7A64B24297}" type="slidenum">
              <a:rPr lang="en-DE" smtClean="0"/>
              <a:t>13</a:t>
            </a:fld>
            <a:endParaRPr lang="en-DE"/>
          </a:p>
        </p:txBody>
      </p:sp>
      <p:sp>
        <p:nvSpPr>
          <p:cNvPr id="11" name="Title 1">
            <a:extLst>
              <a:ext uri="{FF2B5EF4-FFF2-40B4-BE49-F238E27FC236}">
                <a16:creationId xmlns:a16="http://schemas.microsoft.com/office/drawing/2014/main" id="{CFB7708F-D82B-84F7-C451-3A36AE4FA2FF}"/>
              </a:ext>
            </a:extLst>
          </p:cNvPr>
          <p:cNvSpPr txBox="1">
            <a:spLocks/>
          </p:cNvSpPr>
          <p:nvPr/>
        </p:nvSpPr>
        <p:spPr>
          <a:xfrm>
            <a:off x="670183" y="0"/>
            <a:ext cx="7947164" cy="1274111"/>
          </a:xfrm>
          <a:prstGeom prst="rect">
            <a:avLst/>
          </a:prstGeom>
        </p:spPr>
        <p:txBody>
          <a:bodyPr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a:latin typeface="Eras Bold ITC"/>
              </a:rPr>
              <a:t>Overlap with Panagopoulou et al.'s top 250 genes</a:t>
            </a:r>
            <a:r>
              <a:rPr lang="en-US" sz="3600">
                <a:latin typeface="Eras Medium ITC"/>
              </a:rPr>
              <a:t> </a:t>
            </a:r>
            <a:endParaRPr lang="en-US" sz="3600">
              <a:ea typeface="+mj-lt"/>
              <a:cs typeface="+mj-lt"/>
            </a:endParaRPr>
          </a:p>
          <a:p>
            <a:endParaRPr lang="en-US" sz="2400">
              <a:latin typeface="Aptos Display"/>
            </a:endParaRPr>
          </a:p>
        </p:txBody>
      </p:sp>
      <p:sp>
        <p:nvSpPr>
          <p:cNvPr id="6" name="Textfeld 5">
            <a:extLst>
              <a:ext uri="{FF2B5EF4-FFF2-40B4-BE49-F238E27FC236}">
                <a16:creationId xmlns:a16="http://schemas.microsoft.com/office/drawing/2014/main" id="{A838FC8B-2307-D2A6-EBAD-AF6B2C9D20E1}"/>
              </a:ext>
            </a:extLst>
          </p:cNvPr>
          <p:cNvSpPr txBox="1"/>
          <p:nvPr/>
        </p:nvSpPr>
        <p:spPr>
          <a:xfrm>
            <a:off x="530347" y="984642"/>
            <a:ext cx="7919544" cy="29854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400" b="1">
              <a:latin typeface="Aptos"/>
            </a:endParaRPr>
          </a:p>
          <a:p>
            <a:pPr>
              <a:buFont typeface="Arial"/>
              <a:buChar char="•"/>
            </a:pPr>
            <a:r>
              <a:rPr lang="en-US" sz="2000">
                <a:latin typeface="Eras Medium ITC"/>
                <a:ea typeface="+mn-lt"/>
                <a:cs typeface="+mn-lt"/>
              </a:rPr>
              <a:t>Our findings are robust and reproducible</a:t>
            </a:r>
            <a:endParaRPr lang="en-US" sz="2000">
              <a:latin typeface="Eras Medium ITC"/>
            </a:endParaRPr>
          </a:p>
          <a:p>
            <a:endParaRPr lang="en-US" sz="2000">
              <a:latin typeface="Eras Medium ITC"/>
              <a:ea typeface="+mn-lt"/>
              <a:cs typeface="+mn-lt"/>
            </a:endParaRPr>
          </a:p>
          <a:p>
            <a:pPr>
              <a:buFont typeface="Arial"/>
              <a:buChar char="•"/>
            </a:pPr>
            <a:r>
              <a:rPr lang="en-US" sz="2000">
                <a:latin typeface="Eras Medium ITC"/>
                <a:ea typeface="+mn-lt"/>
                <a:cs typeface="+mn-lt"/>
              </a:rPr>
              <a:t>Partial overlap due to different DMA methods, sample sizes, and data processing.</a:t>
            </a:r>
            <a:endParaRPr lang="en-US" sz="2000">
              <a:latin typeface="Eras Medium ITC"/>
            </a:endParaRPr>
          </a:p>
          <a:p>
            <a:pPr>
              <a:buFont typeface="Arial"/>
              <a:buChar char="•"/>
            </a:pPr>
            <a:endParaRPr lang="en-US" sz="2000">
              <a:latin typeface="Eras Medium ITC"/>
              <a:ea typeface="+mn-lt"/>
              <a:cs typeface="+mn-lt"/>
            </a:endParaRPr>
          </a:p>
          <a:p>
            <a:pPr>
              <a:buFont typeface="Arial"/>
              <a:buChar char="•"/>
            </a:pPr>
            <a:r>
              <a:rPr lang="en-US" sz="2000">
                <a:latin typeface="Eras Medium ITC"/>
                <a:ea typeface="+mn-lt"/>
                <a:cs typeface="+mn-lt"/>
              </a:rPr>
              <a:t>Confirms our DMR analysis reliability and highlights key genomic regions in BRCA pathogenesis</a:t>
            </a:r>
            <a:endParaRPr lang="en-US" sz="2000">
              <a:latin typeface="Eras Medium ITC"/>
            </a:endParaRPr>
          </a:p>
          <a:p>
            <a:pPr marL="342900" indent="-342900">
              <a:buFont typeface="Arial"/>
              <a:buChar char="•"/>
            </a:pPr>
            <a:endParaRPr lang="en-US" sz="2400">
              <a:latin typeface="Eras Medium ITC"/>
              <a:ea typeface="+mn-lt"/>
              <a:cs typeface="+mn-lt"/>
            </a:endParaRPr>
          </a:p>
        </p:txBody>
      </p:sp>
      <p:pic>
        <p:nvPicPr>
          <p:cNvPr id="2" name="Grafik 1" descr="Ein Bild, das Text, Diagramm, Kreis, Screenshot enthält.&#10;&#10;Beschreibung automatisch generiert.">
            <a:extLst>
              <a:ext uri="{FF2B5EF4-FFF2-40B4-BE49-F238E27FC236}">
                <a16:creationId xmlns:a16="http://schemas.microsoft.com/office/drawing/2014/main" id="{6F29B3D4-DC93-D029-EB43-9A99F7FB0E80}"/>
              </a:ext>
            </a:extLst>
          </p:cNvPr>
          <p:cNvPicPr>
            <a:picLocks noChangeAspect="1"/>
          </p:cNvPicPr>
          <p:nvPr/>
        </p:nvPicPr>
        <p:blipFill>
          <a:blip r:embed="rId3"/>
          <a:stretch>
            <a:fillRect/>
          </a:stretch>
        </p:blipFill>
        <p:spPr>
          <a:xfrm>
            <a:off x="534498" y="3742795"/>
            <a:ext cx="6867525" cy="3114675"/>
          </a:xfrm>
          <a:prstGeom prst="rect">
            <a:avLst/>
          </a:prstGeom>
        </p:spPr>
      </p:pic>
    </p:spTree>
    <p:extLst>
      <p:ext uri="{BB962C8B-B14F-4D97-AF65-F5344CB8AC3E}">
        <p14:creationId xmlns:p14="http://schemas.microsoft.com/office/powerpoint/2010/main" val="11489757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986D5-E8BE-C3BE-E2F1-3DB6B9A372C2}"/>
            </a:ext>
          </a:extLst>
        </p:cNvPr>
        <p:cNvGrpSpPr/>
        <p:nvPr/>
      </p:nvGrpSpPr>
      <p:grpSpPr>
        <a:xfrm>
          <a:off x="0" y="0"/>
          <a:ext cx="0" cy="0"/>
          <a:chOff x="0" y="0"/>
          <a:chExt cx="0" cy="0"/>
        </a:xfrm>
      </p:grpSpPr>
      <p:sp>
        <p:nvSpPr>
          <p:cNvPr id="2" name="Abgerundetes Rechteck 73">
            <a:extLst>
              <a:ext uri="{FF2B5EF4-FFF2-40B4-BE49-F238E27FC236}">
                <a16:creationId xmlns:a16="http://schemas.microsoft.com/office/drawing/2014/main" id="{CB0EB80F-E066-6305-0848-FD5EA678A2DA}"/>
              </a:ext>
            </a:extLst>
          </p:cNvPr>
          <p:cNvSpPr/>
          <p:nvPr/>
        </p:nvSpPr>
        <p:spPr>
          <a:xfrm>
            <a:off x="332362" y="-1749701"/>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47EB369E-8E3D-7BEE-B4D0-E8033D2DF556}"/>
              </a:ext>
            </a:extLst>
          </p:cNvPr>
          <p:cNvSpPr txBox="1">
            <a:spLocks/>
          </p:cNvSpPr>
          <p:nvPr/>
        </p:nvSpPr>
        <p:spPr>
          <a:xfrm>
            <a:off x="332362" y="0"/>
            <a:ext cx="5400000" cy="1260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err="1">
                <a:latin typeface="Eras Bold ITC" panose="020B0907030504020204" pitchFamily="34" charset="0"/>
              </a:rPr>
              <a:t>Hallmark</a:t>
            </a:r>
            <a:r>
              <a:rPr lang="de-DE">
                <a:latin typeface="Eras Bold ITC" panose="020B0907030504020204" pitchFamily="34" charset="0"/>
              </a:rPr>
              <a:t> </a:t>
            </a:r>
            <a:r>
              <a:rPr lang="de-DE" err="1">
                <a:latin typeface="Eras Bold ITC" panose="020B0907030504020204" pitchFamily="34" charset="0"/>
              </a:rPr>
              <a:t>gene</a:t>
            </a:r>
            <a:r>
              <a:rPr lang="de-DE">
                <a:latin typeface="Eras Bold ITC" panose="020B0907030504020204" pitchFamily="34" charset="0"/>
              </a:rPr>
              <a:t> </a:t>
            </a:r>
            <a:r>
              <a:rPr lang="de-DE" err="1">
                <a:latin typeface="Eras Bold ITC" panose="020B0907030504020204" pitchFamily="34" charset="0"/>
              </a:rPr>
              <a:t>set</a:t>
            </a:r>
            <a:r>
              <a:rPr lang="de-DE">
                <a:latin typeface="Eras Bold ITC" panose="020B0907030504020204" pitchFamily="34" charset="0"/>
              </a:rPr>
              <a:t> </a:t>
            </a:r>
            <a:r>
              <a:rPr lang="de-DE" err="1">
                <a:latin typeface="Eras Bold ITC" panose="020B0907030504020204" pitchFamily="34" charset="0"/>
              </a:rPr>
              <a:t>enrichment</a:t>
            </a:r>
            <a:endParaRPr lang="en-DE" sz="4400">
              <a:latin typeface="Eras Bold ITC" panose="020B0907030504020204" pitchFamily="34" charset="0"/>
            </a:endParaRPr>
          </a:p>
        </p:txBody>
      </p:sp>
      <p:sp>
        <p:nvSpPr>
          <p:cNvPr id="9" name="Foliennummernplatzhalter 8">
            <a:extLst>
              <a:ext uri="{FF2B5EF4-FFF2-40B4-BE49-F238E27FC236}">
                <a16:creationId xmlns:a16="http://schemas.microsoft.com/office/drawing/2014/main" id="{BFAD066D-E94D-D2FD-4B17-8D2EF24F69D3}"/>
              </a:ext>
            </a:extLst>
          </p:cNvPr>
          <p:cNvSpPr>
            <a:spLocks noGrp="1"/>
          </p:cNvSpPr>
          <p:nvPr>
            <p:ph type="sldNum" sz="quarter" idx="12"/>
          </p:nvPr>
        </p:nvSpPr>
        <p:spPr/>
        <p:txBody>
          <a:bodyPr/>
          <a:lstStyle/>
          <a:p>
            <a:fld id="{87CDB63A-4C37-3247-921B-ED7A64B24297}" type="slidenum">
              <a:rPr lang="en-DE" smtClean="0"/>
              <a:t>14</a:t>
            </a:fld>
            <a:endParaRPr lang="en-DE"/>
          </a:p>
        </p:txBody>
      </p:sp>
      <p:pic>
        <p:nvPicPr>
          <p:cNvPr id="4" name="Grafik 3" descr="Ein Bild, das Text, Screenshot, Diagramm, Schrift enthält.&#10;&#10;Beschreibung automatisch generiert.">
            <a:extLst>
              <a:ext uri="{FF2B5EF4-FFF2-40B4-BE49-F238E27FC236}">
                <a16:creationId xmlns:a16="http://schemas.microsoft.com/office/drawing/2014/main" id="{A05FC41C-3E3A-2FA7-C742-302763ED4D43}"/>
              </a:ext>
            </a:extLst>
          </p:cNvPr>
          <p:cNvPicPr>
            <a:picLocks noChangeAspect="1"/>
          </p:cNvPicPr>
          <p:nvPr/>
        </p:nvPicPr>
        <p:blipFill>
          <a:blip r:embed="rId3"/>
          <a:stretch>
            <a:fillRect/>
          </a:stretch>
        </p:blipFill>
        <p:spPr>
          <a:xfrm>
            <a:off x="677021" y="1874593"/>
            <a:ext cx="3780015" cy="2987675"/>
          </a:xfrm>
          <a:prstGeom prst="rect">
            <a:avLst/>
          </a:prstGeom>
        </p:spPr>
      </p:pic>
      <p:sp>
        <p:nvSpPr>
          <p:cNvPr id="5" name="Textfeld 4">
            <a:extLst>
              <a:ext uri="{FF2B5EF4-FFF2-40B4-BE49-F238E27FC236}">
                <a16:creationId xmlns:a16="http://schemas.microsoft.com/office/drawing/2014/main" id="{1B2379E9-1370-8AE2-9641-6E5B57A0EA66}"/>
              </a:ext>
            </a:extLst>
          </p:cNvPr>
          <p:cNvSpPr txBox="1"/>
          <p:nvPr/>
        </p:nvSpPr>
        <p:spPr>
          <a:xfrm>
            <a:off x="691662" y="6166338"/>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a:latin typeface="Eras Medium ITC"/>
              </a:rPr>
              <a:t>https://www.ncbi.nlm.nih.gov/pmc/articles/PMC4707969/pdf/nihms-743907.pdf</a:t>
            </a:r>
          </a:p>
        </p:txBody>
      </p:sp>
      <p:pic>
        <p:nvPicPr>
          <p:cNvPr id="6" name="Grafik 5" descr="Ein Bild, das Text, Screenshot, Zahl, Schrift enthält.&#10;&#10;Beschreibung automatisch generiert.">
            <a:extLst>
              <a:ext uri="{FF2B5EF4-FFF2-40B4-BE49-F238E27FC236}">
                <a16:creationId xmlns:a16="http://schemas.microsoft.com/office/drawing/2014/main" id="{8B352A12-4C3E-C1B5-35F6-1D0E09D55942}"/>
              </a:ext>
            </a:extLst>
          </p:cNvPr>
          <p:cNvPicPr>
            <a:picLocks noChangeAspect="1"/>
          </p:cNvPicPr>
          <p:nvPr/>
        </p:nvPicPr>
        <p:blipFill>
          <a:blip r:embed="rId4"/>
          <a:stretch>
            <a:fillRect/>
          </a:stretch>
        </p:blipFill>
        <p:spPr>
          <a:xfrm>
            <a:off x="6224953" y="1872130"/>
            <a:ext cx="5826370" cy="3148910"/>
          </a:xfrm>
          <a:prstGeom prst="rect">
            <a:avLst/>
          </a:prstGeom>
        </p:spPr>
      </p:pic>
    </p:spTree>
    <p:extLst>
      <p:ext uri="{BB962C8B-B14F-4D97-AF65-F5344CB8AC3E}">
        <p14:creationId xmlns:p14="http://schemas.microsoft.com/office/powerpoint/2010/main" val="1705168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986D5-E8BE-C3BE-E2F1-3DB6B9A372C2}"/>
            </a:ext>
          </a:extLst>
        </p:cNvPr>
        <p:cNvGrpSpPr/>
        <p:nvPr/>
      </p:nvGrpSpPr>
      <p:grpSpPr>
        <a:xfrm>
          <a:off x="0" y="0"/>
          <a:ext cx="0" cy="0"/>
          <a:chOff x="0" y="0"/>
          <a:chExt cx="0" cy="0"/>
        </a:xfrm>
      </p:grpSpPr>
      <p:sp>
        <p:nvSpPr>
          <p:cNvPr id="2" name="Abgerundetes Rechteck 73">
            <a:extLst>
              <a:ext uri="{FF2B5EF4-FFF2-40B4-BE49-F238E27FC236}">
                <a16:creationId xmlns:a16="http://schemas.microsoft.com/office/drawing/2014/main" id="{CB0EB80F-E066-6305-0848-FD5EA678A2DA}"/>
              </a:ext>
            </a:extLst>
          </p:cNvPr>
          <p:cNvSpPr/>
          <p:nvPr/>
        </p:nvSpPr>
        <p:spPr>
          <a:xfrm>
            <a:off x="332362" y="-1749701"/>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47EB369E-8E3D-7BEE-B4D0-E8033D2DF556}"/>
              </a:ext>
            </a:extLst>
          </p:cNvPr>
          <p:cNvSpPr txBox="1">
            <a:spLocks/>
          </p:cNvSpPr>
          <p:nvPr/>
        </p:nvSpPr>
        <p:spPr>
          <a:xfrm>
            <a:off x="332362" y="0"/>
            <a:ext cx="5400000" cy="1260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err="1">
                <a:latin typeface="Eras Bold ITC" panose="020B0907030504020204" pitchFamily="34" charset="0"/>
              </a:rPr>
              <a:t>Hallmark</a:t>
            </a:r>
            <a:r>
              <a:rPr lang="de-DE">
                <a:latin typeface="Eras Bold ITC" panose="020B0907030504020204" pitchFamily="34" charset="0"/>
              </a:rPr>
              <a:t> </a:t>
            </a:r>
            <a:r>
              <a:rPr lang="de-DE" err="1">
                <a:latin typeface="Eras Bold ITC" panose="020B0907030504020204" pitchFamily="34" charset="0"/>
              </a:rPr>
              <a:t>gene</a:t>
            </a:r>
            <a:r>
              <a:rPr lang="de-DE">
                <a:latin typeface="Eras Bold ITC" panose="020B0907030504020204" pitchFamily="34" charset="0"/>
              </a:rPr>
              <a:t> </a:t>
            </a:r>
            <a:r>
              <a:rPr lang="de-DE" err="1">
                <a:latin typeface="Eras Bold ITC" panose="020B0907030504020204" pitchFamily="34" charset="0"/>
              </a:rPr>
              <a:t>set</a:t>
            </a:r>
            <a:r>
              <a:rPr lang="de-DE">
                <a:latin typeface="Eras Bold ITC" panose="020B0907030504020204" pitchFamily="34" charset="0"/>
              </a:rPr>
              <a:t> </a:t>
            </a:r>
            <a:r>
              <a:rPr lang="de-DE" err="1">
                <a:latin typeface="Eras Bold ITC" panose="020B0907030504020204" pitchFamily="34" charset="0"/>
              </a:rPr>
              <a:t>enrichment</a:t>
            </a:r>
            <a:endParaRPr lang="en-DE" sz="4400">
              <a:latin typeface="Eras Bold ITC" panose="020B0907030504020204" pitchFamily="34" charset="0"/>
            </a:endParaRPr>
          </a:p>
        </p:txBody>
      </p:sp>
      <p:sp>
        <p:nvSpPr>
          <p:cNvPr id="9" name="Foliennummernplatzhalter 8">
            <a:extLst>
              <a:ext uri="{FF2B5EF4-FFF2-40B4-BE49-F238E27FC236}">
                <a16:creationId xmlns:a16="http://schemas.microsoft.com/office/drawing/2014/main" id="{BFAD066D-E94D-D2FD-4B17-8D2EF24F69D3}"/>
              </a:ext>
            </a:extLst>
          </p:cNvPr>
          <p:cNvSpPr>
            <a:spLocks noGrp="1"/>
          </p:cNvSpPr>
          <p:nvPr>
            <p:ph type="sldNum" sz="quarter" idx="12"/>
          </p:nvPr>
        </p:nvSpPr>
        <p:spPr/>
        <p:txBody>
          <a:bodyPr/>
          <a:lstStyle/>
          <a:p>
            <a:fld id="{87CDB63A-4C37-3247-921B-ED7A64B24297}" type="slidenum">
              <a:rPr lang="en-DE" smtClean="0"/>
              <a:t>15</a:t>
            </a:fld>
            <a:endParaRPr lang="en-DE"/>
          </a:p>
        </p:txBody>
      </p:sp>
      <p:pic>
        <p:nvPicPr>
          <p:cNvPr id="7" name="Grafik 6" descr="Ein Bild, das Text, Screenshot, Schrift, Farbigkeit enthält.&#10;&#10;Beschreibung automatisch generiert.">
            <a:extLst>
              <a:ext uri="{FF2B5EF4-FFF2-40B4-BE49-F238E27FC236}">
                <a16:creationId xmlns:a16="http://schemas.microsoft.com/office/drawing/2014/main" id="{26AB4D7C-B1DF-53C5-F3ED-8D8A27BBF019}"/>
              </a:ext>
            </a:extLst>
          </p:cNvPr>
          <p:cNvPicPr>
            <a:picLocks noChangeAspect="1"/>
          </p:cNvPicPr>
          <p:nvPr/>
        </p:nvPicPr>
        <p:blipFill>
          <a:blip r:embed="rId3"/>
          <a:stretch>
            <a:fillRect/>
          </a:stretch>
        </p:blipFill>
        <p:spPr>
          <a:xfrm>
            <a:off x="6092472" y="518231"/>
            <a:ext cx="5834945" cy="5821539"/>
          </a:xfrm>
          <a:prstGeom prst="rect">
            <a:avLst/>
          </a:prstGeom>
        </p:spPr>
      </p:pic>
    </p:spTree>
    <p:extLst>
      <p:ext uri="{BB962C8B-B14F-4D97-AF65-F5344CB8AC3E}">
        <p14:creationId xmlns:p14="http://schemas.microsoft.com/office/powerpoint/2010/main" val="3025254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986D5-E8BE-C3BE-E2F1-3DB6B9A372C2}"/>
            </a:ext>
          </a:extLst>
        </p:cNvPr>
        <p:cNvGrpSpPr/>
        <p:nvPr/>
      </p:nvGrpSpPr>
      <p:grpSpPr>
        <a:xfrm>
          <a:off x="0" y="0"/>
          <a:ext cx="0" cy="0"/>
          <a:chOff x="0" y="0"/>
          <a:chExt cx="0" cy="0"/>
        </a:xfrm>
      </p:grpSpPr>
      <p:sp>
        <p:nvSpPr>
          <p:cNvPr id="2" name="Abgerundetes Rechteck 73">
            <a:extLst>
              <a:ext uri="{FF2B5EF4-FFF2-40B4-BE49-F238E27FC236}">
                <a16:creationId xmlns:a16="http://schemas.microsoft.com/office/drawing/2014/main" id="{CB0EB80F-E066-6305-0848-FD5EA678A2DA}"/>
              </a:ext>
            </a:extLst>
          </p:cNvPr>
          <p:cNvSpPr/>
          <p:nvPr/>
        </p:nvSpPr>
        <p:spPr>
          <a:xfrm>
            <a:off x="332362" y="-1749701"/>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47EB369E-8E3D-7BEE-B4D0-E8033D2DF556}"/>
              </a:ext>
            </a:extLst>
          </p:cNvPr>
          <p:cNvSpPr txBox="1">
            <a:spLocks/>
          </p:cNvSpPr>
          <p:nvPr/>
        </p:nvSpPr>
        <p:spPr>
          <a:xfrm>
            <a:off x="487584" y="0"/>
            <a:ext cx="5400000" cy="1260000"/>
          </a:xfrm>
          <a:prstGeom prst="rect">
            <a:avLst/>
          </a:prstGeom>
        </p:spPr>
        <p:txBody>
          <a:bodyPr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a:latin typeface="Eras Bold ITC"/>
              </a:rPr>
              <a:t>Outlook</a:t>
            </a:r>
            <a:endParaRPr lang="de-DE" sz="4400">
              <a:latin typeface="Eras Bold ITC" panose="020B0907030504020204" pitchFamily="34" charset="0"/>
            </a:endParaRPr>
          </a:p>
        </p:txBody>
      </p:sp>
      <p:sp>
        <p:nvSpPr>
          <p:cNvPr id="9" name="Foliennummernplatzhalter 8">
            <a:extLst>
              <a:ext uri="{FF2B5EF4-FFF2-40B4-BE49-F238E27FC236}">
                <a16:creationId xmlns:a16="http://schemas.microsoft.com/office/drawing/2014/main" id="{BFAD066D-E94D-D2FD-4B17-8D2EF24F69D3}"/>
              </a:ext>
            </a:extLst>
          </p:cNvPr>
          <p:cNvSpPr>
            <a:spLocks noGrp="1"/>
          </p:cNvSpPr>
          <p:nvPr>
            <p:ph type="sldNum" sz="quarter" idx="12"/>
          </p:nvPr>
        </p:nvSpPr>
        <p:spPr/>
        <p:txBody>
          <a:bodyPr/>
          <a:lstStyle/>
          <a:p>
            <a:fld id="{87CDB63A-4C37-3247-921B-ED7A64B24297}" type="slidenum">
              <a:rPr lang="en-DE" smtClean="0"/>
              <a:t>16</a:t>
            </a:fld>
            <a:endParaRPr lang="en-DE"/>
          </a:p>
        </p:txBody>
      </p:sp>
    </p:spTree>
    <p:extLst>
      <p:ext uri="{BB962C8B-B14F-4D97-AF65-F5344CB8AC3E}">
        <p14:creationId xmlns:p14="http://schemas.microsoft.com/office/powerpoint/2010/main" val="2945110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F5C5A6-0753-6244-B140-9299769FDBCC}"/>
              </a:ext>
            </a:extLst>
          </p:cNvPr>
          <p:cNvSpPr>
            <a:spLocks noGrp="1"/>
          </p:cNvSpPr>
          <p:nvPr>
            <p:ph type="sldNum" sz="quarter" idx="12"/>
          </p:nvPr>
        </p:nvSpPr>
        <p:spPr/>
        <p:txBody>
          <a:bodyPr/>
          <a:lstStyle/>
          <a:p>
            <a:fld id="{87CDB63A-4C37-3247-921B-ED7A64B24297}" type="slidenum">
              <a:rPr lang="en-DE" smtClean="0"/>
              <a:t>17</a:t>
            </a:fld>
            <a:endParaRPr lang="en-DE"/>
          </a:p>
        </p:txBody>
      </p:sp>
    </p:spTree>
    <p:extLst>
      <p:ext uri="{BB962C8B-B14F-4D97-AF65-F5344CB8AC3E}">
        <p14:creationId xmlns:p14="http://schemas.microsoft.com/office/powerpoint/2010/main" val="3121459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bgerundetes Rechteck 73">
            <a:extLst>
              <a:ext uri="{FF2B5EF4-FFF2-40B4-BE49-F238E27FC236}">
                <a16:creationId xmlns:a16="http://schemas.microsoft.com/office/drawing/2014/main" id="{49FED663-B648-24B1-000D-D91E0DD34CC5}"/>
              </a:ext>
            </a:extLst>
          </p:cNvPr>
          <p:cNvSpPr/>
          <p:nvPr/>
        </p:nvSpPr>
        <p:spPr>
          <a:xfrm>
            <a:off x="342089" y="-1668795"/>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AA826D9A-D929-2E24-866D-0F2D9CF981B4}"/>
              </a:ext>
            </a:extLst>
          </p:cNvPr>
          <p:cNvSpPr txBox="1">
            <a:spLocks/>
          </p:cNvSpPr>
          <p:nvPr/>
        </p:nvSpPr>
        <p:spPr>
          <a:xfrm>
            <a:off x="404531" y="297456"/>
            <a:ext cx="6040337"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4400">
                <a:latin typeface="Eras Bold ITC" panose="020B0907030504020204" pitchFamily="34" charset="0"/>
              </a:rPr>
              <a:t>DNA methylation</a:t>
            </a:r>
            <a:endParaRPr lang="en-DE" sz="4400">
              <a:latin typeface="Eras Bold ITC" panose="020B0907030504020204" pitchFamily="34" charset="0"/>
            </a:endParaRPr>
          </a:p>
        </p:txBody>
      </p:sp>
      <p:pic>
        <p:nvPicPr>
          <p:cNvPr id="2" name="New picture">
            <a:extLst>
              <a:ext uri="{FF2B5EF4-FFF2-40B4-BE49-F238E27FC236}">
                <a16:creationId xmlns:a16="http://schemas.microsoft.com/office/drawing/2014/main" id="{3D8E74FA-441B-AB52-E037-EAD8534881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88151"/>
            <a:ext cx="4818821" cy="3580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pic>
      <p:pic>
        <p:nvPicPr>
          <p:cNvPr id="5" name="Grafik 4" descr="Ein Bild, das Screenshot enthält.&#10;&#10;Automatisch generierte Beschreibung">
            <a:extLst>
              <a:ext uri="{FF2B5EF4-FFF2-40B4-BE49-F238E27FC236}">
                <a16:creationId xmlns:a16="http://schemas.microsoft.com/office/drawing/2014/main" id="{37F823E1-0F97-960A-5429-89C75125049B}"/>
              </a:ext>
            </a:extLst>
          </p:cNvPr>
          <p:cNvPicPr>
            <a:picLocks noChangeAspect="1"/>
          </p:cNvPicPr>
          <p:nvPr/>
        </p:nvPicPr>
        <p:blipFill>
          <a:blip r:embed="rId4"/>
          <a:stretch>
            <a:fillRect/>
          </a:stretch>
        </p:blipFill>
        <p:spPr>
          <a:xfrm>
            <a:off x="482599" y="1395023"/>
            <a:ext cx="5275615" cy="2327734"/>
          </a:xfrm>
          <a:prstGeom prst="rect">
            <a:avLst/>
          </a:prstGeom>
        </p:spPr>
      </p:pic>
      <p:pic>
        <p:nvPicPr>
          <p:cNvPr id="6" name="Grafik 5">
            <a:extLst>
              <a:ext uri="{FF2B5EF4-FFF2-40B4-BE49-F238E27FC236}">
                <a16:creationId xmlns:a16="http://schemas.microsoft.com/office/drawing/2014/main" id="{56141679-4718-5E89-6893-07D823B25FB1}"/>
              </a:ext>
            </a:extLst>
          </p:cNvPr>
          <p:cNvPicPr>
            <a:picLocks noChangeAspect="1"/>
          </p:cNvPicPr>
          <p:nvPr/>
        </p:nvPicPr>
        <p:blipFill>
          <a:blip r:embed="rId5"/>
          <a:stretch>
            <a:fillRect/>
          </a:stretch>
        </p:blipFill>
        <p:spPr>
          <a:xfrm>
            <a:off x="7850816" y="3759200"/>
            <a:ext cx="2728569" cy="2921000"/>
          </a:xfrm>
          <a:prstGeom prst="rect">
            <a:avLst/>
          </a:prstGeom>
        </p:spPr>
      </p:pic>
      <p:pic>
        <p:nvPicPr>
          <p:cNvPr id="4" name="New picture">
            <a:extLst>
              <a:ext uri="{FF2B5EF4-FFF2-40B4-BE49-F238E27FC236}">
                <a16:creationId xmlns:a16="http://schemas.microsoft.com/office/drawing/2014/main" id="{1A6C4480-6907-1FBF-5645-2DDA13ECA49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6447" y="3589270"/>
            <a:ext cx="4396318"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pic>
      <p:sp>
        <p:nvSpPr>
          <p:cNvPr id="7" name="Slide Number Placeholder 6">
            <a:extLst>
              <a:ext uri="{FF2B5EF4-FFF2-40B4-BE49-F238E27FC236}">
                <a16:creationId xmlns:a16="http://schemas.microsoft.com/office/drawing/2014/main" id="{599F00DD-6B8A-0D6E-9CE3-041FBEFBEDE2}"/>
              </a:ext>
            </a:extLst>
          </p:cNvPr>
          <p:cNvSpPr>
            <a:spLocks noGrp="1"/>
          </p:cNvSpPr>
          <p:nvPr>
            <p:ph type="sldNum" sz="quarter" idx="12"/>
          </p:nvPr>
        </p:nvSpPr>
        <p:spPr/>
        <p:txBody>
          <a:bodyPr/>
          <a:lstStyle/>
          <a:p>
            <a:fld id="{87CDB63A-4C37-3247-921B-ED7A64B24297}" type="slidenum">
              <a:rPr lang="en-DE" smtClean="0"/>
              <a:t>18</a:t>
            </a:fld>
            <a:endParaRPr lang="en-DE"/>
          </a:p>
        </p:txBody>
      </p:sp>
    </p:spTree>
    <p:extLst>
      <p:ext uri="{BB962C8B-B14F-4D97-AF65-F5344CB8AC3E}">
        <p14:creationId xmlns:p14="http://schemas.microsoft.com/office/powerpoint/2010/main" val="30631541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bgerundetes Rechteck 73">
            <a:extLst>
              <a:ext uri="{FF2B5EF4-FFF2-40B4-BE49-F238E27FC236}">
                <a16:creationId xmlns:a16="http://schemas.microsoft.com/office/drawing/2014/main" id="{7ACD3C80-0B25-1233-25E2-D30419B9A102}"/>
              </a:ext>
            </a:extLst>
          </p:cNvPr>
          <p:cNvSpPr/>
          <p:nvPr/>
        </p:nvSpPr>
        <p:spPr>
          <a:xfrm>
            <a:off x="332362" y="-1749701"/>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pic>
        <p:nvPicPr>
          <p:cNvPr id="4" name="Grafik 3">
            <a:extLst>
              <a:ext uri="{FF2B5EF4-FFF2-40B4-BE49-F238E27FC236}">
                <a16:creationId xmlns:a16="http://schemas.microsoft.com/office/drawing/2014/main" id="{6C93B06A-9E38-C38E-FEE7-8A0B43FF66AA}"/>
              </a:ext>
            </a:extLst>
          </p:cNvPr>
          <p:cNvPicPr>
            <a:picLocks noChangeAspect="1"/>
          </p:cNvPicPr>
          <p:nvPr/>
        </p:nvPicPr>
        <p:blipFill>
          <a:blip r:embed="rId3"/>
          <a:stretch>
            <a:fillRect/>
          </a:stretch>
        </p:blipFill>
        <p:spPr>
          <a:xfrm>
            <a:off x="1391714" y="1422425"/>
            <a:ext cx="7555379" cy="4759889"/>
          </a:xfrm>
          <a:prstGeom prst="rect">
            <a:avLst/>
          </a:prstGeom>
        </p:spPr>
      </p:pic>
      <p:sp>
        <p:nvSpPr>
          <p:cNvPr id="7" name="Title 1">
            <a:extLst>
              <a:ext uri="{FF2B5EF4-FFF2-40B4-BE49-F238E27FC236}">
                <a16:creationId xmlns:a16="http://schemas.microsoft.com/office/drawing/2014/main" id="{8EABD7BA-3907-6C3B-227B-579073454C6A}"/>
              </a:ext>
            </a:extLst>
          </p:cNvPr>
          <p:cNvSpPr txBox="1">
            <a:spLocks/>
          </p:cNvSpPr>
          <p:nvPr/>
        </p:nvSpPr>
        <p:spPr>
          <a:xfrm>
            <a:off x="332362" y="0"/>
            <a:ext cx="5400000" cy="1260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err="1">
                <a:latin typeface="Eras Bold ITC" panose="020B0907030504020204" pitchFamily="34" charset="0"/>
              </a:rPr>
              <a:t>Demethylation</a:t>
            </a:r>
            <a:endParaRPr lang="en-DE" sz="8800">
              <a:latin typeface="Eras Bold ITC" panose="020B0907030504020204" pitchFamily="34" charset="0"/>
            </a:endParaRPr>
          </a:p>
        </p:txBody>
      </p:sp>
      <p:sp>
        <p:nvSpPr>
          <p:cNvPr id="3" name="Slide Number Placeholder 2">
            <a:extLst>
              <a:ext uri="{FF2B5EF4-FFF2-40B4-BE49-F238E27FC236}">
                <a16:creationId xmlns:a16="http://schemas.microsoft.com/office/drawing/2014/main" id="{CA3F7EC1-9696-4769-DB1D-89A284461022}"/>
              </a:ext>
            </a:extLst>
          </p:cNvPr>
          <p:cNvSpPr>
            <a:spLocks noGrp="1"/>
          </p:cNvSpPr>
          <p:nvPr>
            <p:ph type="sldNum" sz="quarter" idx="12"/>
          </p:nvPr>
        </p:nvSpPr>
        <p:spPr/>
        <p:txBody>
          <a:bodyPr/>
          <a:lstStyle/>
          <a:p>
            <a:fld id="{87CDB63A-4C37-3247-921B-ED7A64B24297}" type="slidenum">
              <a:rPr lang="en-DE" smtClean="0"/>
              <a:t>19</a:t>
            </a:fld>
            <a:endParaRPr lang="en-DE"/>
          </a:p>
        </p:txBody>
      </p:sp>
    </p:spTree>
    <p:extLst>
      <p:ext uri="{BB962C8B-B14F-4D97-AF65-F5344CB8AC3E}">
        <p14:creationId xmlns:p14="http://schemas.microsoft.com/office/powerpoint/2010/main" val="3304857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bgerundetes Rechteck 73">
            <a:extLst>
              <a:ext uri="{FF2B5EF4-FFF2-40B4-BE49-F238E27FC236}">
                <a16:creationId xmlns:a16="http://schemas.microsoft.com/office/drawing/2014/main" id="{D9404314-CE89-5E09-6520-7DA95A9E7AE3}"/>
              </a:ext>
            </a:extLst>
          </p:cNvPr>
          <p:cNvSpPr/>
          <p:nvPr/>
        </p:nvSpPr>
        <p:spPr>
          <a:xfrm>
            <a:off x="332362" y="-1749701"/>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 name="Title 1">
            <a:extLst>
              <a:ext uri="{FF2B5EF4-FFF2-40B4-BE49-F238E27FC236}">
                <a16:creationId xmlns:a16="http://schemas.microsoft.com/office/drawing/2014/main" id="{373C6767-2700-1D4C-B699-26AEB6445D51}"/>
              </a:ext>
            </a:extLst>
          </p:cNvPr>
          <p:cNvSpPr txBox="1">
            <a:spLocks/>
          </p:cNvSpPr>
          <p:nvPr/>
        </p:nvSpPr>
        <p:spPr>
          <a:xfrm>
            <a:off x="332362" y="0"/>
            <a:ext cx="5400000" cy="1260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err="1">
                <a:latin typeface="Eras Bold ITC" panose="020B0907030504020204" pitchFamily="34" charset="0"/>
              </a:rPr>
              <a:t>Bisulphite</a:t>
            </a:r>
            <a:r>
              <a:rPr lang="de-DE">
                <a:latin typeface="Eras Bold ITC" panose="020B0907030504020204" pitchFamily="34" charset="0"/>
              </a:rPr>
              <a:t> </a:t>
            </a:r>
            <a:r>
              <a:rPr lang="de-DE" err="1">
                <a:latin typeface="Eras Bold ITC" panose="020B0907030504020204" pitchFamily="34" charset="0"/>
              </a:rPr>
              <a:t>Conversion</a:t>
            </a:r>
            <a:endParaRPr lang="en-DE" sz="8800">
              <a:latin typeface="Eras Bold ITC" panose="020B0907030504020204" pitchFamily="34" charset="0"/>
            </a:endParaRPr>
          </a:p>
        </p:txBody>
      </p:sp>
      <p:pic>
        <p:nvPicPr>
          <p:cNvPr id="7" name="Grafik 6">
            <a:extLst>
              <a:ext uri="{FF2B5EF4-FFF2-40B4-BE49-F238E27FC236}">
                <a16:creationId xmlns:a16="http://schemas.microsoft.com/office/drawing/2014/main" id="{373102DC-6A96-7BF6-2ACC-13AA29E26CB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2389" y="1260000"/>
            <a:ext cx="9525000" cy="4762500"/>
          </a:xfrm>
          <a:prstGeom prst="rect">
            <a:avLst/>
          </a:prstGeom>
        </p:spPr>
      </p:pic>
      <p:sp>
        <p:nvSpPr>
          <p:cNvPr id="3" name="Slide Number Placeholder 2">
            <a:extLst>
              <a:ext uri="{FF2B5EF4-FFF2-40B4-BE49-F238E27FC236}">
                <a16:creationId xmlns:a16="http://schemas.microsoft.com/office/drawing/2014/main" id="{DA900D88-5B97-626D-F095-F87853A80231}"/>
              </a:ext>
            </a:extLst>
          </p:cNvPr>
          <p:cNvSpPr>
            <a:spLocks noGrp="1"/>
          </p:cNvSpPr>
          <p:nvPr>
            <p:ph type="sldNum" sz="quarter" idx="12"/>
          </p:nvPr>
        </p:nvSpPr>
        <p:spPr/>
        <p:txBody>
          <a:bodyPr/>
          <a:lstStyle/>
          <a:p>
            <a:fld id="{87CDB63A-4C37-3247-921B-ED7A64B24297}" type="slidenum">
              <a:rPr lang="en-DE" smtClean="0"/>
              <a:t>20</a:t>
            </a:fld>
            <a:endParaRPr lang="en-DE"/>
          </a:p>
        </p:txBody>
      </p:sp>
    </p:spTree>
    <p:extLst>
      <p:ext uri="{BB962C8B-B14F-4D97-AF65-F5344CB8AC3E}">
        <p14:creationId xmlns:p14="http://schemas.microsoft.com/office/powerpoint/2010/main" val="6327079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73C6767-2700-1D4C-B699-26AEB6445D51}"/>
              </a:ext>
            </a:extLst>
          </p:cNvPr>
          <p:cNvSpPr txBox="1">
            <a:spLocks/>
          </p:cNvSpPr>
          <p:nvPr/>
        </p:nvSpPr>
        <p:spPr>
          <a:xfrm>
            <a:off x="332362" y="0"/>
            <a:ext cx="5400000" cy="1260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DE" sz="8800">
              <a:latin typeface="Eras Bold ITC" panose="020B0907030504020204" pitchFamily="34" charset="0"/>
            </a:endParaRPr>
          </a:p>
        </p:txBody>
      </p:sp>
      <p:pic>
        <p:nvPicPr>
          <p:cNvPr id="5" name="Grafik 4">
            <a:extLst>
              <a:ext uri="{FF2B5EF4-FFF2-40B4-BE49-F238E27FC236}">
                <a16:creationId xmlns:a16="http://schemas.microsoft.com/office/drawing/2014/main" id="{EF70157D-4018-3B9B-A13B-F5A26A4FC305}"/>
              </a:ext>
            </a:extLst>
          </p:cNvPr>
          <p:cNvPicPr>
            <a:picLocks noChangeAspect="1"/>
          </p:cNvPicPr>
          <p:nvPr/>
        </p:nvPicPr>
        <p:blipFill>
          <a:blip r:embed="rId3"/>
          <a:stretch>
            <a:fillRect/>
          </a:stretch>
        </p:blipFill>
        <p:spPr>
          <a:xfrm>
            <a:off x="0" y="-1"/>
            <a:ext cx="8270060" cy="6819463"/>
          </a:xfrm>
          <a:prstGeom prst="rect">
            <a:avLst/>
          </a:prstGeom>
        </p:spPr>
      </p:pic>
      <p:sp>
        <p:nvSpPr>
          <p:cNvPr id="3" name="Abgerundetes Rechteck 73">
            <a:extLst>
              <a:ext uri="{FF2B5EF4-FFF2-40B4-BE49-F238E27FC236}">
                <a16:creationId xmlns:a16="http://schemas.microsoft.com/office/drawing/2014/main" id="{99191101-13C7-1991-2398-48B334B6C5A7}"/>
              </a:ext>
            </a:extLst>
          </p:cNvPr>
          <p:cNvSpPr/>
          <p:nvPr/>
        </p:nvSpPr>
        <p:spPr>
          <a:xfrm>
            <a:off x="10058989" y="-600632"/>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 name="Slide Number Placeholder 1">
            <a:extLst>
              <a:ext uri="{FF2B5EF4-FFF2-40B4-BE49-F238E27FC236}">
                <a16:creationId xmlns:a16="http://schemas.microsoft.com/office/drawing/2014/main" id="{5E797327-0114-88F4-6FF4-7D42C876C069}"/>
              </a:ext>
            </a:extLst>
          </p:cNvPr>
          <p:cNvSpPr>
            <a:spLocks noGrp="1"/>
          </p:cNvSpPr>
          <p:nvPr>
            <p:ph type="sldNum" sz="quarter" idx="12"/>
          </p:nvPr>
        </p:nvSpPr>
        <p:spPr/>
        <p:txBody>
          <a:bodyPr/>
          <a:lstStyle/>
          <a:p>
            <a:fld id="{87CDB63A-4C37-3247-921B-ED7A64B24297}" type="slidenum">
              <a:rPr lang="en-DE" smtClean="0"/>
              <a:t>21</a:t>
            </a:fld>
            <a:endParaRPr lang="en-DE"/>
          </a:p>
        </p:txBody>
      </p:sp>
    </p:spTree>
    <p:extLst>
      <p:ext uri="{BB962C8B-B14F-4D97-AF65-F5344CB8AC3E}">
        <p14:creationId xmlns:p14="http://schemas.microsoft.com/office/powerpoint/2010/main" val="30985343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bgerundetes Rechteck 73">
            <a:extLst>
              <a:ext uri="{FF2B5EF4-FFF2-40B4-BE49-F238E27FC236}">
                <a16:creationId xmlns:a16="http://schemas.microsoft.com/office/drawing/2014/main" id="{4CB7E8CF-2AAA-B3AD-B9CE-46D05467AE0F}"/>
              </a:ext>
            </a:extLst>
          </p:cNvPr>
          <p:cNvSpPr/>
          <p:nvPr/>
        </p:nvSpPr>
        <p:spPr>
          <a:xfrm>
            <a:off x="332362" y="-1749701"/>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pic>
        <p:nvPicPr>
          <p:cNvPr id="5" name="Grafik 4">
            <a:extLst>
              <a:ext uri="{FF2B5EF4-FFF2-40B4-BE49-F238E27FC236}">
                <a16:creationId xmlns:a16="http://schemas.microsoft.com/office/drawing/2014/main" id="{76712904-4A12-1968-2C24-FFD568D8F9CA}"/>
              </a:ext>
            </a:extLst>
          </p:cNvPr>
          <p:cNvPicPr>
            <a:picLocks noChangeAspect="1"/>
          </p:cNvPicPr>
          <p:nvPr/>
        </p:nvPicPr>
        <p:blipFill>
          <a:blip r:embed="rId3"/>
          <a:stretch>
            <a:fillRect/>
          </a:stretch>
        </p:blipFill>
        <p:spPr>
          <a:xfrm>
            <a:off x="1087030" y="3294947"/>
            <a:ext cx="8022890" cy="2114765"/>
          </a:xfrm>
          <a:prstGeom prst="rect">
            <a:avLst/>
          </a:prstGeom>
        </p:spPr>
      </p:pic>
      <p:sp>
        <p:nvSpPr>
          <p:cNvPr id="17" name="Textfeld 16">
            <a:extLst>
              <a:ext uri="{FF2B5EF4-FFF2-40B4-BE49-F238E27FC236}">
                <a16:creationId xmlns:a16="http://schemas.microsoft.com/office/drawing/2014/main" id="{5CD2D88D-CCF7-EAC1-09B9-A270D0822EB0}"/>
              </a:ext>
            </a:extLst>
          </p:cNvPr>
          <p:cNvSpPr txBox="1"/>
          <p:nvPr/>
        </p:nvSpPr>
        <p:spPr>
          <a:xfrm>
            <a:off x="389909" y="1448288"/>
            <a:ext cx="5781717" cy="1846659"/>
          </a:xfrm>
          <a:prstGeom prst="rect">
            <a:avLst/>
          </a:prstGeom>
          <a:noFill/>
        </p:spPr>
        <p:txBody>
          <a:bodyPr wrap="square">
            <a:spAutoFit/>
          </a:bodyPr>
          <a:lstStyle/>
          <a:p>
            <a:endParaRPr lang="en-US" sz="2400">
              <a:latin typeface="Eras Medium ITC" panose="020B06020305040208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l-GR" sz="2400">
                <a:latin typeface="Eras Medium ITC" panose="020B0602030504020804" pitchFamily="34" charset="0"/>
                <a:ea typeface="Calibri" panose="020F0502020204030204" pitchFamily="34" charset="0"/>
                <a:cs typeface="Times New Roman" panose="02020603050405020304" pitchFamily="18" charset="0"/>
              </a:rPr>
              <a:t>β</a:t>
            </a:r>
            <a:r>
              <a:rPr lang="de-DE" sz="2400">
                <a:latin typeface="Eras Medium ITC" panose="020B0602030504020804" pitchFamily="34" charset="0"/>
                <a:ea typeface="Calibri" panose="020F0502020204030204" pitchFamily="34" charset="0"/>
                <a:cs typeface="Times New Roman" panose="02020603050405020304" pitchFamily="18" charset="0"/>
              </a:rPr>
              <a:t>=</a:t>
            </a:r>
            <a:r>
              <a:rPr lang="de-DE" sz="2400" err="1">
                <a:latin typeface="Eras Medium ITC" panose="020B0602030504020804" pitchFamily="34" charset="0"/>
                <a:ea typeface="Calibri" panose="020F0502020204030204" pitchFamily="34" charset="0"/>
                <a:cs typeface="Times New Roman" panose="02020603050405020304" pitchFamily="18" charset="0"/>
              </a:rPr>
              <a:t>intensity</a:t>
            </a:r>
            <a:r>
              <a:rPr lang="de-DE" sz="2400">
                <a:latin typeface="Eras Medium ITC" panose="020B0602030504020804" pitchFamily="34" charset="0"/>
                <a:ea typeface="Calibri" panose="020F0502020204030204" pitchFamily="34" charset="0"/>
                <a:cs typeface="Times New Roman" panose="02020603050405020304" pitchFamily="18" charset="0"/>
              </a:rPr>
              <a:t> </a:t>
            </a:r>
            <a:r>
              <a:rPr lang="de-DE" sz="2400" err="1">
                <a:latin typeface="Eras Medium ITC" panose="020B0602030504020804" pitchFamily="34" charset="0"/>
                <a:ea typeface="Calibri" panose="020F0502020204030204" pitchFamily="34" charset="0"/>
                <a:cs typeface="Times New Roman" panose="02020603050405020304" pitchFamily="18" charset="0"/>
              </a:rPr>
              <a:t>of</a:t>
            </a:r>
            <a:r>
              <a:rPr lang="de-DE" sz="2400">
                <a:latin typeface="Eras Medium ITC" panose="020B0602030504020804" pitchFamily="34" charset="0"/>
                <a:ea typeface="Calibri" panose="020F0502020204030204" pitchFamily="34" charset="0"/>
                <a:cs typeface="Times New Roman" panose="02020603050405020304" pitchFamily="18" charset="0"/>
              </a:rPr>
              <a:t> </a:t>
            </a:r>
            <a:r>
              <a:rPr lang="de-DE" sz="2400" err="1">
                <a:latin typeface="Eras Medium ITC" panose="020B0602030504020804" pitchFamily="34" charset="0"/>
                <a:ea typeface="Calibri" panose="020F0502020204030204" pitchFamily="34" charset="0"/>
                <a:cs typeface="Times New Roman" panose="02020603050405020304" pitchFamily="18" charset="0"/>
              </a:rPr>
              <a:t>methylated</a:t>
            </a:r>
            <a:r>
              <a:rPr lang="de-DE" sz="2400">
                <a:latin typeface="Eras Medium ITC" panose="020B0602030504020804" pitchFamily="34" charset="0"/>
                <a:ea typeface="Calibri" panose="020F0502020204030204" pitchFamily="34" charset="0"/>
                <a:cs typeface="Times New Roman" panose="02020603050405020304" pitchFamily="18" charset="0"/>
              </a:rPr>
              <a:t> </a:t>
            </a:r>
            <a:r>
              <a:rPr lang="de-DE" sz="2400" err="1">
                <a:latin typeface="Eras Medium ITC" panose="020B0602030504020804" pitchFamily="34" charset="0"/>
                <a:ea typeface="Calibri" panose="020F0502020204030204" pitchFamily="34" charset="0"/>
                <a:cs typeface="Times New Roman" panose="02020603050405020304" pitchFamily="18" charset="0"/>
              </a:rPr>
              <a:t>signal</a:t>
            </a:r>
            <a:r>
              <a:rPr lang="de-DE" sz="2400">
                <a:latin typeface="Eras Medium ITC" panose="020B0602030504020804" pitchFamily="34" charset="0"/>
                <a:ea typeface="Calibri" panose="020F0502020204030204" pitchFamily="34" charset="0"/>
                <a:cs typeface="Times New Roman" panose="02020603050405020304" pitchFamily="18" charset="0"/>
              </a:rPr>
              <a:t>/</a:t>
            </a:r>
          </a:p>
          <a:p>
            <a:r>
              <a:rPr lang="de-DE" sz="2400">
                <a:latin typeface="Eras Medium ITC" panose="020B0602030504020804" pitchFamily="34" charset="0"/>
                <a:ea typeface="Calibri" panose="020F0502020204030204" pitchFamily="34" charset="0"/>
                <a:cs typeface="Times New Roman" panose="02020603050405020304" pitchFamily="18" charset="0"/>
              </a:rPr>
              <a:t>   (</a:t>
            </a:r>
            <a:r>
              <a:rPr lang="de-DE" sz="2400" err="1">
                <a:latin typeface="Eras Medium ITC" panose="020B0602030504020804" pitchFamily="34" charset="0"/>
                <a:ea typeface="Calibri" panose="020F0502020204030204" pitchFamily="34" charset="0"/>
                <a:cs typeface="Times New Roman" panose="02020603050405020304" pitchFamily="18" charset="0"/>
              </a:rPr>
              <a:t>intensity</a:t>
            </a:r>
            <a:r>
              <a:rPr lang="de-DE" sz="2400">
                <a:latin typeface="Eras Medium ITC" panose="020B0602030504020804" pitchFamily="34" charset="0"/>
                <a:ea typeface="Calibri" panose="020F0502020204030204" pitchFamily="34" charset="0"/>
                <a:cs typeface="Times New Roman" panose="02020603050405020304" pitchFamily="18" charset="0"/>
              </a:rPr>
              <a:t> </a:t>
            </a:r>
            <a:r>
              <a:rPr lang="de-DE" sz="2400" err="1">
                <a:latin typeface="Eras Medium ITC" panose="020B0602030504020804" pitchFamily="34" charset="0"/>
                <a:ea typeface="Calibri" panose="020F0502020204030204" pitchFamily="34" charset="0"/>
                <a:cs typeface="Times New Roman" panose="02020603050405020304" pitchFamily="18" charset="0"/>
              </a:rPr>
              <a:t>of</a:t>
            </a:r>
            <a:r>
              <a:rPr lang="de-DE" sz="2400">
                <a:latin typeface="Eras Medium ITC" panose="020B0602030504020804" pitchFamily="34" charset="0"/>
                <a:ea typeface="Calibri" panose="020F0502020204030204" pitchFamily="34" charset="0"/>
                <a:cs typeface="Times New Roman" panose="02020603050405020304" pitchFamily="18" charset="0"/>
              </a:rPr>
              <a:t> </a:t>
            </a:r>
            <a:r>
              <a:rPr lang="de-DE" sz="2400" err="1">
                <a:latin typeface="Eras Medium ITC" panose="020B0602030504020804" pitchFamily="34" charset="0"/>
                <a:ea typeface="Calibri" panose="020F0502020204030204" pitchFamily="34" charset="0"/>
                <a:cs typeface="Times New Roman" panose="02020603050405020304" pitchFamily="18" charset="0"/>
              </a:rPr>
              <a:t>methylated</a:t>
            </a:r>
            <a:r>
              <a:rPr lang="de-DE" sz="2400">
                <a:latin typeface="Eras Medium ITC" panose="020B0602030504020804" pitchFamily="34" charset="0"/>
                <a:ea typeface="Calibri" panose="020F0502020204030204" pitchFamily="34" charset="0"/>
                <a:cs typeface="Times New Roman" panose="02020603050405020304" pitchFamily="18" charset="0"/>
              </a:rPr>
              <a:t> </a:t>
            </a:r>
            <a:r>
              <a:rPr lang="de-DE" sz="2400" err="1">
                <a:latin typeface="Eras Medium ITC" panose="020B0602030504020804" pitchFamily="34" charset="0"/>
                <a:ea typeface="Calibri" panose="020F0502020204030204" pitchFamily="34" charset="0"/>
                <a:cs typeface="Times New Roman" panose="02020603050405020304" pitchFamily="18" charset="0"/>
              </a:rPr>
              <a:t>signal</a:t>
            </a:r>
            <a:r>
              <a:rPr lang="de-DE" sz="2400">
                <a:latin typeface="Eras Medium ITC" panose="020B0602030504020804" pitchFamily="34" charset="0"/>
                <a:ea typeface="Calibri" panose="020F0502020204030204" pitchFamily="34" charset="0"/>
                <a:cs typeface="Times New Roman" panose="02020603050405020304" pitchFamily="18" charset="0"/>
              </a:rPr>
              <a:t> +                                                                                                 </a:t>
            </a:r>
            <a:r>
              <a:rPr lang="de-DE" sz="2400" err="1">
                <a:latin typeface="Eras Medium ITC" panose="020B0602030504020804" pitchFamily="34" charset="0"/>
                <a:ea typeface="Calibri" panose="020F0502020204030204" pitchFamily="34" charset="0"/>
                <a:cs typeface="Times New Roman" panose="02020603050405020304" pitchFamily="18" charset="0"/>
              </a:rPr>
              <a:t>intensity</a:t>
            </a:r>
            <a:r>
              <a:rPr lang="de-DE" sz="2400">
                <a:latin typeface="Eras Medium ITC" panose="020B0602030504020804" pitchFamily="34" charset="0"/>
                <a:ea typeface="Calibri" panose="020F0502020204030204" pitchFamily="34" charset="0"/>
                <a:cs typeface="Times New Roman" panose="02020603050405020304" pitchFamily="18" charset="0"/>
              </a:rPr>
              <a:t> </a:t>
            </a:r>
            <a:r>
              <a:rPr lang="de-DE" sz="2400" err="1">
                <a:latin typeface="Eras Medium ITC" panose="020B0602030504020804" pitchFamily="34" charset="0"/>
                <a:ea typeface="Calibri" panose="020F0502020204030204" pitchFamily="34" charset="0"/>
                <a:cs typeface="Times New Roman" panose="02020603050405020304" pitchFamily="18" charset="0"/>
              </a:rPr>
              <a:t>of</a:t>
            </a:r>
            <a:r>
              <a:rPr lang="de-DE" sz="2400">
                <a:latin typeface="Eras Medium ITC" panose="020B0602030504020804" pitchFamily="34" charset="0"/>
                <a:ea typeface="Calibri" panose="020F0502020204030204" pitchFamily="34" charset="0"/>
                <a:cs typeface="Times New Roman" panose="02020603050405020304" pitchFamily="18" charset="0"/>
              </a:rPr>
              <a:t> </a:t>
            </a:r>
            <a:r>
              <a:rPr lang="de-DE" sz="2400" err="1">
                <a:latin typeface="Eras Medium ITC" panose="020B0602030504020804" pitchFamily="34" charset="0"/>
                <a:ea typeface="Calibri" panose="020F0502020204030204" pitchFamily="34" charset="0"/>
                <a:cs typeface="Times New Roman" panose="02020603050405020304" pitchFamily="18" charset="0"/>
              </a:rPr>
              <a:t>unmethylated</a:t>
            </a:r>
            <a:r>
              <a:rPr lang="de-DE" sz="2400">
                <a:latin typeface="Eras Medium ITC" panose="020B0602030504020804" pitchFamily="34" charset="0"/>
                <a:ea typeface="Calibri" panose="020F0502020204030204" pitchFamily="34" charset="0"/>
                <a:cs typeface="Times New Roman" panose="02020603050405020304" pitchFamily="18" charset="0"/>
              </a:rPr>
              <a:t> signal+100) </a:t>
            </a:r>
            <a:endParaRPr lang="en-US" sz="2400">
              <a:latin typeface="Eras Medium ITC" panose="020B06020305040208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endParaRPr lang="en-US" sz="1800">
              <a:latin typeface="Eras Medium ITC" panose="020B0602030504020804" pitchFamily="34" charset="0"/>
              <a:ea typeface="Calibri" panose="020F0502020204030204" pitchFamily="34" charset="0"/>
              <a:cs typeface="Times New Roman" panose="02020603050405020304" pitchFamily="18" charset="0"/>
            </a:endParaRPr>
          </a:p>
        </p:txBody>
      </p:sp>
      <p:sp>
        <p:nvSpPr>
          <p:cNvPr id="4" name="Title 1">
            <a:extLst>
              <a:ext uri="{FF2B5EF4-FFF2-40B4-BE49-F238E27FC236}">
                <a16:creationId xmlns:a16="http://schemas.microsoft.com/office/drawing/2014/main" id="{4B2318EB-30E3-E495-CF98-77A911C9D066}"/>
              </a:ext>
            </a:extLst>
          </p:cNvPr>
          <p:cNvSpPr txBox="1">
            <a:spLocks/>
          </p:cNvSpPr>
          <p:nvPr/>
        </p:nvSpPr>
        <p:spPr>
          <a:xfrm>
            <a:off x="332362" y="0"/>
            <a:ext cx="5400000" cy="1260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a:latin typeface="Eras Bold ITC" panose="020B0907030504020204" pitchFamily="34" charset="0"/>
              </a:rPr>
              <a:t>The</a:t>
            </a:r>
            <a:r>
              <a:rPr lang="de-DE" sz="4400">
                <a:latin typeface="Eras Bold ITC" panose="020B0907030504020204" pitchFamily="34" charset="0"/>
              </a:rPr>
              <a:t> Dataset</a:t>
            </a:r>
            <a:endParaRPr lang="en-DE" sz="4400">
              <a:latin typeface="Eras Bold ITC" panose="020B0907030504020204" pitchFamily="34" charset="0"/>
            </a:endParaRPr>
          </a:p>
        </p:txBody>
      </p:sp>
      <p:sp>
        <p:nvSpPr>
          <p:cNvPr id="3" name="Slide Number Placeholder 2">
            <a:extLst>
              <a:ext uri="{FF2B5EF4-FFF2-40B4-BE49-F238E27FC236}">
                <a16:creationId xmlns:a16="http://schemas.microsoft.com/office/drawing/2014/main" id="{E379BEE6-5554-F16B-1F20-9F3C84B22684}"/>
              </a:ext>
            </a:extLst>
          </p:cNvPr>
          <p:cNvSpPr>
            <a:spLocks noGrp="1"/>
          </p:cNvSpPr>
          <p:nvPr>
            <p:ph type="sldNum" sz="quarter" idx="12"/>
          </p:nvPr>
        </p:nvSpPr>
        <p:spPr/>
        <p:txBody>
          <a:bodyPr/>
          <a:lstStyle/>
          <a:p>
            <a:fld id="{87CDB63A-4C37-3247-921B-ED7A64B24297}" type="slidenum">
              <a:rPr lang="en-DE" smtClean="0"/>
              <a:t>22</a:t>
            </a:fld>
            <a:endParaRPr lang="en-DE"/>
          </a:p>
        </p:txBody>
      </p:sp>
    </p:spTree>
    <p:extLst>
      <p:ext uri="{BB962C8B-B14F-4D97-AF65-F5344CB8AC3E}">
        <p14:creationId xmlns:p14="http://schemas.microsoft.com/office/powerpoint/2010/main" val="22930799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AB181-6766-7008-D084-5E31656D8E83}"/>
              </a:ext>
            </a:extLst>
          </p:cNvPr>
          <p:cNvSpPr>
            <a:spLocks noGrp="1"/>
          </p:cNvSpPr>
          <p:nvPr>
            <p:ph type="ctrTitle"/>
          </p:nvPr>
        </p:nvSpPr>
        <p:spPr>
          <a:xfrm>
            <a:off x="1524000" y="939799"/>
            <a:ext cx="9144000" cy="1122363"/>
          </a:xfrm>
        </p:spPr>
        <p:txBody>
          <a:bodyPr>
            <a:normAutofit/>
          </a:bodyPr>
          <a:lstStyle/>
          <a:p>
            <a:r>
              <a:rPr lang="de-DE" sz="5400">
                <a:latin typeface="Eras Bold ITC" panose="020B0907030504020204" pitchFamily="34" charset="0"/>
                <a:ea typeface="STHupo" panose="020B0503020204020204" pitchFamily="2" charset="-122"/>
              </a:rPr>
              <a:t>Überschrift 1</a:t>
            </a:r>
            <a:endParaRPr lang="en-DE" sz="5400">
              <a:latin typeface="Eras Bold ITC" panose="020B0907030504020204" pitchFamily="34" charset="0"/>
              <a:ea typeface="STHupo" panose="020B0503020204020204" pitchFamily="2" charset="-122"/>
            </a:endParaRPr>
          </a:p>
        </p:txBody>
      </p:sp>
      <p:sp>
        <p:nvSpPr>
          <p:cNvPr id="3" name="Subtitle 2">
            <a:extLst>
              <a:ext uri="{FF2B5EF4-FFF2-40B4-BE49-F238E27FC236}">
                <a16:creationId xmlns:a16="http://schemas.microsoft.com/office/drawing/2014/main" id="{20B84E24-4257-4B90-5A77-4336EEEB3239}"/>
              </a:ext>
            </a:extLst>
          </p:cNvPr>
          <p:cNvSpPr>
            <a:spLocks noGrp="1"/>
          </p:cNvSpPr>
          <p:nvPr>
            <p:ph type="subTitle" idx="1"/>
          </p:nvPr>
        </p:nvSpPr>
        <p:spPr>
          <a:xfrm>
            <a:off x="1524000" y="2247371"/>
            <a:ext cx="9144000" cy="1655762"/>
          </a:xfrm>
        </p:spPr>
        <p:txBody>
          <a:bodyPr>
            <a:normAutofit/>
          </a:bodyPr>
          <a:lstStyle/>
          <a:p>
            <a:r>
              <a:rPr lang="de-DE" sz="4000">
                <a:latin typeface="Eras Demi ITC" panose="020B0805030504020804" pitchFamily="34" charset="0"/>
              </a:rPr>
              <a:t>Überschrift 2</a:t>
            </a:r>
            <a:endParaRPr lang="en-DE" sz="4000">
              <a:latin typeface="Eras Demi ITC" panose="020B0805030504020804" pitchFamily="34" charset="0"/>
            </a:endParaRPr>
          </a:p>
        </p:txBody>
      </p:sp>
      <p:sp>
        <p:nvSpPr>
          <p:cNvPr id="4" name="Textfeld 3">
            <a:extLst>
              <a:ext uri="{FF2B5EF4-FFF2-40B4-BE49-F238E27FC236}">
                <a16:creationId xmlns:a16="http://schemas.microsoft.com/office/drawing/2014/main" id="{7723684B-D8CE-4DDF-6F08-288EA1B8B89D}"/>
              </a:ext>
            </a:extLst>
          </p:cNvPr>
          <p:cNvSpPr txBox="1"/>
          <p:nvPr/>
        </p:nvSpPr>
        <p:spPr>
          <a:xfrm>
            <a:off x="1397000" y="3318358"/>
            <a:ext cx="9144000" cy="584775"/>
          </a:xfrm>
          <a:prstGeom prst="rect">
            <a:avLst/>
          </a:prstGeom>
          <a:noFill/>
        </p:spPr>
        <p:txBody>
          <a:bodyPr wrap="square" rtlCol="0">
            <a:spAutoFit/>
          </a:bodyPr>
          <a:lstStyle/>
          <a:p>
            <a:pPr algn="ctr"/>
            <a:r>
              <a:rPr lang="de-DE" sz="3200">
                <a:latin typeface="Eras Medium ITC" panose="020B0602030504020804" pitchFamily="34" charset="0"/>
              </a:rPr>
              <a:t>Überschrift 3</a:t>
            </a:r>
          </a:p>
        </p:txBody>
      </p:sp>
      <p:sp>
        <p:nvSpPr>
          <p:cNvPr id="5" name="Textfeld 4">
            <a:extLst>
              <a:ext uri="{FF2B5EF4-FFF2-40B4-BE49-F238E27FC236}">
                <a16:creationId xmlns:a16="http://schemas.microsoft.com/office/drawing/2014/main" id="{D1BB4C7B-36BA-3A3D-B8DA-8AF1BC5C2901}"/>
              </a:ext>
            </a:extLst>
          </p:cNvPr>
          <p:cNvSpPr txBox="1"/>
          <p:nvPr/>
        </p:nvSpPr>
        <p:spPr>
          <a:xfrm>
            <a:off x="3234267" y="4267201"/>
            <a:ext cx="5723466" cy="461665"/>
          </a:xfrm>
          <a:prstGeom prst="rect">
            <a:avLst/>
          </a:prstGeom>
          <a:noFill/>
        </p:spPr>
        <p:txBody>
          <a:bodyPr wrap="square" rtlCol="0">
            <a:spAutoFit/>
          </a:bodyPr>
          <a:lstStyle/>
          <a:p>
            <a:pPr algn="ctr"/>
            <a:r>
              <a:rPr lang="de-DE" sz="2400">
                <a:latin typeface="Eras Medium ITC" panose="020B0602030504020804" pitchFamily="34" charset="0"/>
              </a:rPr>
              <a:t>Text</a:t>
            </a:r>
          </a:p>
        </p:txBody>
      </p:sp>
      <p:sp>
        <p:nvSpPr>
          <p:cNvPr id="9" name="TextBox 8">
            <a:extLst>
              <a:ext uri="{FF2B5EF4-FFF2-40B4-BE49-F238E27FC236}">
                <a16:creationId xmlns:a16="http://schemas.microsoft.com/office/drawing/2014/main" id="{3ADADF98-76AA-1B39-3B5E-0E056CFEDFD5}"/>
              </a:ext>
            </a:extLst>
          </p:cNvPr>
          <p:cNvSpPr txBox="1"/>
          <p:nvPr/>
        </p:nvSpPr>
        <p:spPr>
          <a:xfrm>
            <a:off x="7230140" y="4121614"/>
            <a:ext cx="3944679" cy="369332"/>
          </a:xfrm>
          <a:prstGeom prst="rect">
            <a:avLst/>
          </a:prstGeom>
          <a:noFill/>
        </p:spPr>
        <p:txBody>
          <a:bodyPr wrap="square" rtlCol="0">
            <a:spAutoFit/>
          </a:bodyPr>
          <a:lstStyle/>
          <a:p>
            <a:endParaRPr lang="en-DE">
              <a:solidFill>
                <a:srgbClr val="413C8B"/>
              </a:solidFill>
            </a:endParaRPr>
          </a:p>
        </p:txBody>
      </p:sp>
      <p:sp>
        <p:nvSpPr>
          <p:cNvPr id="11" name="Textfeld 10">
            <a:extLst>
              <a:ext uri="{FF2B5EF4-FFF2-40B4-BE49-F238E27FC236}">
                <a16:creationId xmlns:a16="http://schemas.microsoft.com/office/drawing/2014/main" id="{CFDA3AD6-F2AC-91D9-EAEF-DCE128E460BB}"/>
              </a:ext>
            </a:extLst>
          </p:cNvPr>
          <p:cNvSpPr txBox="1"/>
          <p:nvPr/>
        </p:nvSpPr>
        <p:spPr>
          <a:xfrm>
            <a:off x="2693611" y="5094507"/>
            <a:ext cx="660400" cy="583200"/>
          </a:xfrm>
          <a:prstGeom prst="rect">
            <a:avLst/>
          </a:prstGeom>
          <a:solidFill>
            <a:srgbClr val="42308E"/>
          </a:solidFill>
        </p:spPr>
        <p:txBody>
          <a:bodyPr wrap="square" rtlCol="0">
            <a:spAutoFit/>
          </a:bodyPr>
          <a:lstStyle/>
          <a:p>
            <a:endParaRPr lang="de-DE">
              <a:solidFill>
                <a:srgbClr val="5F85FF"/>
              </a:solidFill>
            </a:endParaRPr>
          </a:p>
        </p:txBody>
      </p:sp>
      <p:sp>
        <p:nvSpPr>
          <p:cNvPr id="12" name="Textfeld 11">
            <a:extLst>
              <a:ext uri="{FF2B5EF4-FFF2-40B4-BE49-F238E27FC236}">
                <a16:creationId xmlns:a16="http://schemas.microsoft.com/office/drawing/2014/main" id="{86EB2171-13BE-4ED3-A88E-4FFD8AB7A092}"/>
              </a:ext>
            </a:extLst>
          </p:cNvPr>
          <p:cNvSpPr txBox="1"/>
          <p:nvPr/>
        </p:nvSpPr>
        <p:spPr>
          <a:xfrm>
            <a:off x="4674811" y="5092932"/>
            <a:ext cx="660400" cy="584775"/>
          </a:xfrm>
          <a:prstGeom prst="rect">
            <a:avLst/>
          </a:prstGeom>
          <a:solidFill>
            <a:srgbClr val="BEAFFF"/>
          </a:solidFill>
        </p:spPr>
        <p:txBody>
          <a:bodyPr wrap="square" rtlCol="0">
            <a:spAutoFit/>
          </a:bodyPr>
          <a:lstStyle/>
          <a:p>
            <a:endParaRPr lang="de-DE"/>
          </a:p>
        </p:txBody>
      </p:sp>
      <p:sp>
        <p:nvSpPr>
          <p:cNvPr id="13" name="Textfeld 12">
            <a:extLst>
              <a:ext uri="{FF2B5EF4-FFF2-40B4-BE49-F238E27FC236}">
                <a16:creationId xmlns:a16="http://schemas.microsoft.com/office/drawing/2014/main" id="{7F7A1FD2-A016-3D71-F64E-9940C083CBB7}"/>
              </a:ext>
            </a:extLst>
          </p:cNvPr>
          <p:cNvSpPr txBox="1"/>
          <p:nvPr/>
        </p:nvSpPr>
        <p:spPr>
          <a:xfrm>
            <a:off x="3354011" y="5092933"/>
            <a:ext cx="660400" cy="584775"/>
          </a:xfrm>
          <a:prstGeom prst="rect">
            <a:avLst/>
          </a:prstGeom>
          <a:solidFill>
            <a:srgbClr val="4F33C7"/>
          </a:solidFill>
        </p:spPr>
        <p:txBody>
          <a:bodyPr wrap="square" rtlCol="0">
            <a:spAutoFit/>
          </a:bodyPr>
          <a:lstStyle/>
          <a:p>
            <a:endParaRPr lang="de-DE"/>
          </a:p>
        </p:txBody>
      </p:sp>
      <p:sp>
        <p:nvSpPr>
          <p:cNvPr id="14" name="Textfeld 13">
            <a:extLst>
              <a:ext uri="{FF2B5EF4-FFF2-40B4-BE49-F238E27FC236}">
                <a16:creationId xmlns:a16="http://schemas.microsoft.com/office/drawing/2014/main" id="{8CDED6A6-7575-340C-FBE5-C77816A49B55}"/>
              </a:ext>
            </a:extLst>
          </p:cNvPr>
          <p:cNvSpPr txBox="1"/>
          <p:nvPr/>
        </p:nvSpPr>
        <p:spPr>
          <a:xfrm>
            <a:off x="4014411" y="5092934"/>
            <a:ext cx="660400" cy="584775"/>
          </a:xfrm>
          <a:prstGeom prst="rect">
            <a:avLst/>
          </a:prstGeom>
          <a:solidFill>
            <a:srgbClr val="866CF2"/>
          </a:solidFill>
        </p:spPr>
        <p:txBody>
          <a:bodyPr wrap="square" rtlCol="0">
            <a:spAutoFit/>
          </a:bodyPr>
          <a:lstStyle/>
          <a:p>
            <a:endParaRPr lang="de-DE"/>
          </a:p>
        </p:txBody>
      </p:sp>
      <p:sp>
        <p:nvSpPr>
          <p:cNvPr id="7" name="Foliennummernplatzhalter 6">
            <a:extLst>
              <a:ext uri="{FF2B5EF4-FFF2-40B4-BE49-F238E27FC236}">
                <a16:creationId xmlns:a16="http://schemas.microsoft.com/office/drawing/2014/main" id="{D3654E10-C0D2-FE8D-D7DE-C3EED1F3FE47}"/>
              </a:ext>
            </a:extLst>
          </p:cNvPr>
          <p:cNvSpPr>
            <a:spLocks noGrp="1"/>
          </p:cNvSpPr>
          <p:nvPr>
            <p:ph type="sldNum" sz="quarter" idx="12"/>
          </p:nvPr>
        </p:nvSpPr>
        <p:spPr/>
        <p:txBody>
          <a:bodyPr/>
          <a:lstStyle/>
          <a:p>
            <a:fld id="{87CDB63A-4C37-3247-921B-ED7A64B24297}" type="slidenum">
              <a:rPr lang="en-DE" smtClean="0"/>
              <a:t>23</a:t>
            </a:fld>
            <a:endParaRPr lang="en-DE"/>
          </a:p>
        </p:txBody>
      </p:sp>
    </p:spTree>
    <p:extLst>
      <p:ext uri="{BB962C8B-B14F-4D97-AF65-F5344CB8AC3E}">
        <p14:creationId xmlns:p14="http://schemas.microsoft.com/office/powerpoint/2010/main" val="14976279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85359-E71F-96D9-E778-B2F5B99A72F4}"/>
              </a:ext>
            </a:extLst>
          </p:cNvPr>
          <p:cNvSpPr>
            <a:spLocks noGrp="1"/>
          </p:cNvSpPr>
          <p:nvPr>
            <p:ph type="title"/>
          </p:nvPr>
        </p:nvSpPr>
        <p:spPr/>
        <p:txBody>
          <a:bodyPr/>
          <a:lstStyle/>
          <a:p>
            <a:r>
              <a:rPr lang="de-DE" sz="4400">
                <a:latin typeface="Eras Bold ITC" panose="020B0907030504020204" pitchFamily="34" charset="0"/>
                <a:ea typeface="STHupo" panose="020B0503020204020204" pitchFamily="2" charset="-122"/>
              </a:rPr>
              <a:t>Grobe Outline unserer Präsentation</a:t>
            </a:r>
            <a:endParaRPr lang="en-DE" b="1"/>
          </a:p>
        </p:txBody>
      </p:sp>
      <p:sp>
        <p:nvSpPr>
          <p:cNvPr id="3" name="Content Placeholder 2">
            <a:extLst>
              <a:ext uri="{FF2B5EF4-FFF2-40B4-BE49-F238E27FC236}">
                <a16:creationId xmlns:a16="http://schemas.microsoft.com/office/drawing/2014/main" id="{A2730694-C697-121C-1730-048336CCCCED}"/>
              </a:ext>
            </a:extLst>
          </p:cNvPr>
          <p:cNvSpPr>
            <a:spLocks noGrp="1"/>
          </p:cNvSpPr>
          <p:nvPr>
            <p:ph idx="1"/>
          </p:nvPr>
        </p:nvSpPr>
        <p:spPr>
          <a:xfrm>
            <a:off x="838199" y="1446028"/>
            <a:ext cx="10515600" cy="5337543"/>
          </a:xfrm>
        </p:spPr>
        <p:txBody>
          <a:bodyPr>
            <a:normAutofit fontScale="77500" lnSpcReduction="20000"/>
          </a:bodyPr>
          <a:lstStyle/>
          <a:p>
            <a:pPr marL="571500" indent="-571500">
              <a:buFont typeface="Arial" panose="020B0604020202020204" pitchFamily="34" charset="0"/>
              <a:buAutoNum type="romanUcPeriod"/>
            </a:pPr>
            <a:r>
              <a:rPr lang="en-US" sz="2800" err="1">
                <a:latin typeface="Eras Demi ITC" panose="020B0805030504020804" pitchFamily="34" charset="0"/>
              </a:rPr>
              <a:t>Einführung</a:t>
            </a:r>
            <a:r>
              <a:rPr lang="en-US" sz="2800">
                <a:latin typeface="Eras Demi ITC" panose="020B0805030504020804" pitchFamily="34" charset="0"/>
              </a:rPr>
              <a:t> – </a:t>
            </a:r>
            <a:r>
              <a:rPr lang="en-US" sz="2800" err="1">
                <a:latin typeface="Eras Demi ITC" panose="020B0805030504020804" pitchFamily="34" charset="0"/>
              </a:rPr>
              <a:t>Biologie</a:t>
            </a:r>
            <a:r>
              <a:rPr lang="en-US" sz="2800">
                <a:latin typeface="Eras Demi ITC" panose="020B0805030504020804" pitchFamily="34" charset="0"/>
              </a:rPr>
              <a:t>  </a:t>
            </a:r>
            <a:r>
              <a:rPr lang="de-DE">
                <a:latin typeface="Eras Medium ITC" panose="020B0602030504020804" pitchFamily="34" charset="0"/>
              </a:rPr>
              <a:t>Irena</a:t>
            </a:r>
            <a:endParaRPr lang="en-US" sz="2800">
              <a:latin typeface="Eras Demi ITC" panose="020B0805030504020804" pitchFamily="34" charset="0"/>
            </a:endParaRPr>
          </a:p>
          <a:p>
            <a:r>
              <a:rPr lang="de-DE" sz="2800">
                <a:solidFill>
                  <a:srgbClr val="B5C5F9"/>
                </a:solidFill>
                <a:latin typeface="Eras Medium ITC" panose="020B0602030504020804" pitchFamily="34" charset="0"/>
              </a:rPr>
              <a:t>Einstieg – Relevanz von Brustkrebs</a:t>
            </a:r>
          </a:p>
          <a:p>
            <a:r>
              <a:rPr lang="de-DE" sz="2800">
                <a:solidFill>
                  <a:srgbClr val="B5C5F9"/>
                </a:solidFill>
                <a:latin typeface="Eras Medium ITC" panose="020B0602030504020804" pitchFamily="34" charset="0"/>
              </a:rPr>
              <a:t>Was ist Methylierun</a:t>
            </a:r>
            <a:r>
              <a:rPr lang="de-DE">
                <a:solidFill>
                  <a:srgbClr val="B5C5F9"/>
                </a:solidFill>
                <a:latin typeface="Eras Medium ITC" panose="020B0602030504020804" pitchFamily="34" charset="0"/>
              </a:rPr>
              <a:t>g in DNA (</a:t>
            </a:r>
            <a:r>
              <a:rPr lang="de-DE" err="1">
                <a:solidFill>
                  <a:srgbClr val="B5C5F9"/>
                </a:solidFill>
                <a:latin typeface="Eras Medium ITC" panose="020B0602030504020804" pitchFamily="34" charset="0"/>
              </a:rPr>
              <a:t>CpG</a:t>
            </a:r>
            <a:r>
              <a:rPr lang="de-DE">
                <a:solidFill>
                  <a:srgbClr val="B5C5F9"/>
                </a:solidFill>
                <a:latin typeface="Eras Medium ITC" panose="020B0602030504020804" pitchFamily="34" charset="0"/>
              </a:rPr>
              <a:t>,..)</a:t>
            </a:r>
          </a:p>
          <a:p>
            <a:pPr marL="0" indent="0">
              <a:buNone/>
            </a:pPr>
            <a:endParaRPr lang="de-DE">
              <a:solidFill>
                <a:srgbClr val="B5C5F9"/>
              </a:solidFill>
              <a:latin typeface="Eras Medium ITC" panose="020B0602030504020804" pitchFamily="34" charset="0"/>
            </a:endParaRPr>
          </a:p>
          <a:p>
            <a:pPr marL="0" indent="0">
              <a:buNone/>
            </a:pPr>
            <a:r>
              <a:rPr lang="de-DE">
                <a:latin typeface="Eras Medium ITC" panose="020B0602030504020804" pitchFamily="34" charset="0"/>
              </a:rPr>
              <a:t>Marie:</a:t>
            </a:r>
          </a:p>
          <a:p>
            <a:r>
              <a:rPr lang="de-DE">
                <a:solidFill>
                  <a:srgbClr val="B5C5F9"/>
                </a:solidFill>
                <a:latin typeface="Eras Medium ITC" panose="020B0602030504020804" pitchFamily="34" charset="0"/>
              </a:rPr>
              <a:t> </a:t>
            </a:r>
            <a:r>
              <a:rPr lang="de-DE">
                <a:solidFill>
                  <a:srgbClr val="2750D3"/>
                </a:solidFill>
                <a:latin typeface="Eras Medium ITC" panose="020B0602030504020804" pitchFamily="34" charset="0"/>
              </a:rPr>
              <a:t>Rolle von Methylierung in Brustkrebs</a:t>
            </a:r>
          </a:p>
          <a:p>
            <a:pPr marL="0" indent="0">
              <a:buNone/>
            </a:pPr>
            <a:r>
              <a:rPr lang="de-DE" sz="2800">
                <a:solidFill>
                  <a:srgbClr val="2750D3"/>
                </a:solidFill>
                <a:latin typeface="Eras Medium ITC" panose="020B0602030504020804" pitchFamily="34" charset="0"/>
              </a:rPr>
              <a:t>II. Was sind unsere </a:t>
            </a:r>
            <a:r>
              <a:rPr lang="de-DE">
                <a:solidFill>
                  <a:srgbClr val="2750D3"/>
                </a:solidFill>
                <a:latin typeface="Eras Medium ITC" panose="020B0602030504020804" pitchFamily="34" charset="0"/>
              </a:rPr>
              <a:t>W</a:t>
            </a:r>
            <a:r>
              <a:rPr lang="de-DE" sz="2800">
                <a:solidFill>
                  <a:srgbClr val="2750D3"/>
                </a:solidFill>
                <a:latin typeface="Eras Medium ITC" panose="020B0602030504020804" pitchFamily="34" charset="0"/>
              </a:rPr>
              <a:t>erte (</a:t>
            </a:r>
            <a:r>
              <a:rPr lang="de-DE" sz="2800" err="1">
                <a:solidFill>
                  <a:srgbClr val="2750D3"/>
                </a:solidFill>
                <a:latin typeface="Eras Medium ITC" panose="020B0602030504020804" pitchFamily="34" charset="0"/>
              </a:rPr>
              <a:t>ß</a:t>
            </a:r>
            <a:r>
              <a:rPr lang="de-DE" sz="2800">
                <a:solidFill>
                  <a:srgbClr val="2750D3"/>
                </a:solidFill>
                <a:latin typeface="Eras Medium ITC" panose="020B0602030504020804" pitchFamily="34" charset="0"/>
              </a:rPr>
              <a:t>-Werte: unbedingt anmerken: nicht 100% Tumorgewebe) </a:t>
            </a:r>
            <a:r>
              <a:rPr lang="en-DE">
                <a:solidFill>
                  <a:srgbClr val="2750D3"/>
                </a:solidFill>
                <a:effectLst/>
                <a:latin typeface="Helvetica Neue" panose="02000503000000020004" pitchFamily="2" charset="0"/>
              </a:rPr>
              <a:t>→ </a:t>
            </a:r>
            <a:r>
              <a:rPr lang="de-DE">
                <a:solidFill>
                  <a:srgbClr val="2750D3"/>
                </a:solidFill>
                <a:effectLst/>
                <a:latin typeface="Eras Medium ITC" panose="020B0602030504020804" pitchFamily="34" charset="0"/>
              </a:rPr>
              <a:t>Beschreibun</a:t>
            </a:r>
            <a:r>
              <a:rPr lang="de-DE">
                <a:solidFill>
                  <a:srgbClr val="2750D3"/>
                </a:solidFill>
                <a:latin typeface="Eras Medium ITC" panose="020B0602030504020804" pitchFamily="34" charset="0"/>
              </a:rPr>
              <a:t>g des Datensatzes, </a:t>
            </a:r>
            <a:r>
              <a:rPr lang="de-DE" err="1">
                <a:solidFill>
                  <a:srgbClr val="2750D3"/>
                </a:solidFill>
                <a:latin typeface="Eras Medium ITC" panose="020B0602030504020804" pitchFamily="34" charset="0"/>
              </a:rPr>
              <a:t>micro</a:t>
            </a:r>
            <a:r>
              <a:rPr lang="de-DE">
                <a:solidFill>
                  <a:srgbClr val="2750D3"/>
                </a:solidFill>
                <a:latin typeface="Eras Medium ITC" panose="020B0602030504020804" pitchFamily="34" charset="0"/>
              </a:rPr>
              <a:t>-Array</a:t>
            </a:r>
            <a:endParaRPr lang="de-DE" sz="2800">
              <a:solidFill>
                <a:srgbClr val="2750D3"/>
              </a:solidFill>
              <a:latin typeface="Eras Medium ITC" panose="020B0602030504020804" pitchFamily="34" charset="0"/>
            </a:endParaRPr>
          </a:p>
          <a:p>
            <a:pPr marL="0" indent="0">
              <a:buNone/>
            </a:pPr>
            <a:r>
              <a:rPr lang="en-DE">
                <a:solidFill>
                  <a:srgbClr val="2750D3"/>
                </a:solidFill>
                <a:effectLst/>
                <a:latin typeface="Helvetica Neue" panose="02000503000000020004" pitchFamily="2" charset="0"/>
              </a:rPr>
              <a:t>→ </a:t>
            </a:r>
            <a:r>
              <a:rPr lang="de-DE">
                <a:solidFill>
                  <a:srgbClr val="2750D3"/>
                </a:solidFill>
                <a:effectLst/>
                <a:latin typeface="Eras Medium ITC" panose="020B0602030504020804" pitchFamily="34" charset="0"/>
              </a:rPr>
              <a:t>Überleitung zu unserer Fragestellung/Hypothese: „Identifikation von </a:t>
            </a:r>
            <a:r>
              <a:rPr lang="de-DE" err="1">
                <a:solidFill>
                  <a:srgbClr val="2750D3"/>
                </a:solidFill>
                <a:effectLst/>
                <a:latin typeface="Eras Medium ITC" panose="020B0602030504020804" pitchFamily="34" charset="0"/>
              </a:rPr>
              <a:t>DMR‘s</a:t>
            </a:r>
            <a:r>
              <a:rPr lang="de-DE">
                <a:solidFill>
                  <a:srgbClr val="2750D3"/>
                </a:solidFill>
                <a:latin typeface="Eras Medium ITC" panose="020B0602030504020804" pitchFamily="34" charset="0"/>
              </a:rPr>
              <a:t>, die spezifisch für Brustkrebs sind“</a:t>
            </a:r>
          </a:p>
          <a:p>
            <a:pPr marL="0" indent="0">
              <a:buNone/>
            </a:pPr>
            <a:r>
              <a:rPr lang="de-DE">
                <a:effectLst/>
                <a:latin typeface="Eras Medium ITC" panose="020B0602030504020804" pitchFamily="34" charset="0"/>
              </a:rPr>
              <a:t>Antonia:</a:t>
            </a:r>
          </a:p>
          <a:p>
            <a:pPr marL="0" indent="0">
              <a:buNone/>
            </a:pPr>
            <a:r>
              <a:rPr lang="en-US">
                <a:latin typeface="Eras Demi ITC" panose="020B0805030504020804" pitchFamily="34" charset="0"/>
              </a:rPr>
              <a:t>III. </a:t>
            </a:r>
            <a:r>
              <a:rPr lang="en-US" err="1">
                <a:latin typeface="Eras Demi ITC" panose="020B0805030504020804" pitchFamily="34" charset="0"/>
              </a:rPr>
              <a:t>Methoden</a:t>
            </a:r>
            <a:endParaRPr lang="en-US">
              <a:latin typeface="Eras Demi ITC" panose="020B0805030504020804" pitchFamily="34" charset="0"/>
            </a:endParaRPr>
          </a:p>
          <a:p>
            <a:r>
              <a:rPr lang="en-US" sz="2800">
                <a:solidFill>
                  <a:srgbClr val="6C8CF2"/>
                </a:solidFill>
                <a:latin typeface="Eras Medium ITC" panose="020B0602030504020804" pitchFamily="34" charset="0"/>
              </a:rPr>
              <a:t>Density Plot </a:t>
            </a:r>
          </a:p>
          <a:p>
            <a:r>
              <a:rPr lang="en-US" sz="2800">
                <a:solidFill>
                  <a:srgbClr val="6C8CF2"/>
                </a:solidFill>
                <a:latin typeface="Eras Medium ITC" panose="020B0602030504020804" pitchFamily="34" charset="0"/>
              </a:rPr>
              <a:t>PCA/UMAP</a:t>
            </a:r>
          </a:p>
          <a:p>
            <a:r>
              <a:rPr lang="en-US">
                <a:solidFill>
                  <a:srgbClr val="6C8CF2"/>
                </a:solidFill>
                <a:latin typeface="Eras Medium ITC" panose="020B0602030504020804" pitchFamily="34" charset="0"/>
              </a:rPr>
              <a:t>Heatmap</a:t>
            </a:r>
            <a:endParaRPr lang="en-US" sz="2800">
              <a:solidFill>
                <a:srgbClr val="6C8CF2"/>
              </a:solidFill>
              <a:latin typeface="Eras Medium ITC" panose="020B0602030504020804" pitchFamily="34" charset="0"/>
            </a:endParaRPr>
          </a:p>
          <a:p>
            <a:endParaRPr lang="en-US" sz="2800">
              <a:latin typeface="Eras Demi ITC" panose="020B0805030504020804" pitchFamily="34" charset="0"/>
            </a:endParaRPr>
          </a:p>
          <a:p>
            <a:pPr marL="0" indent="0">
              <a:buNone/>
            </a:pPr>
            <a:endParaRPr lang="de-DE">
              <a:effectLst/>
              <a:latin typeface="Eras Medium ITC" panose="020B0602030504020804" pitchFamily="34" charset="0"/>
            </a:endParaRPr>
          </a:p>
          <a:p>
            <a:pPr marL="0" indent="0">
              <a:buNone/>
            </a:pPr>
            <a:endParaRPr lang="de-DE">
              <a:effectLst/>
              <a:latin typeface="Eras Medium ITC" panose="020B0602030504020804" pitchFamily="34" charset="0"/>
            </a:endParaRPr>
          </a:p>
          <a:p>
            <a:pPr marL="0" indent="0">
              <a:buNone/>
            </a:pPr>
            <a:endParaRPr lang="en-DE">
              <a:effectLst/>
              <a:latin typeface="Helvetica Neue" panose="02000503000000020004" pitchFamily="2" charset="0"/>
            </a:endParaRPr>
          </a:p>
          <a:p>
            <a:pPr marL="0" indent="0">
              <a:buNone/>
            </a:pPr>
            <a:endParaRPr lang="de-DE" sz="2800">
              <a:latin typeface="Eras Medium ITC" panose="020B0602030504020804" pitchFamily="34" charset="0"/>
            </a:endParaRPr>
          </a:p>
          <a:p>
            <a:pPr marL="0" indent="0">
              <a:buNone/>
            </a:pPr>
            <a:endParaRPr lang="en-DE" sz="2800">
              <a:latin typeface="Eras Demi ITC" panose="020B0805030504020804" pitchFamily="34" charset="0"/>
            </a:endParaRPr>
          </a:p>
          <a:p>
            <a:pPr marL="0" indent="0">
              <a:buNone/>
            </a:pPr>
            <a:endParaRPr lang="en-DE"/>
          </a:p>
        </p:txBody>
      </p:sp>
      <p:sp>
        <p:nvSpPr>
          <p:cNvPr id="5" name="Foliennummernplatzhalter 4">
            <a:extLst>
              <a:ext uri="{FF2B5EF4-FFF2-40B4-BE49-F238E27FC236}">
                <a16:creationId xmlns:a16="http://schemas.microsoft.com/office/drawing/2014/main" id="{A4D115DB-DF6F-0A57-8AB5-87FC820972EB}"/>
              </a:ext>
            </a:extLst>
          </p:cNvPr>
          <p:cNvSpPr>
            <a:spLocks noGrp="1"/>
          </p:cNvSpPr>
          <p:nvPr>
            <p:ph type="sldNum" sz="quarter" idx="12"/>
          </p:nvPr>
        </p:nvSpPr>
        <p:spPr/>
        <p:txBody>
          <a:bodyPr/>
          <a:lstStyle/>
          <a:p>
            <a:fld id="{87CDB63A-4C37-3247-921B-ED7A64B24297}" type="slidenum">
              <a:rPr lang="en-DE" smtClean="0"/>
              <a:t>24</a:t>
            </a:fld>
            <a:endParaRPr lang="en-DE"/>
          </a:p>
        </p:txBody>
      </p:sp>
    </p:spTree>
    <p:extLst>
      <p:ext uri="{BB962C8B-B14F-4D97-AF65-F5344CB8AC3E}">
        <p14:creationId xmlns:p14="http://schemas.microsoft.com/office/powerpoint/2010/main" val="25673472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FFA80-1C50-3C8B-CEC7-12F7EFD69083}"/>
              </a:ext>
            </a:extLst>
          </p:cNvPr>
          <p:cNvSpPr>
            <a:spLocks noGrp="1"/>
          </p:cNvSpPr>
          <p:nvPr>
            <p:ph type="title"/>
          </p:nvPr>
        </p:nvSpPr>
        <p:spPr/>
        <p:txBody>
          <a:bodyPr/>
          <a:lstStyle/>
          <a:p>
            <a:r>
              <a:rPr lang="de-DE" sz="4400">
                <a:latin typeface="Eras Bold ITC" panose="020B0907030504020204" pitchFamily="34" charset="0"/>
                <a:ea typeface="STHupo" panose="020B0503020204020204" pitchFamily="2" charset="-122"/>
              </a:rPr>
              <a:t>Grobe Outline unserer Präsentation</a:t>
            </a:r>
            <a:endParaRPr lang="en-DE" b="1"/>
          </a:p>
        </p:txBody>
      </p:sp>
      <p:sp>
        <p:nvSpPr>
          <p:cNvPr id="3" name="Content Placeholder 2">
            <a:extLst>
              <a:ext uri="{FF2B5EF4-FFF2-40B4-BE49-F238E27FC236}">
                <a16:creationId xmlns:a16="http://schemas.microsoft.com/office/drawing/2014/main" id="{FB1F4790-382D-D635-BC9D-1D110F8F117B}"/>
              </a:ext>
            </a:extLst>
          </p:cNvPr>
          <p:cNvSpPr>
            <a:spLocks noGrp="1"/>
          </p:cNvSpPr>
          <p:nvPr>
            <p:ph idx="1"/>
          </p:nvPr>
        </p:nvSpPr>
        <p:spPr/>
        <p:txBody>
          <a:bodyPr/>
          <a:lstStyle/>
          <a:p>
            <a:pPr marL="0" indent="0">
              <a:buNone/>
            </a:pPr>
            <a:r>
              <a:rPr lang="en-US" sz="2800">
                <a:latin typeface="Eras Demi ITC" panose="020B0805030504020804" pitchFamily="34" charset="0"/>
              </a:rPr>
              <a:t>III. </a:t>
            </a:r>
            <a:r>
              <a:rPr lang="en-US" sz="2800" err="1">
                <a:latin typeface="Eras Demi ITC" panose="020B0805030504020804" pitchFamily="34" charset="0"/>
              </a:rPr>
              <a:t>Ausblick</a:t>
            </a:r>
            <a:r>
              <a:rPr lang="en-US" sz="2800">
                <a:latin typeface="Eras Demi ITC" panose="020B0805030504020804" pitchFamily="34" charset="0"/>
              </a:rPr>
              <a:t> Kathi</a:t>
            </a:r>
          </a:p>
          <a:p>
            <a:r>
              <a:rPr lang="de-DE">
                <a:solidFill>
                  <a:srgbClr val="0070C0"/>
                </a:solidFill>
                <a:latin typeface="Eras Medium ITC" panose="020B0602030504020804" pitchFamily="34" charset="0"/>
              </a:rPr>
              <a:t>Timeline mit weiteren Methoden und Zielführung</a:t>
            </a:r>
            <a:endParaRPr lang="en-US" sz="2800">
              <a:solidFill>
                <a:srgbClr val="0070C0"/>
              </a:solidFill>
              <a:latin typeface="Eras Demi ITC" panose="020B0805030504020804" pitchFamily="34" charset="0"/>
            </a:endParaRPr>
          </a:p>
          <a:p>
            <a:pPr marL="0" indent="0">
              <a:buNone/>
            </a:pPr>
            <a:endParaRPr lang="en-DE"/>
          </a:p>
        </p:txBody>
      </p:sp>
      <p:sp>
        <p:nvSpPr>
          <p:cNvPr id="5" name="Foliennummernplatzhalter 4">
            <a:extLst>
              <a:ext uri="{FF2B5EF4-FFF2-40B4-BE49-F238E27FC236}">
                <a16:creationId xmlns:a16="http://schemas.microsoft.com/office/drawing/2014/main" id="{0220D86C-7C84-8430-1BD6-43622B4D6DC2}"/>
              </a:ext>
            </a:extLst>
          </p:cNvPr>
          <p:cNvSpPr>
            <a:spLocks noGrp="1"/>
          </p:cNvSpPr>
          <p:nvPr>
            <p:ph type="sldNum" sz="quarter" idx="12"/>
          </p:nvPr>
        </p:nvSpPr>
        <p:spPr/>
        <p:txBody>
          <a:bodyPr/>
          <a:lstStyle/>
          <a:p>
            <a:fld id="{87CDB63A-4C37-3247-921B-ED7A64B24297}" type="slidenum">
              <a:rPr lang="en-DE" smtClean="0"/>
              <a:t>25</a:t>
            </a:fld>
            <a:endParaRPr lang="en-DE"/>
          </a:p>
        </p:txBody>
      </p:sp>
    </p:spTree>
    <p:extLst>
      <p:ext uri="{BB962C8B-B14F-4D97-AF65-F5344CB8AC3E}">
        <p14:creationId xmlns:p14="http://schemas.microsoft.com/office/powerpoint/2010/main" val="32623141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9F4C1-DF0C-5F29-139A-568DA0F6A347}"/>
            </a:ext>
          </a:extLst>
        </p:cNvPr>
        <p:cNvGrpSpPr/>
        <p:nvPr/>
      </p:nvGrpSpPr>
      <p:grpSpPr>
        <a:xfrm>
          <a:off x="0" y="0"/>
          <a:ext cx="0" cy="0"/>
          <a:chOff x="0" y="0"/>
          <a:chExt cx="0" cy="0"/>
        </a:xfrm>
      </p:grpSpPr>
      <p:sp>
        <p:nvSpPr>
          <p:cNvPr id="7" name="Abgerundetes Rechteck 73">
            <a:extLst>
              <a:ext uri="{FF2B5EF4-FFF2-40B4-BE49-F238E27FC236}">
                <a16:creationId xmlns:a16="http://schemas.microsoft.com/office/drawing/2014/main" id="{5DAD48B3-B646-F30D-1D1C-44F812BB7365}"/>
              </a:ext>
            </a:extLst>
          </p:cNvPr>
          <p:cNvSpPr/>
          <p:nvPr/>
        </p:nvSpPr>
        <p:spPr>
          <a:xfrm>
            <a:off x="332362" y="-1749701"/>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2" name="TextBox 11">
            <a:extLst>
              <a:ext uri="{FF2B5EF4-FFF2-40B4-BE49-F238E27FC236}">
                <a16:creationId xmlns:a16="http://schemas.microsoft.com/office/drawing/2014/main" id="{B4F6AD89-971E-C250-6A41-E27A9EF0DA6F}"/>
              </a:ext>
            </a:extLst>
          </p:cNvPr>
          <p:cNvSpPr txBox="1"/>
          <p:nvPr/>
        </p:nvSpPr>
        <p:spPr>
          <a:xfrm>
            <a:off x="6239425" y="1366641"/>
            <a:ext cx="6099586" cy="369332"/>
          </a:xfrm>
          <a:prstGeom prst="rect">
            <a:avLst/>
          </a:prstGeom>
          <a:noFill/>
        </p:spPr>
        <p:txBody>
          <a:bodyPr wrap="square">
            <a:spAutoFit/>
          </a:bodyPr>
          <a:lstStyle/>
          <a:p>
            <a:r>
              <a:rPr lang="en-US">
                <a:latin typeface="Eras Medium ITC" panose="020B0602030504020804" pitchFamily="34" charset="0"/>
              </a:rPr>
              <a:t>Density plot: Tumor vs. Solid Tissue</a:t>
            </a:r>
            <a:endParaRPr lang="en-DE" sz="1400">
              <a:latin typeface="Eras Demi ITC" panose="020B0805030504020804" pitchFamily="34" charset="0"/>
            </a:endParaRPr>
          </a:p>
        </p:txBody>
      </p:sp>
      <p:pic>
        <p:nvPicPr>
          <p:cNvPr id="13" name="Picture 12">
            <a:extLst>
              <a:ext uri="{FF2B5EF4-FFF2-40B4-BE49-F238E27FC236}">
                <a16:creationId xmlns:a16="http://schemas.microsoft.com/office/drawing/2014/main" id="{17A8A778-6BB3-1B92-CEC9-812AC4B0610B}"/>
              </a:ext>
            </a:extLst>
          </p:cNvPr>
          <p:cNvPicPr>
            <a:picLocks noChangeAspect="1"/>
          </p:cNvPicPr>
          <p:nvPr/>
        </p:nvPicPr>
        <p:blipFill>
          <a:blip r:embed="rId3"/>
          <a:stretch>
            <a:fillRect/>
          </a:stretch>
        </p:blipFill>
        <p:spPr>
          <a:xfrm>
            <a:off x="5180268" y="1735973"/>
            <a:ext cx="6823095" cy="4955720"/>
          </a:xfrm>
          <a:prstGeom prst="rect">
            <a:avLst/>
          </a:prstGeom>
        </p:spPr>
      </p:pic>
      <p:sp>
        <p:nvSpPr>
          <p:cNvPr id="15" name="TextBox 14">
            <a:extLst>
              <a:ext uri="{FF2B5EF4-FFF2-40B4-BE49-F238E27FC236}">
                <a16:creationId xmlns:a16="http://schemas.microsoft.com/office/drawing/2014/main" id="{31F26064-DAF8-0FA7-A46C-6E1200D6AAE0}"/>
              </a:ext>
            </a:extLst>
          </p:cNvPr>
          <p:cNvSpPr txBox="1"/>
          <p:nvPr/>
        </p:nvSpPr>
        <p:spPr>
          <a:xfrm>
            <a:off x="558763" y="1735973"/>
            <a:ext cx="4621505" cy="1908215"/>
          </a:xfrm>
          <a:prstGeom prst="rect">
            <a:avLst/>
          </a:prstGeom>
          <a:noFill/>
        </p:spPr>
        <p:txBody>
          <a:bodyPr wrap="square" rtlCol="0">
            <a:spAutoFit/>
          </a:bodyPr>
          <a:lstStyle/>
          <a:p>
            <a:pPr marL="285750" indent="-285750">
              <a:buFont typeface="Arial" panose="020B0604020202020204" pitchFamily="34" charset="0"/>
              <a:buChar char="•"/>
            </a:pPr>
            <a:r>
              <a:rPr lang="en-US" sz="2000">
                <a:latin typeface="Eras Medium ITC" panose="020B0602030504020804" pitchFamily="34" charset="0"/>
              </a:rPr>
              <a:t>Highest density at the </a:t>
            </a:r>
            <a:br>
              <a:rPr lang="en-US" sz="2000">
                <a:latin typeface="Eras Medium ITC" panose="020B0602030504020804" pitchFamily="34" charset="0"/>
              </a:rPr>
            </a:br>
            <a:r>
              <a:rPr lang="en-US" sz="2000" err="1">
                <a:latin typeface="Eras Medium ITC" panose="020B0602030504020804" pitchFamily="34" charset="0"/>
              </a:rPr>
              <a:t>ß</a:t>
            </a:r>
            <a:r>
              <a:rPr lang="en-US" sz="2000">
                <a:latin typeface="Eras Medium ITC" panose="020B0602030504020804" pitchFamily="34" charset="0"/>
              </a:rPr>
              <a:t>-Values 0 and 1</a:t>
            </a:r>
          </a:p>
          <a:p>
            <a:endParaRPr lang="en-US" sz="2000">
              <a:latin typeface="Eras Medium ITC" panose="020B0602030504020804" pitchFamily="34" charset="0"/>
            </a:endParaRPr>
          </a:p>
          <a:p>
            <a:pPr marL="285750" indent="-285750">
              <a:buFont typeface="Arial" panose="020B0604020202020204" pitchFamily="34" charset="0"/>
              <a:buChar char="•"/>
            </a:pPr>
            <a:r>
              <a:rPr lang="en-US" sz="2000">
                <a:latin typeface="Eras Medium ITC" panose="020B0602030504020804" pitchFamily="34" charset="0"/>
              </a:rPr>
              <a:t>No big difference between Primary solid Tumor and Solid Tissue Normal </a:t>
            </a:r>
          </a:p>
          <a:p>
            <a:pPr marL="285750" indent="-285750">
              <a:buFont typeface="Arial" panose="020B0604020202020204" pitchFamily="34" charset="0"/>
              <a:buChar char="•"/>
            </a:pPr>
            <a:endParaRPr lang="en-US">
              <a:latin typeface="Eras Medium ITC" panose="020B0602030504020804" pitchFamily="34" charset="0"/>
            </a:endParaRPr>
          </a:p>
        </p:txBody>
      </p:sp>
      <p:sp>
        <p:nvSpPr>
          <p:cNvPr id="4" name="Slide Number Placeholder 3">
            <a:extLst>
              <a:ext uri="{FF2B5EF4-FFF2-40B4-BE49-F238E27FC236}">
                <a16:creationId xmlns:a16="http://schemas.microsoft.com/office/drawing/2014/main" id="{8E6F15B6-A506-C966-A0F8-9A427AAFB30F}"/>
              </a:ext>
            </a:extLst>
          </p:cNvPr>
          <p:cNvSpPr>
            <a:spLocks noGrp="1"/>
          </p:cNvSpPr>
          <p:nvPr>
            <p:ph type="sldNum" sz="quarter" idx="12"/>
          </p:nvPr>
        </p:nvSpPr>
        <p:spPr/>
        <p:txBody>
          <a:bodyPr/>
          <a:lstStyle/>
          <a:p>
            <a:fld id="{87CDB63A-4C37-3247-921B-ED7A64B24297}" type="slidenum">
              <a:rPr lang="en-DE" smtClean="0"/>
              <a:t>26</a:t>
            </a:fld>
            <a:endParaRPr lang="en-DE"/>
          </a:p>
        </p:txBody>
      </p:sp>
      <p:sp>
        <p:nvSpPr>
          <p:cNvPr id="8" name="Title 1">
            <a:extLst>
              <a:ext uri="{FF2B5EF4-FFF2-40B4-BE49-F238E27FC236}">
                <a16:creationId xmlns:a16="http://schemas.microsoft.com/office/drawing/2014/main" id="{269897B4-EB08-BCC6-E719-C240FE216F9F}"/>
              </a:ext>
            </a:extLst>
          </p:cNvPr>
          <p:cNvSpPr txBox="1">
            <a:spLocks/>
          </p:cNvSpPr>
          <p:nvPr/>
        </p:nvSpPr>
        <p:spPr>
          <a:xfrm>
            <a:off x="332362" y="0"/>
            <a:ext cx="5400000" cy="1260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4400">
                <a:latin typeface="Eras Bold ITC" panose="020B0907030504020204" pitchFamily="34" charset="0"/>
              </a:rPr>
              <a:t>Data </a:t>
            </a:r>
            <a:br>
              <a:rPr lang="de-DE" sz="4400">
                <a:latin typeface="Eras Bold ITC" panose="020B0907030504020204" pitchFamily="34" charset="0"/>
              </a:rPr>
            </a:br>
            <a:r>
              <a:rPr lang="de-DE" err="1">
                <a:latin typeface="Eras Bold ITC" panose="020B0907030504020204" pitchFamily="34" charset="0"/>
              </a:rPr>
              <a:t>V</a:t>
            </a:r>
            <a:r>
              <a:rPr lang="de-DE" sz="4400" err="1">
                <a:latin typeface="Eras Bold ITC" panose="020B0907030504020204" pitchFamily="34" charset="0"/>
              </a:rPr>
              <a:t>isualization</a:t>
            </a:r>
            <a:endParaRPr lang="en-DE" sz="4400">
              <a:latin typeface="Eras Bold ITC" panose="020B0907030504020204" pitchFamily="34" charset="0"/>
            </a:endParaRPr>
          </a:p>
        </p:txBody>
      </p:sp>
    </p:spTree>
    <p:extLst>
      <p:ext uri="{BB962C8B-B14F-4D97-AF65-F5344CB8AC3E}">
        <p14:creationId xmlns:p14="http://schemas.microsoft.com/office/powerpoint/2010/main" val="2591741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49A05-25F5-EF4B-E8FE-21CF82633B53}"/>
            </a:ext>
          </a:extLst>
        </p:cNvPr>
        <p:cNvGrpSpPr/>
        <p:nvPr/>
      </p:nvGrpSpPr>
      <p:grpSpPr>
        <a:xfrm>
          <a:off x="0" y="0"/>
          <a:ext cx="0" cy="0"/>
          <a:chOff x="0" y="0"/>
          <a:chExt cx="0" cy="0"/>
        </a:xfrm>
      </p:grpSpPr>
      <p:sp>
        <p:nvSpPr>
          <p:cNvPr id="7" name="Abgerundetes Rechteck 73">
            <a:extLst>
              <a:ext uri="{FF2B5EF4-FFF2-40B4-BE49-F238E27FC236}">
                <a16:creationId xmlns:a16="http://schemas.microsoft.com/office/drawing/2014/main" id="{BB98A24F-CEEA-129A-F849-2A05B980A507}"/>
              </a:ext>
            </a:extLst>
          </p:cNvPr>
          <p:cNvSpPr/>
          <p:nvPr/>
        </p:nvSpPr>
        <p:spPr>
          <a:xfrm>
            <a:off x="332362" y="-1749701"/>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EFCB0B3D-D1EC-998B-9D12-0272D4BFFFD4}"/>
              </a:ext>
            </a:extLst>
          </p:cNvPr>
          <p:cNvPicPr>
            <a:picLocks noChangeAspect="1"/>
          </p:cNvPicPr>
          <p:nvPr/>
        </p:nvPicPr>
        <p:blipFill>
          <a:blip r:embed="rId3"/>
          <a:stretch>
            <a:fillRect/>
          </a:stretch>
        </p:blipFill>
        <p:spPr>
          <a:xfrm>
            <a:off x="6089838" y="195061"/>
            <a:ext cx="5872858" cy="3615372"/>
          </a:xfrm>
          <a:prstGeom prst="rect">
            <a:avLst/>
          </a:prstGeom>
        </p:spPr>
      </p:pic>
      <p:sp>
        <p:nvSpPr>
          <p:cNvPr id="10" name="TextBox 9">
            <a:extLst>
              <a:ext uri="{FF2B5EF4-FFF2-40B4-BE49-F238E27FC236}">
                <a16:creationId xmlns:a16="http://schemas.microsoft.com/office/drawing/2014/main" id="{EED687AC-20C7-5B13-D81C-93D17FD34889}"/>
              </a:ext>
            </a:extLst>
          </p:cNvPr>
          <p:cNvSpPr txBox="1"/>
          <p:nvPr/>
        </p:nvSpPr>
        <p:spPr>
          <a:xfrm>
            <a:off x="1661690" y="1534354"/>
            <a:ext cx="4690335" cy="646331"/>
          </a:xfrm>
          <a:prstGeom prst="rect">
            <a:avLst/>
          </a:prstGeom>
          <a:noFill/>
        </p:spPr>
        <p:txBody>
          <a:bodyPr wrap="square" rtlCol="0">
            <a:spAutoFit/>
          </a:bodyPr>
          <a:lstStyle/>
          <a:p>
            <a:r>
              <a:rPr lang="en-US">
                <a:latin typeface="Eras Medium ITC" panose="020B0602030504020804" pitchFamily="34" charset="0"/>
              </a:rPr>
              <a:t>PCA Biplot for PC1and PC2</a:t>
            </a:r>
          </a:p>
          <a:p>
            <a:endParaRPr lang="en-DE"/>
          </a:p>
        </p:txBody>
      </p:sp>
      <p:pic>
        <p:nvPicPr>
          <p:cNvPr id="11" name="Picture 10">
            <a:extLst>
              <a:ext uri="{FF2B5EF4-FFF2-40B4-BE49-F238E27FC236}">
                <a16:creationId xmlns:a16="http://schemas.microsoft.com/office/drawing/2014/main" id="{34839730-3ED8-6ED9-370A-541C009FB54E}"/>
              </a:ext>
            </a:extLst>
          </p:cNvPr>
          <p:cNvPicPr>
            <a:picLocks noChangeAspect="1"/>
          </p:cNvPicPr>
          <p:nvPr/>
        </p:nvPicPr>
        <p:blipFill>
          <a:blip r:embed="rId4"/>
          <a:stretch>
            <a:fillRect/>
          </a:stretch>
        </p:blipFill>
        <p:spPr>
          <a:xfrm>
            <a:off x="760802" y="1816447"/>
            <a:ext cx="4603855" cy="4407946"/>
          </a:xfrm>
          <a:prstGeom prst="rect">
            <a:avLst/>
          </a:prstGeom>
        </p:spPr>
      </p:pic>
      <p:sp>
        <p:nvSpPr>
          <p:cNvPr id="13" name="TextBox 12">
            <a:extLst>
              <a:ext uri="{FF2B5EF4-FFF2-40B4-BE49-F238E27FC236}">
                <a16:creationId xmlns:a16="http://schemas.microsoft.com/office/drawing/2014/main" id="{2B015BDC-7EB6-E384-CCDB-B0EF4F81D4E5}"/>
              </a:ext>
            </a:extLst>
          </p:cNvPr>
          <p:cNvSpPr txBox="1"/>
          <p:nvPr/>
        </p:nvSpPr>
        <p:spPr>
          <a:xfrm>
            <a:off x="6089838" y="4075007"/>
            <a:ext cx="5819887" cy="1015663"/>
          </a:xfrm>
          <a:prstGeom prst="rect">
            <a:avLst/>
          </a:prstGeom>
          <a:noFill/>
        </p:spPr>
        <p:txBody>
          <a:bodyPr wrap="square" rtlCol="0">
            <a:spAutoFit/>
          </a:bodyPr>
          <a:lstStyle/>
          <a:p>
            <a:endParaRPr lang="en-US" sz="2000">
              <a:latin typeface="Eras Medium ITC" panose="020B0602030504020804" pitchFamily="34" charset="0"/>
            </a:endParaRPr>
          </a:p>
          <a:p>
            <a:pPr marL="285750" indent="-285750">
              <a:buFont typeface="Arial" panose="020B0604020202020204" pitchFamily="34" charset="0"/>
              <a:buChar char="•"/>
            </a:pPr>
            <a:r>
              <a:rPr lang="en-US" sz="2000">
                <a:latin typeface="Eras Medium ITC" panose="020B0602030504020804" pitchFamily="34" charset="0"/>
              </a:rPr>
              <a:t>Group for Solid Tissue Normal is clustered more tightly than primary solid Tumor</a:t>
            </a:r>
            <a:endParaRPr lang="en-DE" sz="2000"/>
          </a:p>
        </p:txBody>
      </p:sp>
      <p:sp>
        <p:nvSpPr>
          <p:cNvPr id="4" name="Slide Number Placeholder 3">
            <a:extLst>
              <a:ext uri="{FF2B5EF4-FFF2-40B4-BE49-F238E27FC236}">
                <a16:creationId xmlns:a16="http://schemas.microsoft.com/office/drawing/2014/main" id="{E7E0C906-BCD5-E463-75AF-A04754F85C48}"/>
              </a:ext>
            </a:extLst>
          </p:cNvPr>
          <p:cNvSpPr>
            <a:spLocks noGrp="1"/>
          </p:cNvSpPr>
          <p:nvPr>
            <p:ph type="sldNum" sz="quarter" idx="12"/>
          </p:nvPr>
        </p:nvSpPr>
        <p:spPr/>
        <p:txBody>
          <a:bodyPr/>
          <a:lstStyle/>
          <a:p>
            <a:fld id="{87CDB63A-4C37-3247-921B-ED7A64B24297}" type="slidenum">
              <a:rPr lang="en-DE" smtClean="0"/>
              <a:t>27</a:t>
            </a:fld>
            <a:endParaRPr lang="en-DE"/>
          </a:p>
        </p:txBody>
      </p:sp>
      <p:sp>
        <p:nvSpPr>
          <p:cNvPr id="16" name="Title 1">
            <a:extLst>
              <a:ext uri="{FF2B5EF4-FFF2-40B4-BE49-F238E27FC236}">
                <a16:creationId xmlns:a16="http://schemas.microsoft.com/office/drawing/2014/main" id="{A0757B82-CADF-FDC7-6184-B80E53B72C92}"/>
              </a:ext>
            </a:extLst>
          </p:cNvPr>
          <p:cNvSpPr txBox="1">
            <a:spLocks/>
          </p:cNvSpPr>
          <p:nvPr/>
        </p:nvSpPr>
        <p:spPr>
          <a:xfrm>
            <a:off x="332362" y="0"/>
            <a:ext cx="5400000" cy="1260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4400">
                <a:latin typeface="Eras Bold ITC" panose="020B0907030504020204" pitchFamily="34" charset="0"/>
              </a:rPr>
              <a:t>Data </a:t>
            </a:r>
            <a:br>
              <a:rPr lang="de-DE" sz="4400">
                <a:latin typeface="Eras Bold ITC" panose="020B0907030504020204" pitchFamily="34" charset="0"/>
              </a:rPr>
            </a:br>
            <a:r>
              <a:rPr lang="de-DE" err="1">
                <a:latin typeface="Eras Bold ITC" panose="020B0907030504020204" pitchFamily="34" charset="0"/>
              </a:rPr>
              <a:t>V</a:t>
            </a:r>
            <a:r>
              <a:rPr lang="de-DE" sz="4400" err="1">
                <a:latin typeface="Eras Bold ITC" panose="020B0907030504020204" pitchFamily="34" charset="0"/>
              </a:rPr>
              <a:t>isualization</a:t>
            </a:r>
            <a:endParaRPr lang="en-DE" sz="4400">
              <a:latin typeface="Eras Bold ITC" panose="020B0907030504020204" pitchFamily="34" charset="0"/>
            </a:endParaRPr>
          </a:p>
        </p:txBody>
      </p:sp>
    </p:spTree>
    <p:extLst>
      <p:ext uri="{BB962C8B-B14F-4D97-AF65-F5344CB8AC3E}">
        <p14:creationId xmlns:p14="http://schemas.microsoft.com/office/powerpoint/2010/main" val="629544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3D822-E9C8-AEAF-9D20-D431A33DAA1B}"/>
            </a:ext>
          </a:extLst>
        </p:cNvPr>
        <p:cNvGrpSpPr/>
        <p:nvPr/>
      </p:nvGrpSpPr>
      <p:grpSpPr>
        <a:xfrm>
          <a:off x="0" y="0"/>
          <a:ext cx="0" cy="0"/>
          <a:chOff x="0" y="0"/>
          <a:chExt cx="0" cy="0"/>
        </a:xfrm>
      </p:grpSpPr>
      <p:sp>
        <p:nvSpPr>
          <p:cNvPr id="12" name="Abgerundetes Rechteck 73">
            <a:extLst>
              <a:ext uri="{FF2B5EF4-FFF2-40B4-BE49-F238E27FC236}">
                <a16:creationId xmlns:a16="http://schemas.microsoft.com/office/drawing/2014/main" id="{9DDA5CA1-801B-2AC0-232B-DC64157FF7FF}"/>
              </a:ext>
            </a:extLst>
          </p:cNvPr>
          <p:cNvSpPr/>
          <p:nvPr/>
        </p:nvSpPr>
        <p:spPr>
          <a:xfrm>
            <a:off x="332362" y="-1749701"/>
            <a:ext cx="5386682" cy="3023870"/>
          </a:xfrm>
          <a:prstGeom prst="roundRect">
            <a:avLst/>
          </a:prstGeom>
          <a:solidFill>
            <a:schemeClr val="bg2">
              <a:lumMod val="9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255B0CBC-06DD-6799-5915-9EAC082E837F}"/>
              </a:ext>
            </a:extLst>
          </p:cNvPr>
          <p:cNvPicPr>
            <a:picLocks noChangeAspect="1"/>
          </p:cNvPicPr>
          <p:nvPr/>
        </p:nvPicPr>
        <p:blipFill>
          <a:blip r:embed="rId3"/>
          <a:stretch>
            <a:fillRect/>
          </a:stretch>
        </p:blipFill>
        <p:spPr>
          <a:xfrm>
            <a:off x="4934502" y="2044124"/>
            <a:ext cx="6964600" cy="4296668"/>
          </a:xfrm>
          <a:prstGeom prst="rect">
            <a:avLst/>
          </a:prstGeom>
        </p:spPr>
      </p:pic>
      <p:sp>
        <p:nvSpPr>
          <p:cNvPr id="7" name="TextBox 6">
            <a:extLst>
              <a:ext uri="{FF2B5EF4-FFF2-40B4-BE49-F238E27FC236}">
                <a16:creationId xmlns:a16="http://schemas.microsoft.com/office/drawing/2014/main" id="{97B3939C-A742-AB63-DC67-09906E65702A}"/>
              </a:ext>
            </a:extLst>
          </p:cNvPr>
          <p:cNvSpPr txBox="1"/>
          <p:nvPr/>
        </p:nvSpPr>
        <p:spPr>
          <a:xfrm>
            <a:off x="5536930" y="1582459"/>
            <a:ext cx="5580633" cy="923330"/>
          </a:xfrm>
          <a:prstGeom prst="rect">
            <a:avLst/>
          </a:prstGeom>
          <a:noFill/>
        </p:spPr>
        <p:txBody>
          <a:bodyPr wrap="square" rtlCol="0">
            <a:spAutoFit/>
          </a:bodyPr>
          <a:lstStyle/>
          <a:p>
            <a:r>
              <a:rPr lang="en-US">
                <a:latin typeface="Eras Medium ITC" panose="020B0602030504020804" pitchFamily="34" charset="0"/>
              </a:rPr>
              <a:t>Heatmap: Pearson Correlation for each patient</a:t>
            </a:r>
          </a:p>
          <a:p>
            <a:r>
              <a:rPr lang="de-DE">
                <a:latin typeface="Eras Demi ITC" panose="020B0805030504020804" pitchFamily="34" charset="0"/>
              </a:rPr>
              <a:t>  </a:t>
            </a:r>
            <a:endParaRPr lang="en-DE" sz="1800">
              <a:latin typeface="Eras Demi ITC" panose="020B0805030504020804" pitchFamily="34" charset="0"/>
            </a:endParaRPr>
          </a:p>
          <a:p>
            <a:endParaRPr lang="en-DE"/>
          </a:p>
        </p:txBody>
      </p:sp>
      <p:sp>
        <p:nvSpPr>
          <p:cNvPr id="10" name="TextBox 9">
            <a:extLst>
              <a:ext uri="{FF2B5EF4-FFF2-40B4-BE49-F238E27FC236}">
                <a16:creationId xmlns:a16="http://schemas.microsoft.com/office/drawing/2014/main" id="{5163EF98-D6EC-F29D-7DC0-47AB70A1D07B}"/>
              </a:ext>
            </a:extLst>
          </p:cNvPr>
          <p:cNvSpPr txBox="1"/>
          <p:nvPr/>
        </p:nvSpPr>
        <p:spPr>
          <a:xfrm>
            <a:off x="292898" y="2046506"/>
            <a:ext cx="4135353" cy="1600438"/>
          </a:xfrm>
          <a:prstGeom prst="rect">
            <a:avLst/>
          </a:prstGeom>
          <a:noFill/>
        </p:spPr>
        <p:txBody>
          <a:bodyPr wrap="square" rtlCol="0">
            <a:spAutoFit/>
          </a:bodyPr>
          <a:lstStyle/>
          <a:p>
            <a:pPr marL="285750" indent="-285750">
              <a:buFont typeface="Arial" panose="020B0604020202020204" pitchFamily="34" charset="0"/>
              <a:buChar char="•"/>
            </a:pPr>
            <a:r>
              <a:rPr lang="en-US" sz="2000">
                <a:latin typeface="Eras Medium ITC" panose="020B0602030504020804" pitchFamily="34" charset="0"/>
              </a:rPr>
              <a:t>Solid Tissue Normal exhibit a higher correlation than Primary solid Tumor</a:t>
            </a:r>
          </a:p>
          <a:p>
            <a:pPr marL="285750" indent="-285750">
              <a:buFont typeface="Arial" panose="020B0604020202020204" pitchFamily="34" charset="0"/>
              <a:buChar char="•"/>
            </a:pPr>
            <a:endParaRPr lang="en-US" sz="2000">
              <a:latin typeface="Eras Medium ITC" panose="020B0602030504020804" pitchFamily="34" charset="0"/>
            </a:endParaRPr>
          </a:p>
          <a:p>
            <a:pPr marL="285750" indent="-285750">
              <a:buFont typeface="Arial" panose="020B0604020202020204" pitchFamily="34" charset="0"/>
              <a:buChar char="•"/>
            </a:pPr>
            <a:endParaRPr lang="en-DE"/>
          </a:p>
        </p:txBody>
      </p:sp>
      <p:sp>
        <p:nvSpPr>
          <p:cNvPr id="8" name="Slide Number Placeholder 7">
            <a:extLst>
              <a:ext uri="{FF2B5EF4-FFF2-40B4-BE49-F238E27FC236}">
                <a16:creationId xmlns:a16="http://schemas.microsoft.com/office/drawing/2014/main" id="{D32B8FDC-D540-7E4C-69C1-E0A228D49477}"/>
              </a:ext>
            </a:extLst>
          </p:cNvPr>
          <p:cNvSpPr>
            <a:spLocks noGrp="1"/>
          </p:cNvSpPr>
          <p:nvPr>
            <p:ph type="sldNum" sz="quarter" idx="12"/>
          </p:nvPr>
        </p:nvSpPr>
        <p:spPr/>
        <p:txBody>
          <a:bodyPr/>
          <a:lstStyle/>
          <a:p>
            <a:fld id="{87CDB63A-4C37-3247-921B-ED7A64B24297}" type="slidenum">
              <a:rPr lang="en-DE" smtClean="0"/>
              <a:t>28</a:t>
            </a:fld>
            <a:endParaRPr lang="en-DE"/>
          </a:p>
        </p:txBody>
      </p:sp>
      <p:sp>
        <p:nvSpPr>
          <p:cNvPr id="11" name="Title 1">
            <a:extLst>
              <a:ext uri="{FF2B5EF4-FFF2-40B4-BE49-F238E27FC236}">
                <a16:creationId xmlns:a16="http://schemas.microsoft.com/office/drawing/2014/main" id="{3F49958A-617E-27A0-FAB4-E87F0EAEA6AE}"/>
              </a:ext>
            </a:extLst>
          </p:cNvPr>
          <p:cNvSpPr txBox="1">
            <a:spLocks/>
          </p:cNvSpPr>
          <p:nvPr/>
        </p:nvSpPr>
        <p:spPr>
          <a:xfrm>
            <a:off x="332362" y="0"/>
            <a:ext cx="5400000" cy="1260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4400">
                <a:latin typeface="Eras Bold ITC" panose="020B0907030504020204" pitchFamily="34" charset="0"/>
              </a:rPr>
              <a:t>Data </a:t>
            </a:r>
            <a:br>
              <a:rPr lang="de-DE" sz="4400">
                <a:latin typeface="Eras Bold ITC" panose="020B0907030504020204" pitchFamily="34" charset="0"/>
              </a:rPr>
            </a:br>
            <a:r>
              <a:rPr lang="de-DE" err="1">
                <a:latin typeface="Eras Bold ITC" panose="020B0907030504020204" pitchFamily="34" charset="0"/>
              </a:rPr>
              <a:t>V</a:t>
            </a:r>
            <a:r>
              <a:rPr lang="de-DE" sz="4400" err="1">
                <a:latin typeface="Eras Bold ITC" panose="020B0907030504020204" pitchFamily="34" charset="0"/>
              </a:rPr>
              <a:t>isualization</a:t>
            </a:r>
            <a:endParaRPr lang="en-DE" sz="4400">
              <a:latin typeface="Eras Bold ITC" panose="020B0907030504020204" pitchFamily="34" charset="0"/>
            </a:endParaRPr>
          </a:p>
        </p:txBody>
      </p:sp>
    </p:spTree>
    <p:extLst>
      <p:ext uri="{BB962C8B-B14F-4D97-AF65-F5344CB8AC3E}">
        <p14:creationId xmlns:p14="http://schemas.microsoft.com/office/powerpoint/2010/main" val="29186026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f2a9a46f-5fe5-4be3-8405-82a714f8f53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0CBBE90EBDFE2546AEDEF5F0A06B6855" ma:contentTypeVersion="9" ma:contentTypeDescription="Ein neues Dokument erstellen." ma:contentTypeScope="" ma:versionID="fea3322e8cd0dfefd30d1fb1c1a15bdb">
  <xsd:schema xmlns:xsd="http://www.w3.org/2001/XMLSchema" xmlns:xs="http://www.w3.org/2001/XMLSchema" xmlns:p="http://schemas.microsoft.com/office/2006/metadata/properties" xmlns:ns3="f2a9a46f-5fe5-4be3-8405-82a714f8f53f" targetNamespace="http://schemas.microsoft.com/office/2006/metadata/properties" ma:root="true" ma:fieldsID="5ca21c1c8076aef073544216f6432baa" ns3:_="">
    <xsd:import namespace="f2a9a46f-5fe5-4be3-8405-82a714f8f53f"/>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bjectDetectorVersions"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a9a46f-5fe5-4be3-8405-82a714f8f5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_activity" ma:index="16"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6D44DDA-B840-42D9-8D4C-C19DC7445220}">
  <ds:schemaRefs>
    <ds:schemaRef ds:uri="http://schemas.microsoft.com/office/2006/documentManagement/types"/>
    <ds:schemaRef ds:uri="http://schemas.microsoft.com/office/2006/metadata/properties"/>
    <ds:schemaRef ds:uri="f2a9a46f-5fe5-4be3-8405-82a714f8f53f"/>
    <ds:schemaRef ds:uri="http://www.w3.org/XML/1998/namespace"/>
    <ds:schemaRef ds:uri="http://purl.org/dc/dcmitype/"/>
    <ds:schemaRef ds:uri="http://schemas.openxmlformats.org/package/2006/metadata/core-properties"/>
    <ds:schemaRef ds:uri="http://purl.org/dc/elements/1.1/"/>
    <ds:schemaRef ds:uri="http://purl.org/dc/terms/"/>
    <ds:schemaRef ds:uri="http://schemas.microsoft.com/office/infopath/2007/PartnerControls"/>
  </ds:schemaRefs>
</ds:datastoreItem>
</file>

<file path=customXml/itemProps2.xml><?xml version="1.0" encoding="utf-8"?>
<ds:datastoreItem xmlns:ds="http://schemas.openxmlformats.org/officeDocument/2006/customXml" ds:itemID="{AF41BF6F-B9EF-4D79-9A9D-73AC466A5E37}">
  <ds:schemaRefs>
    <ds:schemaRef ds:uri="f2a9a46f-5fe5-4be3-8405-82a714f8f53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EDE3A1F-6C8E-4002-BAD7-9293E159CDB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412</TotalTime>
  <Words>2929</Words>
  <Application>Microsoft Macintosh PowerPoint</Application>
  <PresentationFormat>Widescreen</PresentationFormat>
  <Paragraphs>313</Paragraphs>
  <Slides>28</Slides>
  <Notes>24</Notes>
  <HiddenSlides>3</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Aptos</vt:lpstr>
      <vt:lpstr>Aptos Display</vt:lpstr>
      <vt:lpstr>Arial</vt:lpstr>
      <vt:lpstr>Arial,Sans-Serif</vt:lpstr>
      <vt:lpstr>Calibri</vt:lpstr>
      <vt:lpstr>Cambria</vt:lpstr>
      <vt:lpstr>Eras Bold ITC</vt:lpstr>
      <vt:lpstr>Eras Demi ITC</vt:lpstr>
      <vt:lpstr>Eras Medium ITC</vt:lpstr>
      <vt:lpstr>Helvetica Neue</vt:lpstr>
      <vt:lpstr>Roboto</vt:lpstr>
      <vt:lpstr>Office Theme</vt:lpstr>
      <vt:lpstr>Studying unique methylation patterns in BRCA pathogenesis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Überschrift 1</vt:lpstr>
      <vt:lpstr>Grobe Outline unserer Präsentation</vt:lpstr>
      <vt:lpstr>Grobe Outline unserer Präsentation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Antonia Eisenhofer</dc:creator>
  <cp:lastModifiedBy>Antonia Eisenhofer</cp:lastModifiedBy>
  <cp:revision>1</cp:revision>
  <dcterms:created xsi:type="dcterms:W3CDTF">2024-05-07T12:14:24Z</dcterms:created>
  <dcterms:modified xsi:type="dcterms:W3CDTF">2024-07-08T17:29:26Z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0x0101000CBBE90EBDFE2546AEDEF5F0A06B6855</vt:lpwstr>
  </property>
</Properties>
</file>